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8.jpg" ContentType="image/jpg"/>
  <Override PartName="/ppt/media/image9.jpg" ContentType="image/jpg"/>
  <Override PartName="/ppt/media/image12.jpg" ContentType="image/jpg"/>
  <Override PartName="/ppt/media/image13.jpg" ContentType="image/jpg"/>
  <Override PartName="/ppt/media/image14.jpg" ContentType="image/jpg"/>
  <Override PartName="/ppt/media/image17.jpg" ContentType="image/jpg"/>
  <Override PartName="/ppt/media/image18.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8" r:id="rId5"/>
  </p:sldMasterIdLst>
  <p:notesMasterIdLst>
    <p:notesMasterId r:id="rId55"/>
  </p:notesMasterIdLst>
  <p:sldIdLst>
    <p:sldId id="256" r:id="rId6"/>
    <p:sldId id="492" r:id="rId7"/>
    <p:sldId id="482" r:id="rId8"/>
    <p:sldId id="483" r:id="rId9"/>
    <p:sldId id="484" r:id="rId10"/>
    <p:sldId id="485" r:id="rId11"/>
    <p:sldId id="487" r:id="rId12"/>
    <p:sldId id="486" r:id="rId13"/>
    <p:sldId id="505" r:id="rId14"/>
    <p:sldId id="520" r:id="rId15"/>
    <p:sldId id="509" r:id="rId16"/>
    <p:sldId id="507" r:id="rId17"/>
    <p:sldId id="508" r:id="rId18"/>
    <p:sldId id="494" r:id="rId19"/>
    <p:sldId id="495" r:id="rId20"/>
    <p:sldId id="496" r:id="rId21"/>
    <p:sldId id="497" r:id="rId22"/>
    <p:sldId id="498" r:id="rId23"/>
    <p:sldId id="499" r:id="rId24"/>
    <p:sldId id="500" r:id="rId25"/>
    <p:sldId id="501" r:id="rId26"/>
    <p:sldId id="510" r:id="rId27"/>
    <p:sldId id="511" r:id="rId28"/>
    <p:sldId id="512" r:id="rId29"/>
    <p:sldId id="513" r:id="rId30"/>
    <p:sldId id="514" r:id="rId31"/>
    <p:sldId id="515" r:id="rId32"/>
    <p:sldId id="516" r:id="rId33"/>
    <p:sldId id="517" r:id="rId34"/>
    <p:sldId id="518" r:id="rId35"/>
    <p:sldId id="519" r:id="rId36"/>
    <p:sldId id="442" r:id="rId37"/>
    <p:sldId id="268" r:id="rId38"/>
    <p:sldId id="270" r:id="rId39"/>
    <p:sldId id="278" r:id="rId40"/>
    <p:sldId id="503" r:id="rId41"/>
    <p:sldId id="279" r:id="rId42"/>
    <p:sldId id="280" r:id="rId43"/>
    <p:sldId id="281" r:id="rId44"/>
    <p:sldId id="285" r:id="rId45"/>
    <p:sldId id="286" r:id="rId46"/>
    <p:sldId id="521" r:id="rId47"/>
    <p:sldId id="522" r:id="rId48"/>
    <p:sldId id="523" r:id="rId49"/>
    <p:sldId id="524" r:id="rId50"/>
    <p:sldId id="525" r:id="rId51"/>
    <p:sldId id="526" r:id="rId52"/>
    <p:sldId id="527" r:id="rId53"/>
    <p:sldId id="528"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9FF"/>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9B22FF-2AA9-D04B-8FEC-2ED1444B85C3}" v="7" dt="2021-08-12T13:37:07.313"/>
    <p1510:client id="{559AB491-DC8C-46EF-9BC4-C258681A218F}" v="54" vWet="55" dt="2021-08-12T13:36:29.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guide orient="horz" pos="2160"/>
        <p:guide pos="38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E0BF3F-AEB2-4B90-8B98-98F95C1822D3}" type="datetimeFigureOut">
              <a:rPr lang="en-US" smtClean="0"/>
              <a:t>10/27/2022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D453F7-7465-42B1-9AA1-FC4B32B196E3}" type="slidenum">
              <a:rPr lang="en-US" smtClean="0"/>
              <a:t>‹#›</a:t>
            </a:fld>
            <a:endParaRPr lang="en-US"/>
          </a:p>
        </p:txBody>
      </p:sp>
    </p:spTree>
    <p:extLst>
      <p:ext uri="{BB962C8B-B14F-4D97-AF65-F5344CB8AC3E}">
        <p14:creationId xmlns:p14="http://schemas.microsoft.com/office/powerpoint/2010/main" val="3333022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33156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1075104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114239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04039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36841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dirty="0">
                <a:latin typeface="Gotham Rounded Book" pitchFamily="50" charset="0"/>
              </a:rPr>
              <a:t>,. Unlike other regression algorithms where we have one or more than one dependent variables</a:t>
            </a:r>
            <a:endParaRPr lang="en-US" dirty="0"/>
          </a:p>
        </p:txBody>
      </p:sp>
      <p:sp>
        <p:nvSpPr>
          <p:cNvPr id="4" name="Slide Number Placeholder 3"/>
          <p:cNvSpPr>
            <a:spLocks noGrp="1"/>
          </p:cNvSpPr>
          <p:nvPr>
            <p:ph type="sldNum" sz="quarter" idx="10"/>
          </p:nvPr>
        </p:nvSpPr>
        <p:spPr/>
        <p:txBody>
          <a:bodyPr/>
          <a:lstStyle/>
          <a:p>
            <a:fld id="{76860FEB-0C1E-4D0B-B8A5-9776D636EF51}" type="slidenum">
              <a:rPr lang="en-US">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3548893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6856214"/>
          </a:xfrm>
          <a:prstGeom prst="rect">
            <a:avLst/>
          </a:prstGeom>
        </p:spPr>
      </p:pic>
      <p:sp>
        <p:nvSpPr>
          <p:cNvPr id="2" name="Title 1"/>
          <p:cNvSpPr>
            <a:spLocks noGrp="1"/>
          </p:cNvSpPr>
          <p:nvPr>
            <p:ph type="ctrTitle"/>
          </p:nvPr>
        </p:nvSpPr>
        <p:spPr>
          <a:xfrm>
            <a:off x="2019299" y="1871133"/>
            <a:ext cx="5111752"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3657597"/>
            <a:ext cx="5111752"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5037663"/>
            <a:ext cx="673100" cy="279400"/>
          </a:xfrm>
        </p:spPr>
        <p:txBody>
          <a:bodyPr/>
          <a:lstStyle/>
          <a:p>
            <a:fld id="{DB2D4653-C654-41D6-BC1A-9A2F0BA7556D}" type="datetime1">
              <a:rPr lang="en-US" smtClean="0"/>
              <a:t>10/27/2022</a:t>
            </a:fld>
            <a:endParaRPr lang="en-US"/>
          </a:p>
        </p:txBody>
      </p:sp>
      <p:sp>
        <p:nvSpPr>
          <p:cNvPr id="5" name="Footer Placeholder 4"/>
          <p:cNvSpPr>
            <a:spLocks noGrp="1"/>
          </p:cNvSpPr>
          <p:nvPr>
            <p:ph type="ftr" sz="quarter" idx="11"/>
          </p:nvPr>
        </p:nvSpPr>
        <p:spPr>
          <a:xfrm>
            <a:off x="2019299" y="5037663"/>
            <a:ext cx="3910976" cy="279400"/>
          </a:xfrm>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a:xfrm>
            <a:off x="6717676" y="5037663"/>
            <a:ext cx="413375" cy="279400"/>
          </a:xfrm>
        </p:spPr>
        <p:txBody>
          <a:bodyPr/>
          <a:lstStyle/>
          <a:p>
            <a:fld id="{B6F15528-21DE-4FAA-801E-634DDDAF4B2B}" type="slidenum">
              <a:rPr lang="en-US" smtClean="0"/>
              <a:pPr/>
              <a:t>‹#›</a:t>
            </a:fld>
            <a:endParaRPr lang="en-US"/>
          </a:p>
        </p:txBody>
      </p:sp>
      <p:cxnSp>
        <p:nvCxnSpPr>
          <p:cNvPr id="15" name="Straight Connector 14"/>
          <p:cNvCxnSpPr/>
          <p:nvPr/>
        </p:nvCxnSpPr>
        <p:spPr>
          <a:xfrm>
            <a:off x="2019301"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656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2421466"/>
            <a:ext cx="7055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E10DC7-9023-4EA2-9AA7-DE0C1E5026C3}"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93602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1" y="1752606"/>
            <a:ext cx="6119016"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3846052"/>
            <a:ext cx="6119018"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2D8C7C-081D-4325-BCBE-BFB3C88CD354}"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1509543" y="3710585"/>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05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2560320"/>
            <a:ext cx="3538728"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6008" y="2560320"/>
            <a:ext cx="3538728"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F7862D-8FC9-4C8D-8616-C2D3EDF8285A}" type="datetime1">
              <a:rPr lang="en-US" smtClean="0"/>
              <a:t>10/27/2022</a:t>
            </a:fld>
            <a:endParaRPr lang="en-US"/>
          </a:p>
        </p:txBody>
      </p:sp>
      <p:sp>
        <p:nvSpPr>
          <p:cNvPr id="6" name="Footer Placeholder 5"/>
          <p:cNvSpPr>
            <a:spLocks noGrp="1"/>
          </p:cNvSpPr>
          <p:nvPr>
            <p:ph type="ftr" sz="quarter" idx="11"/>
          </p:nvPr>
        </p:nvSpPr>
        <p:spPr/>
        <p:txBody>
          <a:bodyPr/>
          <a:lstStyle/>
          <a:p>
            <a:r>
              <a:rPr lang="en-US"/>
              <a:t>Machine Learning: Practical Machine Learning Tools and Techniques (Chapter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9166388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1" y="2658533"/>
            <a:ext cx="3538728"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71551" y="3243264"/>
            <a:ext cx="3538728"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5503" y="2658533"/>
            <a:ext cx="3538728"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35503" y="3243264"/>
            <a:ext cx="3538728"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FA25C6-2366-4B57-8901-C74185ABD5DC}" type="datetime1">
              <a:rPr lang="en-US" smtClean="0"/>
              <a:t>10/27/2022</a:t>
            </a:fld>
            <a:endParaRPr lang="en-US"/>
          </a:p>
        </p:txBody>
      </p:sp>
      <p:sp>
        <p:nvSpPr>
          <p:cNvPr id="8" name="Footer Placeholder 7"/>
          <p:cNvSpPr>
            <a:spLocks noGrp="1"/>
          </p:cNvSpPr>
          <p:nvPr>
            <p:ph type="ftr" sz="quarter" idx="11"/>
          </p:nvPr>
        </p:nvSpPr>
        <p:spPr/>
        <p:txBody>
          <a:bodyPr/>
          <a:lstStyle/>
          <a:p>
            <a:r>
              <a:rPr lang="en-US"/>
              <a:t>Machine Learning: Practical Machine Learning Tools and Techniques (Chapter 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8" name="Straight Connector 1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264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1C3304-CA81-479F-9B16-EA9383EEB5F3}" type="datetime1">
              <a:rPr lang="en-US" smtClean="0"/>
              <a:t>10/27/2022</a:t>
            </a:fld>
            <a:endParaRPr lang="en-US"/>
          </a:p>
        </p:txBody>
      </p:sp>
      <p:sp>
        <p:nvSpPr>
          <p:cNvPr id="4" name="Footer Placeholder 3"/>
          <p:cNvSpPr>
            <a:spLocks noGrp="1"/>
          </p:cNvSpPr>
          <p:nvPr>
            <p:ph type="ftr" sz="quarter" idx="11"/>
          </p:nvPr>
        </p:nvSpPr>
        <p:spPr/>
        <p:txBody>
          <a:bodyPr/>
          <a:lstStyle/>
          <a:p>
            <a:r>
              <a:rPr lang="en-US"/>
              <a:t>Machine Learning: Practical Machine Learning Tools and Techniques (Chapter 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588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05C2DE-6833-4796-85D9-620A2A4712D5}" type="datetime1">
              <a:rPr lang="en-US" smtClean="0"/>
              <a:t>10/27/2022</a:t>
            </a:fld>
            <a:endParaRPr lang="en-US"/>
          </a:p>
        </p:txBody>
      </p:sp>
      <p:sp>
        <p:nvSpPr>
          <p:cNvPr id="3" name="Footer Placeholder 2"/>
          <p:cNvSpPr>
            <a:spLocks noGrp="1"/>
          </p:cNvSpPr>
          <p:nvPr>
            <p:ph type="ftr" sz="quarter" idx="11"/>
          </p:nvPr>
        </p:nvSpPr>
        <p:spPr/>
        <p:txBody>
          <a:bodyPr/>
          <a:lstStyle/>
          <a:p>
            <a:r>
              <a:rPr lang="en-US"/>
              <a:t>Machine Learning: Practical Machine Learning Tools and Techniques (Chapter 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371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60" y="1388534"/>
            <a:ext cx="278884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064002" y="982133"/>
            <a:ext cx="4102100"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70360" y="3031065"/>
            <a:ext cx="2788841"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2130E3-EEE8-4A5B-A1C6-6BEEF1C59919}" type="datetime1">
              <a:rPr lang="en-US" smtClean="0"/>
              <a:t>10/27/2022</a:t>
            </a:fld>
            <a:endParaRPr lang="en-US"/>
          </a:p>
        </p:txBody>
      </p:sp>
      <p:sp>
        <p:nvSpPr>
          <p:cNvPr id="6" name="Footer Placeholder 5"/>
          <p:cNvSpPr>
            <a:spLocks noGrp="1"/>
          </p:cNvSpPr>
          <p:nvPr>
            <p:ph type="ftr" sz="quarter" idx="11"/>
          </p:nvPr>
        </p:nvSpPr>
        <p:spPr/>
        <p:txBody>
          <a:bodyPr/>
          <a:lstStyle/>
          <a:p>
            <a:r>
              <a:rPr lang="en-US"/>
              <a:t>Machine Learning: Practical Machine Learning Tools and Techniques (Chapter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1047127" y="2912533"/>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069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0" y="1883832"/>
            <a:ext cx="4681363"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5" y="1041400"/>
            <a:ext cx="2297511"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71550" y="3255432"/>
            <a:ext cx="4681363"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C64FCE-2CC8-4B1B-BA0F-0894C4701D4B}" type="datetime1">
              <a:rPr lang="en-US" smtClean="0"/>
              <a:t>10/27/2022</a:t>
            </a:fld>
            <a:endParaRPr lang="en-US"/>
          </a:p>
        </p:txBody>
      </p:sp>
      <p:sp>
        <p:nvSpPr>
          <p:cNvPr id="6" name="Footer Placeholder 5"/>
          <p:cNvSpPr>
            <a:spLocks noGrp="1"/>
          </p:cNvSpPr>
          <p:nvPr>
            <p:ph type="ftr" sz="quarter" idx="11"/>
          </p:nvPr>
        </p:nvSpPr>
        <p:spPr/>
        <p:txBody>
          <a:bodyPr/>
          <a:lstStyle/>
          <a:p>
            <a:r>
              <a:rPr lang="en-US"/>
              <a:t>Machine Learning: Practical Machine Learning Tools and Techniques (Chapter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1857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4815415"/>
            <a:ext cx="7207250"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1" y="1041401"/>
            <a:ext cx="7579479"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71551" y="5382153"/>
            <a:ext cx="7207250"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F7862D-8FC9-4C8D-8616-C2D3EDF8285A}" type="datetime1">
              <a:rPr lang="en-US" smtClean="0"/>
              <a:t>10/27/2022</a:t>
            </a:fld>
            <a:endParaRPr lang="en-US"/>
          </a:p>
        </p:txBody>
      </p:sp>
      <p:sp>
        <p:nvSpPr>
          <p:cNvPr id="6" name="Footer Placeholder 5"/>
          <p:cNvSpPr>
            <a:spLocks noGrp="1"/>
          </p:cNvSpPr>
          <p:nvPr>
            <p:ph type="ftr" sz="quarter" idx="11"/>
          </p:nvPr>
        </p:nvSpPr>
        <p:spPr/>
        <p:txBody>
          <a:bodyPr/>
          <a:lstStyle/>
          <a:p>
            <a:r>
              <a:rPr lang="en-US"/>
              <a:t>Machine Learning: Practical Machine Learning Tools and Techniques (Chapter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16286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2" y="982132"/>
            <a:ext cx="7194549"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977902" y="4343401"/>
            <a:ext cx="7194549"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F7862D-8FC9-4C8D-8616-C2D3EDF8285A}"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27469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10" y="3352800"/>
            <a:ext cx="66294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971551" y="4343401"/>
            <a:ext cx="7207250"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F7862D-8FC9-4C8D-8616-C2D3EDF8285A}"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646509" y="879961"/>
            <a:ext cx="4572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950200" y="2827870"/>
            <a:ext cx="4572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9676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3308581"/>
            <a:ext cx="7207251"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4777381"/>
            <a:ext cx="720725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F7862D-8FC9-4C8D-8616-C2D3EDF8285A}"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001128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971551" y="3639312"/>
            <a:ext cx="7207251"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971551" y="4529667"/>
            <a:ext cx="7207251"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F7862D-8FC9-4C8D-8616-C2D3EDF8285A}"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646509" y="879961"/>
            <a:ext cx="4572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950200" y="2599261"/>
            <a:ext cx="4572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62416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7250"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971551" y="3630168"/>
            <a:ext cx="7207251"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971552" y="4470401"/>
            <a:ext cx="7207252"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F7862D-8FC9-4C8D-8616-C2D3EDF8285A}"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63230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0D72C9-CD79-4ED9-A1BC-11297C73F37D}"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7047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982133"/>
            <a:ext cx="1418171"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8" y="982132"/>
            <a:ext cx="5574770"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06A5FE-48E4-4EF0-AF0C-34745394CA0D}" type="datetime1">
              <a:rPr lang="en-US" smtClean="0"/>
              <a:t>10/27/2022</a:t>
            </a:fld>
            <a:endParaRPr lang="en-US"/>
          </a:p>
        </p:txBody>
      </p:sp>
      <p:sp>
        <p:nvSpPr>
          <p:cNvPr id="5" name="Footer Placeholder 4"/>
          <p:cNvSpPr>
            <a:spLocks noGrp="1"/>
          </p:cNvSpPr>
          <p:nvPr>
            <p:ph type="ftr" sz="quarter" idx="11"/>
          </p:nvPr>
        </p:nvSpPr>
        <p:spPr/>
        <p:txBody>
          <a:bodyPr/>
          <a:lstStyle/>
          <a:p>
            <a:r>
              <a:rPr lang="en-US"/>
              <a:t>Machine Learning: Practical Machine Learning Tools and Techniques (Chapter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6647918" y="990601"/>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350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1310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8753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889654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55656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16155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2094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3686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73256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3026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6057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6F629-4FCE-44A7-A187-EFAB824A9B07}" type="datetimeFigureOut">
              <a:rPr lang="en-US">
                <a:solidFill>
                  <a:prstClr val="black">
                    <a:tint val="75000"/>
                  </a:prstClr>
                </a:solidFill>
              </a:rPr>
              <a:pPr/>
              <a:t>10/27/2022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0A3464-3881-4AFD-8BE4-B80450618445}"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746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3653773679"/>
      </p:ext>
    </p:extLst>
  </p:cSld>
  <p:clrMapOvr>
    <a:masterClrMapping/>
  </p:clrMapOvr>
  <p:extLst mod="1">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3686735024"/>
      </p:ext>
    </p:extLst>
  </p:cSld>
  <p:clrMapOvr>
    <a:masterClrMapping/>
  </p:clrMapOvr>
  <p:extLst mod="1">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2607169372"/>
      </p:ext>
    </p:extLst>
  </p:cSld>
  <p:clrMapOvr>
    <a:masterClrMapping/>
  </p:clrMapOvr>
  <p:extLst mod="1">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1401174533"/>
      </p:ext>
    </p:extLst>
  </p:cSld>
  <p:clrMapOvr>
    <a:masterClrMapping/>
  </p:clrMapOvr>
  <p:extLst mod="1">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1454700526"/>
      </p:ext>
    </p:extLst>
  </p:cSld>
  <p:clrMapOvr>
    <a:masterClrMapping/>
  </p:clrMapOvr>
  <p:extLst mod="1">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345" y="572283"/>
            <a:ext cx="8219471" cy="429204"/>
          </a:xfrm>
        </p:spPr>
        <p:txBody>
          <a:bodyPr lIns="0" tIns="0" anchor="t" anchorCtr="0">
            <a:noAutofit/>
          </a:bodyPr>
          <a:lstStyle>
            <a:lvl1pPr>
              <a:defRPr sz="3000" b="1">
                <a:solidFill>
                  <a:schemeClr val="accent1"/>
                </a:solidFill>
                <a:latin typeface="Gotham Rounded Bold" pitchFamily="50" charset="0"/>
                <a:ea typeface="Gotham Rounded Bold" pitchFamily="50" charset="0"/>
                <a:cs typeface="Arial" charset="0"/>
              </a:defRPr>
            </a:lvl1pPr>
          </a:lstStyle>
          <a:p>
            <a:r>
              <a:rPr lang="en-US" dirty="0"/>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8920" y="6185777"/>
            <a:ext cx="1076837" cy="450769"/>
          </a:xfrm>
          <a:prstGeom prst="rect">
            <a:avLst/>
          </a:prstGeom>
        </p:spPr>
      </p:pic>
      <p:cxnSp>
        <p:nvCxnSpPr>
          <p:cNvPr id="9" name="Straight Connector 8"/>
          <p:cNvCxnSpPr/>
          <p:nvPr userDrawn="1"/>
        </p:nvCxnSpPr>
        <p:spPr>
          <a:xfrm>
            <a:off x="464345" y="1134533"/>
            <a:ext cx="8219471" cy="0"/>
          </a:xfrm>
          <a:prstGeom prst="line">
            <a:avLst/>
          </a:prstGeom>
          <a:ln w="9525">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9144000" cy="47624"/>
          </a:xfrm>
          <a:prstGeom prst="rect">
            <a:avLst/>
          </a:prstGeom>
        </p:spPr>
      </p:pic>
      <p:pic>
        <p:nvPicPr>
          <p:cNvPr id="10" name="Picture 9">
            <a:extLst>
              <a:ext uri="{FF2B5EF4-FFF2-40B4-BE49-F238E27FC236}">
                <a16:creationId xmlns:a16="http://schemas.microsoft.com/office/drawing/2014/main" id="{48A4653B-2ABB-4694-B6C1-172368272BE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4757" r="79393"/>
          <a:stretch/>
        </p:blipFill>
        <p:spPr>
          <a:xfrm>
            <a:off x="0" y="6498457"/>
            <a:ext cx="1884286" cy="359545"/>
          </a:xfrm>
          <a:prstGeom prst="rect">
            <a:avLst/>
          </a:prstGeom>
        </p:spPr>
      </p:pic>
    </p:spTree>
    <p:extLst>
      <p:ext uri="{BB962C8B-B14F-4D97-AF65-F5344CB8AC3E}">
        <p14:creationId xmlns:p14="http://schemas.microsoft.com/office/powerpoint/2010/main" val="3823621231"/>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1619" cy="6856214"/>
          </a:xfrm>
          <a:prstGeom prst="rect">
            <a:avLst/>
          </a:prstGeom>
        </p:spPr>
      </p:pic>
      <p:sp>
        <p:nvSpPr>
          <p:cNvPr id="2" name="Title Placeholder 1"/>
          <p:cNvSpPr>
            <a:spLocks noGrp="1"/>
          </p:cNvSpPr>
          <p:nvPr>
            <p:ph type="title"/>
          </p:nvPr>
        </p:nvSpPr>
        <p:spPr>
          <a:xfrm>
            <a:off x="971553" y="982133"/>
            <a:ext cx="7200897"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2" y="2556932"/>
            <a:ext cx="7200897"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08126" y="5969001"/>
            <a:ext cx="1200151"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F7862D-8FC9-4C8D-8616-C2D3EDF8285A}" type="datetime1">
              <a:rPr lang="en-US" smtClean="0"/>
              <a:t>10/27/2022</a:t>
            </a:fld>
            <a:endParaRPr lang="en-US"/>
          </a:p>
        </p:txBody>
      </p:sp>
      <p:sp>
        <p:nvSpPr>
          <p:cNvPr id="5" name="Footer Placeholder 4"/>
          <p:cNvSpPr>
            <a:spLocks noGrp="1"/>
          </p:cNvSpPr>
          <p:nvPr>
            <p:ph type="ftr" sz="quarter" idx="3"/>
          </p:nvPr>
        </p:nvSpPr>
        <p:spPr>
          <a:xfrm>
            <a:off x="971552" y="5969001"/>
            <a:ext cx="5479425"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Machine Learning: Practical Machine Learning Tools and Techniques (Chapter 1)</a:t>
            </a:r>
          </a:p>
        </p:txBody>
      </p:sp>
      <p:sp>
        <p:nvSpPr>
          <p:cNvPr id="6" name="Slide Number Placeholder 5"/>
          <p:cNvSpPr>
            <a:spLocks noGrp="1"/>
          </p:cNvSpPr>
          <p:nvPr>
            <p:ph type="sldNum" sz="quarter" idx="4"/>
          </p:nvPr>
        </p:nvSpPr>
        <p:spPr>
          <a:xfrm>
            <a:off x="7765428" y="5969001"/>
            <a:ext cx="40702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005101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0936F629-4FCE-44A7-A187-EFAB824A9B07}" type="datetimeFigureOut">
              <a:rPr lang="en-US" smtClean="0">
                <a:solidFill>
                  <a:prstClr val="black">
                    <a:tint val="75000"/>
                  </a:prstClr>
                </a:solidFill>
              </a:rPr>
              <a:pPr defTabSz="914400"/>
              <a:t>10/27/2022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FE0A3464-3881-4AFD-8BE4-B80450618445}" type="slidenum">
              <a:rPr lang="en-US" smtClean="0">
                <a:solidFill>
                  <a:prstClr val="black">
                    <a:tint val="75000"/>
                  </a:prstClr>
                </a:solidFill>
              </a:rPr>
              <a:pPr defTabSz="914400"/>
              <a:t>‹#›</a:t>
            </a:fld>
            <a:endParaRPr lang="en-US">
              <a:solidFill>
                <a:prstClr val="black">
                  <a:tint val="75000"/>
                </a:prstClr>
              </a:solidFill>
            </a:endParaRPr>
          </a:p>
        </p:txBody>
      </p:sp>
    </p:spTree>
    <p:extLst>
      <p:ext uri="{BB962C8B-B14F-4D97-AF65-F5344CB8AC3E}">
        <p14:creationId xmlns:p14="http://schemas.microsoft.com/office/powerpoint/2010/main" val="416947135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microsoft.com/office/2007/relationships/hdphoto" Target="../media/hdphoto1.wdp"/><Relationship Id="rId5" Type="http://schemas.openxmlformats.org/officeDocument/2006/relationships/image" Target="../media/image29.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microsoft.com/office/2007/relationships/hdphoto" Target="../media/hdphoto1.wdp"/><Relationship Id="rId5" Type="http://schemas.openxmlformats.org/officeDocument/2006/relationships/image" Target="../media/image29.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microsoft.com/office/2007/relationships/hdphoto" Target="../media/hdphoto1.wdp"/><Relationship Id="rId5" Type="http://schemas.openxmlformats.org/officeDocument/2006/relationships/image" Target="../media/image29.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microsoft.com/office/2007/relationships/hdphoto" Target="../media/hdphoto1.wdp"/><Relationship Id="rId5" Type="http://schemas.openxmlformats.org/officeDocument/2006/relationships/image" Target="../media/image29.png"/><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4.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45666" y="2768488"/>
            <a:ext cx="5818909" cy="1754326"/>
          </a:xfrm>
          <a:prstGeom prst="rect">
            <a:avLst/>
          </a:prstGeom>
        </p:spPr>
        <p:txBody>
          <a:bodyPr wrap="square">
            <a:spAutoFit/>
          </a:bodyPr>
          <a:lstStyle/>
          <a:p>
            <a:pPr algn="ct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Week 2:</a:t>
            </a: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b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Machine Learning</a:t>
            </a:r>
            <a:endParaRPr lang="en-US" sz="5400" dirty="0"/>
          </a:p>
        </p:txBody>
      </p:sp>
    </p:spTree>
    <p:extLst>
      <p:ext uri="{BB962C8B-B14F-4D97-AF65-F5344CB8AC3E}">
        <p14:creationId xmlns:p14="http://schemas.microsoft.com/office/powerpoint/2010/main" val="393378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2929FF"/>
                </a:solidFill>
              </a:rPr>
              <a:t>Last Lecture..</a:t>
            </a:r>
          </a:p>
        </p:txBody>
      </p:sp>
      <p:sp>
        <p:nvSpPr>
          <p:cNvPr id="3" name="Content Placeholder 2"/>
          <p:cNvSpPr>
            <a:spLocks noGrp="1"/>
          </p:cNvSpPr>
          <p:nvPr>
            <p:ph idx="1"/>
          </p:nvPr>
        </p:nvSpPr>
        <p:spPr/>
        <p:txBody>
          <a:bodyPr>
            <a:normAutofit/>
          </a:bodyPr>
          <a:lstStyle/>
          <a:p>
            <a:r>
              <a:rPr lang="en-US" sz="3200" dirty="0"/>
              <a:t>Machine Learning Defined</a:t>
            </a:r>
          </a:p>
          <a:p>
            <a:r>
              <a:rPr lang="en-US" sz="3200" dirty="0"/>
              <a:t>Types</a:t>
            </a:r>
          </a:p>
          <a:p>
            <a:r>
              <a:rPr lang="en-US" sz="3200" dirty="0"/>
              <a:t>Categories of Data Sets</a:t>
            </a:r>
          </a:p>
        </p:txBody>
      </p:sp>
    </p:spTree>
    <p:extLst>
      <p:ext uri="{BB962C8B-B14F-4D97-AF65-F5344CB8AC3E}">
        <p14:creationId xmlns:p14="http://schemas.microsoft.com/office/powerpoint/2010/main" val="1330024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0781" y="1517971"/>
            <a:ext cx="1826152" cy="382156"/>
          </a:xfrm>
          <a:prstGeom prst="rect">
            <a:avLst/>
          </a:prstGeom>
        </p:spPr>
        <p:txBody>
          <a:bodyPr vert="horz" wrap="square" lIns="0" tIns="12700" rIns="0" bIns="0" rtlCol="0">
            <a:spAutoFit/>
          </a:bodyPr>
          <a:lstStyle/>
          <a:p>
            <a:pPr marL="12700">
              <a:lnSpc>
                <a:spcPct val="100000"/>
              </a:lnSpc>
              <a:spcBef>
                <a:spcPts val="100"/>
              </a:spcBef>
            </a:pPr>
            <a:r>
              <a:rPr sz="2400" b="1" dirty="0">
                <a:latin typeface="Carlito"/>
                <a:cs typeface="Carlito"/>
              </a:rPr>
              <a:t>Ima</a:t>
            </a:r>
            <a:r>
              <a:rPr sz="2400" b="1" spc="-30" dirty="0">
                <a:latin typeface="Carlito"/>
                <a:cs typeface="Carlito"/>
              </a:rPr>
              <a:t>g</a:t>
            </a:r>
            <a:r>
              <a:rPr sz="2400" b="1" spc="-5" dirty="0">
                <a:latin typeface="Carlito"/>
                <a:cs typeface="Carlito"/>
              </a:rPr>
              <a:t>es</a:t>
            </a:r>
            <a:endParaRPr sz="2400" dirty="0">
              <a:latin typeface="Carlito"/>
              <a:cs typeface="Carlito"/>
            </a:endParaRPr>
          </a:p>
        </p:txBody>
      </p:sp>
      <p:grpSp>
        <p:nvGrpSpPr>
          <p:cNvPr id="3" name="object 3"/>
          <p:cNvGrpSpPr/>
          <p:nvPr/>
        </p:nvGrpSpPr>
        <p:grpSpPr>
          <a:xfrm>
            <a:off x="82867" y="2230833"/>
            <a:ext cx="8973979" cy="3696335"/>
            <a:chOff x="110489" y="2100207"/>
            <a:chExt cx="11965305" cy="3696335"/>
          </a:xfrm>
        </p:grpSpPr>
        <p:sp>
          <p:nvSpPr>
            <p:cNvPr id="4" name="object 4"/>
            <p:cNvSpPr/>
            <p:nvPr/>
          </p:nvSpPr>
          <p:spPr>
            <a:xfrm>
              <a:off x="110489" y="2100207"/>
              <a:ext cx="7433309" cy="369622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958583" y="2409443"/>
              <a:ext cx="533400" cy="551815"/>
            </a:xfrm>
            <a:custGeom>
              <a:avLst/>
              <a:gdLst/>
              <a:ahLst/>
              <a:cxnLst/>
              <a:rect l="l" t="t" r="r" b="b"/>
              <a:pathLst>
                <a:path w="533400" h="551814">
                  <a:moveTo>
                    <a:pt x="0" y="551688"/>
                  </a:moveTo>
                  <a:lnTo>
                    <a:pt x="533400" y="551688"/>
                  </a:lnTo>
                  <a:lnTo>
                    <a:pt x="533400" y="0"/>
                  </a:lnTo>
                  <a:lnTo>
                    <a:pt x="0" y="0"/>
                  </a:lnTo>
                  <a:lnTo>
                    <a:pt x="0" y="551688"/>
                  </a:lnTo>
                  <a:close/>
                </a:path>
              </a:pathLst>
            </a:custGeom>
            <a:ln w="76200">
              <a:solidFill>
                <a:srgbClr val="0000FF"/>
              </a:solidFill>
            </a:ln>
          </p:spPr>
          <p:txBody>
            <a:bodyPr wrap="square" lIns="0" tIns="0" rIns="0" bIns="0" rtlCol="0"/>
            <a:lstStyle/>
            <a:p>
              <a:endParaRPr/>
            </a:p>
          </p:txBody>
        </p:sp>
        <p:sp>
          <p:nvSpPr>
            <p:cNvPr id="6" name="object 6"/>
            <p:cNvSpPr/>
            <p:nvPr/>
          </p:nvSpPr>
          <p:spPr>
            <a:xfrm>
              <a:off x="7544181" y="2599943"/>
              <a:ext cx="457200" cy="171450"/>
            </a:xfrm>
            <a:custGeom>
              <a:avLst/>
              <a:gdLst/>
              <a:ahLst/>
              <a:cxnLst/>
              <a:rect l="l" t="t" r="r" b="b"/>
              <a:pathLst>
                <a:path w="457200" h="171450">
                  <a:moveTo>
                    <a:pt x="285750" y="0"/>
                  </a:moveTo>
                  <a:lnTo>
                    <a:pt x="285750" y="171450"/>
                  </a:lnTo>
                  <a:lnTo>
                    <a:pt x="400050" y="114300"/>
                  </a:lnTo>
                  <a:lnTo>
                    <a:pt x="314325" y="114300"/>
                  </a:lnTo>
                  <a:lnTo>
                    <a:pt x="314325" y="57150"/>
                  </a:lnTo>
                  <a:lnTo>
                    <a:pt x="400050" y="57150"/>
                  </a:lnTo>
                  <a:lnTo>
                    <a:pt x="285750" y="0"/>
                  </a:lnTo>
                  <a:close/>
                </a:path>
                <a:path w="457200" h="171450">
                  <a:moveTo>
                    <a:pt x="285750" y="57150"/>
                  </a:moveTo>
                  <a:lnTo>
                    <a:pt x="0" y="57150"/>
                  </a:lnTo>
                  <a:lnTo>
                    <a:pt x="0" y="114300"/>
                  </a:lnTo>
                  <a:lnTo>
                    <a:pt x="285750" y="114300"/>
                  </a:lnTo>
                  <a:lnTo>
                    <a:pt x="285750" y="57150"/>
                  </a:lnTo>
                  <a:close/>
                </a:path>
                <a:path w="457200" h="171450">
                  <a:moveTo>
                    <a:pt x="400050" y="57150"/>
                  </a:moveTo>
                  <a:lnTo>
                    <a:pt x="314325" y="57150"/>
                  </a:lnTo>
                  <a:lnTo>
                    <a:pt x="314325" y="114300"/>
                  </a:lnTo>
                  <a:lnTo>
                    <a:pt x="400050" y="114300"/>
                  </a:lnTo>
                  <a:lnTo>
                    <a:pt x="457200" y="85725"/>
                  </a:lnTo>
                  <a:lnTo>
                    <a:pt x="400050" y="57150"/>
                  </a:lnTo>
                  <a:close/>
                </a:path>
              </a:pathLst>
            </a:custGeom>
            <a:solidFill>
              <a:srgbClr val="0000FF"/>
            </a:solidFill>
          </p:spPr>
          <p:txBody>
            <a:bodyPr wrap="square" lIns="0" tIns="0" rIns="0" bIns="0" rtlCol="0"/>
            <a:lstStyle/>
            <a:p>
              <a:endParaRPr/>
            </a:p>
          </p:txBody>
        </p:sp>
        <p:sp>
          <p:nvSpPr>
            <p:cNvPr id="7" name="object 7"/>
            <p:cNvSpPr/>
            <p:nvPr/>
          </p:nvSpPr>
          <p:spPr>
            <a:xfrm>
              <a:off x="8020811" y="2362199"/>
              <a:ext cx="4055110" cy="646430"/>
            </a:xfrm>
            <a:custGeom>
              <a:avLst/>
              <a:gdLst/>
              <a:ahLst/>
              <a:cxnLst/>
              <a:rect l="l" t="t" r="r" b="b"/>
              <a:pathLst>
                <a:path w="4055109" h="646430">
                  <a:moveTo>
                    <a:pt x="4054602" y="0"/>
                  </a:moveTo>
                  <a:lnTo>
                    <a:pt x="0" y="0"/>
                  </a:lnTo>
                  <a:lnTo>
                    <a:pt x="0" y="646176"/>
                  </a:lnTo>
                  <a:lnTo>
                    <a:pt x="4054602" y="646176"/>
                  </a:lnTo>
                  <a:lnTo>
                    <a:pt x="4054602" y="0"/>
                  </a:lnTo>
                  <a:close/>
                </a:path>
              </a:pathLst>
            </a:custGeom>
            <a:solidFill>
              <a:srgbClr val="DEEBF7"/>
            </a:solidFill>
          </p:spPr>
          <p:txBody>
            <a:bodyPr wrap="square" lIns="0" tIns="0" rIns="0" bIns="0" rtlCol="0"/>
            <a:lstStyle/>
            <a:p>
              <a:endParaRPr/>
            </a:p>
          </p:txBody>
        </p:sp>
      </p:grpSp>
      <p:sp>
        <p:nvSpPr>
          <p:cNvPr id="8" name="object 8"/>
          <p:cNvSpPr txBox="1"/>
          <p:nvPr/>
        </p:nvSpPr>
        <p:spPr>
          <a:xfrm>
            <a:off x="6015608" y="2380996"/>
            <a:ext cx="3041333" cy="843821"/>
          </a:xfrm>
          <a:prstGeom prst="rect">
            <a:avLst/>
          </a:prstGeom>
        </p:spPr>
        <p:txBody>
          <a:bodyPr vert="horz" wrap="square" lIns="0" tIns="12700" rIns="0" bIns="0" rtlCol="0">
            <a:spAutoFit/>
          </a:bodyPr>
          <a:lstStyle/>
          <a:p>
            <a:pPr marL="12700" marR="5080">
              <a:lnSpc>
                <a:spcPct val="100000"/>
              </a:lnSpc>
              <a:spcBef>
                <a:spcPts val="100"/>
              </a:spcBef>
              <a:tabLst>
                <a:tab pos="297815" algn="l"/>
                <a:tab pos="298450" algn="l"/>
              </a:tabLst>
            </a:pPr>
            <a:r>
              <a:rPr sz="1800" spc="-10" dirty="0">
                <a:latin typeface="Carlito"/>
                <a:cs typeface="Carlito"/>
              </a:rPr>
              <a:t>Each </a:t>
            </a:r>
            <a:r>
              <a:rPr sz="1800" spc="-5" dirty="0">
                <a:latin typeface="Carlito"/>
                <a:cs typeface="Carlito"/>
              </a:rPr>
              <a:t>image </a:t>
            </a:r>
            <a:r>
              <a:rPr sz="1800" spc="-10" dirty="0">
                <a:latin typeface="Carlito"/>
                <a:cs typeface="Carlito"/>
              </a:rPr>
              <a:t>(greyscale) </a:t>
            </a:r>
            <a:r>
              <a:rPr sz="1800" dirty="0">
                <a:latin typeface="Carlito"/>
                <a:cs typeface="Carlito"/>
              </a:rPr>
              <a:t>is a 2D </a:t>
            </a:r>
            <a:r>
              <a:rPr sz="1800" spc="-15" dirty="0">
                <a:latin typeface="Carlito"/>
                <a:cs typeface="Carlito"/>
              </a:rPr>
              <a:t>data  </a:t>
            </a:r>
            <a:r>
              <a:rPr sz="1800" dirty="0">
                <a:latin typeface="Carlito"/>
                <a:cs typeface="Carlito"/>
              </a:rPr>
              <a:t>which </a:t>
            </a:r>
            <a:r>
              <a:rPr sz="1800" spc="-10" dirty="0">
                <a:latin typeface="Carlito"/>
                <a:cs typeface="Carlito"/>
              </a:rPr>
              <a:t>can </a:t>
            </a:r>
            <a:r>
              <a:rPr sz="1800" spc="-5" dirty="0">
                <a:latin typeface="Carlito"/>
                <a:cs typeface="Carlito"/>
              </a:rPr>
              <a:t>be </a:t>
            </a:r>
            <a:r>
              <a:rPr sz="1800" spc="-10" dirty="0">
                <a:latin typeface="Carlito"/>
                <a:cs typeface="Carlito"/>
              </a:rPr>
              <a:t>represented </a:t>
            </a:r>
            <a:r>
              <a:rPr sz="1800" dirty="0">
                <a:latin typeface="Carlito"/>
                <a:cs typeface="Carlito"/>
              </a:rPr>
              <a:t>as a</a:t>
            </a:r>
            <a:r>
              <a:rPr sz="1800" spc="10" dirty="0">
                <a:latin typeface="Carlito"/>
                <a:cs typeface="Carlito"/>
              </a:rPr>
              <a:t> </a:t>
            </a:r>
            <a:r>
              <a:rPr sz="1800" spc="-5" dirty="0">
                <a:latin typeface="Carlito"/>
                <a:cs typeface="Carlito"/>
              </a:rPr>
              <a:t>matrix</a:t>
            </a:r>
            <a:endParaRPr sz="1800" dirty="0">
              <a:latin typeface="Carlito"/>
              <a:cs typeface="Carlito"/>
            </a:endParaRPr>
          </a:p>
        </p:txBody>
      </p:sp>
      <p:sp>
        <p:nvSpPr>
          <p:cNvPr id="9" name="object 9"/>
          <p:cNvSpPr/>
          <p:nvPr/>
        </p:nvSpPr>
        <p:spPr>
          <a:xfrm>
            <a:off x="6229628" y="3176370"/>
            <a:ext cx="2742922" cy="1295065"/>
          </a:xfrm>
          <a:prstGeom prst="rect">
            <a:avLst/>
          </a:prstGeom>
          <a:blipFill>
            <a:blip r:embed="rId3" cstate="print"/>
            <a:stretch>
              <a:fillRect/>
            </a:stretch>
          </a:blipFill>
        </p:spPr>
        <p:txBody>
          <a:bodyPr wrap="square" lIns="0" tIns="0" rIns="0" bIns="0" rtlCol="0"/>
          <a:lstStyle/>
          <a:p>
            <a:endParaRPr/>
          </a:p>
        </p:txBody>
      </p:sp>
      <p:sp>
        <p:nvSpPr>
          <p:cNvPr id="10" name="object 10"/>
          <p:cNvSpPr txBox="1">
            <a:spLocks noGrp="1"/>
          </p:cNvSpPr>
          <p:nvPr>
            <p:ph type="title"/>
          </p:nvPr>
        </p:nvSpPr>
        <p:spPr>
          <a:xfrm>
            <a:off x="971553" y="520994"/>
            <a:ext cx="7200897" cy="1133644"/>
          </a:xfrm>
          <a:prstGeom prst="rect">
            <a:avLst/>
          </a:prstGeom>
        </p:spPr>
        <p:txBody>
          <a:bodyPr vert="horz" wrap="square" lIns="0" tIns="12700" rIns="0" bIns="0" rtlCol="0">
            <a:spAutoFit/>
          </a:bodyPr>
          <a:lstStyle/>
          <a:p>
            <a:pPr algn="ctr">
              <a:lnSpc>
                <a:spcPct val="100000"/>
              </a:lnSpc>
              <a:spcBef>
                <a:spcPts val="100"/>
              </a:spcBef>
            </a:pPr>
            <a:r>
              <a:rPr spc="-5" dirty="0"/>
              <a:t>Machine </a:t>
            </a:r>
            <a:r>
              <a:rPr dirty="0"/>
              <a:t>Learning:</a:t>
            </a:r>
            <a:r>
              <a:rPr spc="-45" dirty="0"/>
              <a:t> </a:t>
            </a:r>
            <a:r>
              <a:rPr spc="-10" dirty="0"/>
              <a:t>Overview</a:t>
            </a:r>
          </a:p>
          <a:p>
            <a:pPr>
              <a:spcBef>
                <a:spcPts val="50"/>
              </a:spcBef>
            </a:pPr>
            <a:r>
              <a:rPr lang="en-US" sz="2800" i="1" spc="-5" dirty="0">
                <a:solidFill>
                  <a:srgbClr val="006FC0"/>
                </a:solidFill>
                <a:latin typeface="Carlito"/>
                <a:cs typeface="Carlito"/>
              </a:rPr>
              <a:t>Dataset </a:t>
            </a:r>
            <a:r>
              <a:rPr lang="en-US" sz="2800" i="1" spc="-30" dirty="0">
                <a:solidFill>
                  <a:srgbClr val="006FC0"/>
                </a:solidFill>
                <a:latin typeface="Carlito"/>
                <a:cs typeface="Carlito"/>
              </a:rPr>
              <a:t>Types</a:t>
            </a:r>
            <a:endParaRPr sz="2800" dirty="0">
              <a:latin typeface="Carlito"/>
              <a:cs typeface="Carlito"/>
            </a:endParaRPr>
          </a:p>
        </p:txBody>
      </p:sp>
    </p:spTree>
    <p:extLst>
      <p:ext uri="{BB962C8B-B14F-4D97-AF65-F5344CB8AC3E}">
        <p14:creationId xmlns:p14="http://schemas.microsoft.com/office/powerpoint/2010/main" val="221240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0046" y="1603018"/>
            <a:ext cx="4528530" cy="548868"/>
          </a:xfrm>
          <a:prstGeom prst="rect">
            <a:avLst/>
          </a:prstGeom>
        </p:spPr>
        <p:txBody>
          <a:bodyPr vert="horz" wrap="square" lIns="0" tIns="12700" rIns="0" bIns="0" rtlCol="0">
            <a:spAutoFit/>
          </a:bodyPr>
          <a:lstStyle/>
          <a:p>
            <a:pPr marL="12700">
              <a:lnSpc>
                <a:spcPct val="100000"/>
              </a:lnSpc>
              <a:spcBef>
                <a:spcPts val="100"/>
              </a:spcBef>
              <a:tabLst>
                <a:tab pos="1986914" algn="l"/>
              </a:tabLst>
            </a:pPr>
            <a:r>
              <a:rPr sz="1800" b="1" u="heavy" spc="-5" dirty="0">
                <a:solidFill>
                  <a:srgbClr val="C00000"/>
                </a:solidFill>
                <a:uFill>
                  <a:solidFill>
                    <a:srgbClr val="000000"/>
                  </a:solidFill>
                </a:uFill>
                <a:latin typeface="Carlito"/>
                <a:cs typeface="Carlito"/>
              </a:rPr>
              <a:t>Image</a:t>
            </a:r>
            <a:r>
              <a:rPr sz="1800" b="1" u="heavy" spc="-10" dirty="0">
                <a:solidFill>
                  <a:srgbClr val="C00000"/>
                </a:solidFill>
                <a:uFill>
                  <a:solidFill>
                    <a:srgbClr val="000000"/>
                  </a:solidFill>
                </a:uFill>
                <a:latin typeface="Carlito"/>
                <a:cs typeface="Carlito"/>
              </a:rPr>
              <a:t> Descriptors:</a:t>
            </a:r>
            <a:r>
              <a:rPr lang="en-US" sz="1800" b="1" u="heavy" spc="-10" dirty="0">
                <a:solidFill>
                  <a:srgbClr val="C00000"/>
                </a:solidFill>
                <a:uFill>
                  <a:solidFill>
                    <a:srgbClr val="000000"/>
                  </a:solidFill>
                </a:uFill>
                <a:latin typeface="Carlito"/>
                <a:cs typeface="Carlito"/>
              </a:rPr>
              <a:t> </a:t>
            </a:r>
          </a:p>
          <a:p>
            <a:pPr marL="12700">
              <a:lnSpc>
                <a:spcPct val="100000"/>
              </a:lnSpc>
              <a:spcBef>
                <a:spcPts val="100"/>
              </a:spcBef>
              <a:tabLst>
                <a:tab pos="1986914" algn="l"/>
              </a:tabLst>
            </a:pPr>
            <a:r>
              <a:rPr sz="1600" u="heavy" spc="-5" dirty="0">
                <a:uFill>
                  <a:solidFill>
                    <a:srgbClr val="000000"/>
                  </a:solidFill>
                </a:uFill>
                <a:latin typeface="Carlito"/>
                <a:cs typeface="Carlito"/>
              </a:rPr>
              <a:t>Manually </a:t>
            </a:r>
            <a:r>
              <a:rPr sz="1600" u="heavy" spc="-10" dirty="0">
                <a:uFill>
                  <a:solidFill>
                    <a:srgbClr val="000000"/>
                  </a:solidFill>
                </a:uFill>
                <a:latin typeface="Carlito"/>
                <a:cs typeface="Carlito"/>
              </a:rPr>
              <a:t>extract</a:t>
            </a:r>
            <a:r>
              <a:rPr sz="1600" u="heavy" spc="-40" dirty="0">
                <a:uFill>
                  <a:solidFill>
                    <a:srgbClr val="000000"/>
                  </a:solidFill>
                </a:uFill>
                <a:latin typeface="Carlito"/>
                <a:cs typeface="Carlito"/>
              </a:rPr>
              <a:t> </a:t>
            </a:r>
            <a:r>
              <a:rPr sz="1600" u="heavy" spc="-15" dirty="0">
                <a:uFill>
                  <a:solidFill>
                    <a:srgbClr val="000000"/>
                  </a:solidFill>
                </a:uFill>
                <a:latin typeface="Carlito"/>
                <a:cs typeface="Carlito"/>
              </a:rPr>
              <a:t>features</a:t>
            </a:r>
            <a:endParaRPr sz="1600" dirty="0">
              <a:latin typeface="Carlito"/>
              <a:cs typeface="Carlito"/>
            </a:endParaRPr>
          </a:p>
        </p:txBody>
      </p:sp>
      <p:sp>
        <p:nvSpPr>
          <p:cNvPr id="3" name="object 3"/>
          <p:cNvSpPr txBox="1"/>
          <p:nvPr/>
        </p:nvSpPr>
        <p:spPr>
          <a:xfrm>
            <a:off x="4761207" y="1765272"/>
            <a:ext cx="4504849" cy="795089"/>
          </a:xfrm>
          <a:prstGeom prst="rect">
            <a:avLst/>
          </a:prstGeom>
        </p:spPr>
        <p:txBody>
          <a:bodyPr vert="horz" wrap="square" lIns="0" tIns="12700" rIns="0" bIns="0" rtlCol="0">
            <a:spAutoFit/>
          </a:bodyPr>
          <a:lstStyle/>
          <a:p>
            <a:pPr marL="12700">
              <a:lnSpc>
                <a:spcPct val="100000"/>
              </a:lnSpc>
              <a:spcBef>
                <a:spcPts val="100"/>
              </a:spcBef>
              <a:tabLst>
                <a:tab pos="1593215" algn="l"/>
              </a:tabLst>
            </a:pPr>
            <a:r>
              <a:rPr sz="1800" b="1" u="heavy" spc="-5" dirty="0">
                <a:solidFill>
                  <a:srgbClr val="C00000"/>
                </a:solidFill>
                <a:uFill>
                  <a:solidFill>
                    <a:srgbClr val="000000"/>
                  </a:solidFill>
                </a:uFill>
                <a:latin typeface="Carlito"/>
                <a:cs typeface="Carlito"/>
              </a:rPr>
              <a:t>Deep</a:t>
            </a:r>
            <a:r>
              <a:rPr sz="1800" b="1" u="heavy" dirty="0">
                <a:solidFill>
                  <a:srgbClr val="C00000"/>
                </a:solidFill>
                <a:uFill>
                  <a:solidFill>
                    <a:srgbClr val="000000"/>
                  </a:solidFill>
                </a:uFill>
                <a:latin typeface="Carlito"/>
                <a:cs typeface="Carlito"/>
              </a:rPr>
              <a:t> </a:t>
            </a:r>
            <a:r>
              <a:rPr sz="1800" b="1" u="heavy" spc="-5" dirty="0">
                <a:solidFill>
                  <a:srgbClr val="C00000"/>
                </a:solidFill>
                <a:uFill>
                  <a:solidFill>
                    <a:srgbClr val="000000"/>
                  </a:solidFill>
                </a:uFill>
                <a:latin typeface="Carlito"/>
                <a:cs typeface="Carlito"/>
              </a:rPr>
              <a:t>Learning:</a:t>
            </a:r>
            <a:endParaRPr lang="en-US" sz="1800" b="1" u="heavy" spc="-5" dirty="0">
              <a:solidFill>
                <a:srgbClr val="C00000"/>
              </a:solidFill>
              <a:uFill>
                <a:solidFill>
                  <a:srgbClr val="000000"/>
                </a:solidFill>
              </a:uFill>
              <a:latin typeface="Carlito"/>
              <a:cs typeface="Carlito"/>
            </a:endParaRPr>
          </a:p>
          <a:p>
            <a:pPr marL="12700">
              <a:lnSpc>
                <a:spcPct val="100000"/>
              </a:lnSpc>
              <a:spcBef>
                <a:spcPts val="100"/>
              </a:spcBef>
              <a:tabLst>
                <a:tab pos="1593215" algn="l"/>
              </a:tabLst>
            </a:pPr>
            <a:r>
              <a:rPr sz="1600" u="heavy" spc="-5" dirty="0">
                <a:uFill>
                  <a:solidFill>
                    <a:srgbClr val="000000"/>
                  </a:solidFill>
                </a:uFill>
                <a:latin typeface="Carlito"/>
                <a:cs typeface="Carlito"/>
              </a:rPr>
              <a:t>Let </a:t>
            </a:r>
            <a:r>
              <a:rPr sz="1600" u="heavy" dirty="0">
                <a:uFill>
                  <a:solidFill>
                    <a:srgbClr val="000000"/>
                  </a:solidFill>
                </a:uFill>
                <a:latin typeface="Carlito"/>
                <a:cs typeface="Carlito"/>
              </a:rPr>
              <a:t>machine </a:t>
            </a:r>
            <a:r>
              <a:rPr sz="1600" u="heavy" spc="-5" dirty="0">
                <a:uFill>
                  <a:solidFill>
                    <a:srgbClr val="000000"/>
                  </a:solidFill>
                </a:uFill>
                <a:latin typeface="Carlito"/>
                <a:cs typeface="Carlito"/>
              </a:rPr>
              <a:t>learning </a:t>
            </a:r>
            <a:r>
              <a:rPr sz="1600" u="heavy" spc="-10" dirty="0">
                <a:uFill>
                  <a:solidFill>
                    <a:srgbClr val="000000"/>
                  </a:solidFill>
                </a:uFill>
                <a:latin typeface="Carlito"/>
                <a:cs typeface="Carlito"/>
              </a:rPr>
              <a:t>extract </a:t>
            </a:r>
            <a:r>
              <a:rPr sz="1600" u="heavy" spc="-5" dirty="0">
                <a:uFill>
                  <a:solidFill>
                    <a:srgbClr val="000000"/>
                  </a:solidFill>
                </a:uFill>
                <a:latin typeface="Carlito"/>
                <a:cs typeface="Carlito"/>
              </a:rPr>
              <a:t>most important</a:t>
            </a:r>
            <a:r>
              <a:rPr sz="1600" u="heavy" spc="-25" dirty="0">
                <a:uFill>
                  <a:solidFill>
                    <a:srgbClr val="000000"/>
                  </a:solidFill>
                </a:uFill>
                <a:latin typeface="Carlito"/>
                <a:cs typeface="Carlito"/>
              </a:rPr>
              <a:t> </a:t>
            </a:r>
            <a:r>
              <a:rPr sz="1600" u="heavy" spc="-15" dirty="0">
                <a:uFill>
                  <a:solidFill>
                    <a:srgbClr val="000000"/>
                  </a:solidFill>
                </a:uFill>
                <a:latin typeface="Carlito"/>
                <a:cs typeface="Carlito"/>
              </a:rPr>
              <a:t>features</a:t>
            </a:r>
            <a:endParaRPr sz="1600" dirty="0">
              <a:latin typeface="Carlito"/>
              <a:cs typeface="Carlito"/>
            </a:endParaRPr>
          </a:p>
        </p:txBody>
      </p:sp>
      <p:sp>
        <p:nvSpPr>
          <p:cNvPr id="4" name="object 4"/>
          <p:cNvSpPr txBox="1"/>
          <p:nvPr/>
        </p:nvSpPr>
        <p:spPr>
          <a:xfrm>
            <a:off x="459104" y="2056442"/>
            <a:ext cx="4187189" cy="3059812"/>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800" spc="-5" dirty="0">
                <a:latin typeface="Carlito"/>
                <a:cs typeface="Carlito"/>
              </a:rPr>
              <a:t>Speeded-Up </a:t>
            </a:r>
            <a:r>
              <a:rPr sz="1800" spc="-15" dirty="0">
                <a:latin typeface="Carlito"/>
                <a:cs typeface="Carlito"/>
              </a:rPr>
              <a:t>Robust </a:t>
            </a:r>
            <a:r>
              <a:rPr sz="1800" spc="-10" dirty="0">
                <a:latin typeface="Carlito"/>
                <a:cs typeface="Carlito"/>
              </a:rPr>
              <a:t>Features</a:t>
            </a:r>
            <a:r>
              <a:rPr sz="1800" spc="35" dirty="0">
                <a:latin typeface="Carlito"/>
                <a:cs typeface="Carlito"/>
              </a:rPr>
              <a:t> </a:t>
            </a:r>
            <a:r>
              <a:rPr sz="1800" spc="-5" dirty="0">
                <a:latin typeface="Carlito"/>
                <a:cs typeface="Carlito"/>
              </a:rPr>
              <a:t>(SURF)</a:t>
            </a:r>
            <a:endParaRPr sz="1800" dirty="0">
              <a:latin typeface="Carlito"/>
              <a:cs typeface="Carlito"/>
            </a:endParaRPr>
          </a:p>
          <a:p>
            <a:pPr marL="298450" marR="43180" indent="-285750">
              <a:lnSpc>
                <a:spcPct val="100000"/>
              </a:lnSpc>
              <a:buFont typeface="Arial"/>
              <a:buChar char="•"/>
              <a:tabLst>
                <a:tab pos="297815" algn="l"/>
                <a:tab pos="298450" algn="l"/>
              </a:tabLst>
            </a:pPr>
            <a:r>
              <a:rPr sz="1800" dirty="0">
                <a:latin typeface="Carlito"/>
                <a:cs typeface="Carlito"/>
              </a:rPr>
              <a:t>Binary </a:t>
            </a:r>
            <a:r>
              <a:rPr sz="1800" spc="-15" dirty="0">
                <a:latin typeface="Carlito"/>
                <a:cs typeface="Carlito"/>
              </a:rPr>
              <a:t>Robust </a:t>
            </a:r>
            <a:r>
              <a:rPr sz="1800" spc="-5" dirty="0">
                <a:latin typeface="Carlito"/>
                <a:cs typeface="Carlito"/>
              </a:rPr>
              <a:t>Independent </a:t>
            </a:r>
            <a:r>
              <a:rPr sz="1800" spc="-10" dirty="0">
                <a:latin typeface="Carlito"/>
                <a:cs typeface="Carlito"/>
              </a:rPr>
              <a:t>Elementary  Features</a:t>
            </a:r>
            <a:r>
              <a:rPr sz="1800" spc="-5" dirty="0">
                <a:latin typeface="Carlito"/>
                <a:cs typeface="Carlito"/>
              </a:rPr>
              <a:t> (BRIEF)</a:t>
            </a:r>
            <a:endParaRPr sz="1800" dirty="0">
              <a:latin typeface="Carlito"/>
              <a:cs typeface="Carlito"/>
            </a:endParaRPr>
          </a:p>
          <a:p>
            <a:pPr marL="298450" indent="-285750">
              <a:lnSpc>
                <a:spcPct val="100000"/>
              </a:lnSpc>
              <a:buFont typeface="Arial"/>
              <a:buChar char="•"/>
              <a:tabLst>
                <a:tab pos="297815" algn="l"/>
                <a:tab pos="298450" algn="l"/>
              </a:tabLst>
            </a:pPr>
            <a:r>
              <a:rPr sz="1800" spc="-10" dirty="0">
                <a:latin typeface="Carlito"/>
                <a:cs typeface="Carlito"/>
              </a:rPr>
              <a:t>Oriented </a:t>
            </a:r>
            <a:r>
              <a:rPr sz="1800" spc="-30" dirty="0">
                <a:latin typeface="Carlito"/>
                <a:cs typeface="Carlito"/>
              </a:rPr>
              <a:t>FAST </a:t>
            </a:r>
            <a:r>
              <a:rPr sz="1800" dirty="0">
                <a:latin typeface="Carlito"/>
                <a:cs typeface="Carlito"/>
              </a:rPr>
              <a:t>and </a:t>
            </a:r>
            <a:r>
              <a:rPr sz="1800" spc="-20" dirty="0">
                <a:latin typeface="Carlito"/>
                <a:cs typeface="Carlito"/>
              </a:rPr>
              <a:t>Rotated </a:t>
            </a:r>
            <a:r>
              <a:rPr sz="1800" dirty="0">
                <a:latin typeface="Carlito"/>
                <a:cs typeface="Carlito"/>
              </a:rPr>
              <a:t>BRIEF</a:t>
            </a:r>
            <a:r>
              <a:rPr sz="1800" spc="20" dirty="0">
                <a:latin typeface="Carlito"/>
                <a:cs typeface="Carlito"/>
              </a:rPr>
              <a:t> </a:t>
            </a:r>
            <a:r>
              <a:rPr sz="1800" spc="-5" dirty="0">
                <a:latin typeface="Carlito"/>
                <a:cs typeface="Carlito"/>
              </a:rPr>
              <a:t>(ORB)</a:t>
            </a:r>
            <a:endParaRPr sz="1800" dirty="0">
              <a:latin typeface="Carlito"/>
              <a:cs typeface="Carlito"/>
            </a:endParaRPr>
          </a:p>
          <a:p>
            <a:pPr marL="298450" indent="-285750">
              <a:lnSpc>
                <a:spcPct val="100000"/>
              </a:lnSpc>
              <a:buFont typeface="Arial"/>
              <a:buChar char="•"/>
              <a:tabLst>
                <a:tab pos="297815" algn="l"/>
                <a:tab pos="298450" algn="l"/>
              </a:tabLst>
            </a:pPr>
            <a:r>
              <a:rPr sz="1800" spc="-10" dirty="0">
                <a:latin typeface="Carlito"/>
                <a:cs typeface="Carlito"/>
              </a:rPr>
              <a:t>Scale-Invariant Feature </a:t>
            </a:r>
            <a:r>
              <a:rPr sz="1800" spc="-25" dirty="0">
                <a:latin typeface="Carlito"/>
                <a:cs typeface="Carlito"/>
              </a:rPr>
              <a:t>Transform </a:t>
            </a:r>
            <a:r>
              <a:rPr sz="1800" spc="-5" dirty="0">
                <a:latin typeface="Carlito"/>
                <a:cs typeface="Carlito"/>
              </a:rPr>
              <a:t>(SIFT)</a:t>
            </a:r>
            <a:endParaRPr sz="1800" dirty="0">
              <a:latin typeface="Carlito"/>
              <a:cs typeface="Carlito"/>
            </a:endParaRPr>
          </a:p>
          <a:p>
            <a:pPr marL="298450" indent="-285750">
              <a:lnSpc>
                <a:spcPct val="100000"/>
              </a:lnSpc>
              <a:buFont typeface="Arial"/>
              <a:buChar char="•"/>
              <a:tabLst>
                <a:tab pos="297815" algn="l"/>
                <a:tab pos="298450" algn="l"/>
              </a:tabLst>
            </a:pPr>
            <a:r>
              <a:rPr sz="1800" spc="-15" dirty="0">
                <a:latin typeface="Carlito"/>
                <a:cs typeface="Carlito"/>
              </a:rPr>
              <a:t>Histogram </a:t>
            </a:r>
            <a:r>
              <a:rPr sz="1800" spc="-5" dirty="0">
                <a:latin typeface="Carlito"/>
                <a:cs typeface="Carlito"/>
              </a:rPr>
              <a:t>of </a:t>
            </a:r>
            <a:r>
              <a:rPr sz="1800" spc="-10" dirty="0">
                <a:latin typeface="Carlito"/>
                <a:cs typeface="Carlito"/>
              </a:rPr>
              <a:t>Oriented Gradients</a:t>
            </a:r>
            <a:r>
              <a:rPr sz="1800" spc="40" dirty="0">
                <a:latin typeface="Carlito"/>
                <a:cs typeface="Carlito"/>
              </a:rPr>
              <a:t> </a:t>
            </a:r>
            <a:r>
              <a:rPr sz="1800" spc="-5" dirty="0">
                <a:latin typeface="Carlito"/>
                <a:cs typeface="Carlito"/>
              </a:rPr>
              <a:t>(HOG)</a:t>
            </a:r>
            <a:endParaRPr sz="1800" dirty="0">
              <a:latin typeface="Carlito"/>
              <a:cs typeface="Carlito"/>
            </a:endParaRPr>
          </a:p>
          <a:p>
            <a:pPr marL="298450" indent="-285750">
              <a:lnSpc>
                <a:spcPct val="100000"/>
              </a:lnSpc>
              <a:buFont typeface="Arial"/>
              <a:buChar char="•"/>
              <a:tabLst>
                <a:tab pos="297815" algn="l"/>
                <a:tab pos="298450" algn="l"/>
              </a:tabLst>
            </a:pPr>
            <a:r>
              <a:rPr sz="1800" spc="-5" dirty="0">
                <a:latin typeface="Carlito"/>
                <a:cs typeface="Carlito"/>
              </a:rPr>
              <a:t>HAAR</a:t>
            </a:r>
            <a:r>
              <a:rPr sz="1800" spc="-10" dirty="0">
                <a:latin typeface="Carlito"/>
                <a:cs typeface="Carlito"/>
              </a:rPr>
              <a:t> </a:t>
            </a:r>
            <a:r>
              <a:rPr sz="1800" spc="-15" dirty="0">
                <a:latin typeface="Carlito"/>
                <a:cs typeface="Carlito"/>
              </a:rPr>
              <a:t>features</a:t>
            </a:r>
            <a:endParaRPr sz="1800" dirty="0">
              <a:latin typeface="Carlito"/>
              <a:cs typeface="Carlito"/>
            </a:endParaRPr>
          </a:p>
          <a:p>
            <a:pPr marL="298450" indent="-285750">
              <a:lnSpc>
                <a:spcPct val="100000"/>
              </a:lnSpc>
              <a:buFont typeface="Arial"/>
              <a:buChar char="•"/>
              <a:tabLst>
                <a:tab pos="297815" algn="l"/>
                <a:tab pos="298450" algn="l"/>
              </a:tabLst>
            </a:pPr>
            <a:r>
              <a:rPr sz="1800" spc="-15" dirty="0">
                <a:latin typeface="Carlito"/>
                <a:cs typeface="Carlito"/>
              </a:rPr>
              <a:t>etc.</a:t>
            </a:r>
            <a:endParaRPr sz="1800" dirty="0">
              <a:latin typeface="Carlito"/>
              <a:cs typeface="Carlito"/>
            </a:endParaRPr>
          </a:p>
        </p:txBody>
      </p:sp>
      <p:sp>
        <p:nvSpPr>
          <p:cNvPr id="5" name="object 5"/>
          <p:cNvSpPr/>
          <p:nvPr/>
        </p:nvSpPr>
        <p:spPr>
          <a:xfrm>
            <a:off x="724395" y="5118088"/>
            <a:ext cx="2946224" cy="1725168"/>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4717544" y="2619536"/>
            <a:ext cx="4106419" cy="1674817"/>
          </a:xfrm>
          <a:prstGeom prst="rect">
            <a:avLst/>
          </a:prstGeom>
        </p:spPr>
        <p:txBody>
          <a:bodyPr vert="horz" wrap="square" lIns="0" tIns="12700" rIns="0" bIns="0" rtlCol="0">
            <a:spAutoFit/>
          </a:bodyPr>
          <a:lstStyle/>
          <a:p>
            <a:pPr marL="12700" marR="5080" indent="-1905">
              <a:lnSpc>
                <a:spcPct val="100000"/>
              </a:lnSpc>
              <a:spcBef>
                <a:spcPts val="100"/>
              </a:spcBef>
            </a:pPr>
            <a:r>
              <a:rPr sz="1800" spc="-10" dirty="0">
                <a:latin typeface="Carlito"/>
                <a:cs typeface="Carlito"/>
              </a:rPr>
              <a:t>Neural Networks </a:t>
            </a:r>
            <a:r>
              <a:rPr sz="1800" spc="-5" dirty="0">
                <a:latin typeface="Carlito"/>
                <a:cs typeface="Carlito"/>
              </a:rPr>
              <a:t>such </a:t>
            </a:r>
            <a:r>
              <a:rPr sz="1800" dirty="0">
                <a:latin typeface="Carlito"/>
                <a:cs typeface="Carlito"/>
              </a:rPr>
              <a:t>as </a:t>
            </a:r>
            <a:r>
              <a:rPr lang="en-US" dirty="0">
                <a:latin typeface="Carlito"/>
                <a:cs typeface="Carlito"/>
              </a:rPr>
              <a:t>C</a:t>
            </a:r>
            <a:r>
              <a:rPr sz="1800" spc="-10" dirty="0">
                <a:latin typeface="Carlito"/>
                <a:cs typeface="Carlito"/>
              </a:rPr>
              <a:t>onvolutional Neural Networks  </a:t>
            </a:r>
            <a:r>
              <a:rPr sz="1800" spc="-5" dirty="0">
                <a:latin typeface="Carlito"/>
                <a:cs typeface="Carlito"/>
              </a:rPr>
              <a:t>(CNN) </a:t>
            </a:r>
            <a:r>
              <a:rPr sz="1800" spc="-25" dirty="0">
                <a:latin typeface="Carlito"/>
                <a:cs typeface="Carlito"/>
              </a:rPr>
              <a:t>take </a:t>
            </a:r>
            <a:r>
              <a:rPr sz="1800" spc="-20" dirty="0">
                <a:latin typeface="Carlito"/>
                <a:cs typeface="Carlito"/>
              </a:rPr>
              <a:t>raw </a:t>
            </a:r>
            <a:r>
              <a:rPr sz="1800" spc="-5" dirty="0">
                <a:latin typeface="Carlito"/>
                <a:cs typeface="Carlito"/>
              </a:rPr>
              <a:t>images </a:t>
            </a:r>
            <a:r>
              <a:rPr sz="1800" dirty="0">
                <a:latin typeface="Carlito"/>
                <a:cs typeface="Carlito"/>
              </a:rPr>
              <a:t>as input and </a:t>
            </a:r>
            <a:r>
              <a:rPr sz="1800" spc="-15" dirty="0">
                <a:latin typeface="Carlito"/>
                <a:cs typeface="Carlito"/>
              </a:rPr>
              <a:t>first </a:t>
            </a:r>
            <a:r>
              <a:rPr sz="1800" spc="-10" dirty="0">
                <a:latin typeface="Carlito"/>
                <a:cs typeface="Carlito"/>
              </a:rPr>
              <a:t>process </a:t>
            </a:r>
            <a:r>
              <a:rPr sz="1800" dirty="0">
                <a:latin typeface="Carlito"/>
                <a:cs typeface="Carlito"/>
              </a:rPr>
              <a:t>it inside  multiple </a:t>
            </a:r>
            <a:r>
              <a:rPr sz="1800" spc="-15" dirty="0">
                <a:latin typeface="Carlito"/>
                <a:cs typeface="Carlito"/>
              </a:rPr>
              <a:t>layers to get </a:t>
            </a:r>
            <a:r>
              <a:rPr sz="1800" spc="-10" dirty="0">
                <a:latin typeface="Carlito"/>
                <a:cs typeface="Carlito"/>
              </a:rPr>
              <a:t>best </a:t>
            </a:r>
            <a:r>
              <a:rPr sz="1800" spc="-15" dirty="0">
                <a:latin typeface="Carlito"/>
                <a:cs typeface="Carlito"/>
              </a:rPr>
              <a:t>features </a:t>
            </a:r>
            <a:r>
              <a:rPr sz="1800" spc="-5" dirty="0">
                <a:latin typeface="Carlito"/>
                <a:cs typeface="Carlito"/>
              </a:rPr>
              <a:t>called intrinsic  dimension of </a:t>
            </a:r>
            <a:r>
              <a:rPr sz="1800" dirty="0">
                <a:latin typeface="Carlito"/>
                <a:cs typeface="Carlito"/>
              </a:rPr>
              <a:t>the</a:t>
            </a:r>
            <a:r>
              <a:rPr sz="1800" spc="20" dirty="0">
                <a:latin typeface="Carlito"/>
                <a:cs typeface="Carlito"/>
              </a:rPr>
              <a:t> </a:t>
            </a:r>
            <a:r>
              <a:rPr sz="1800" spc="-15" dirty="0">
                <a:latin typeface="Carlito"/>
                <a:cs typeface="Carlito"/>
              </a:rPr>
              <a:t>data</a:t>
            </a:r>
            <a:endParaRPr sz="1800" dirty="0">
              <a:latin typeface="Carlito"/>
              <a:cs typeface="Carlito"/>
            </a:endParaRPr>
          </a:p>
        </p:txBody>
      </p:sp>
      <p:sp>
        <p:nvSpPr>
          <p:cNvPr id="7" name="object 7"/>
          <p:cNvSpPr/>
          <p:nvPr/>
        </p:nvSpPr>
        <p:spPr>
          <a:xfrm>
            <a:off x="4646294" y="4614546"/>
            <a:ext cx="4382262" cy="2209038"/>
          </a:xfrm>
          <a:prstGeom prst="rect">
            <a:avLst/>
          </a:prstGeom>
          <a:blipFill>
            <a:blip r:embed="rId3" cstate="print"/>
            <a:stretch>
              <a:fillRect/>
            </a:stretch>
          </a:blipFill>
        </p:spPr>
        <p:txBody>
          <a:bodyPr wrap="square" lIns="0" tIns="0" rIns="0" bIns="0" rtlCol="0"/>
          <a:lstStyle/>
          <a:p>
            <a:endParaRPr/>
          </a:p>
        </p:txBody>
      </p:sp>
      <p:sp>
        <p:nvSpPr>
          <p:cNvPr id="8" name="object 4"/>
          <p:cNvSpPr/>
          <p:nvPr/>
        </p:nvSpPr>
        <p:spPr>
          <a:xfrm>
            <a:off x="3186282" y="32641"/>
            <a:ext cx="2424806" cy="876113"/>
          </a:xfrm>
          <a:prstGeom prst="rect">
            <a:avLst/>
          </a:prstGeom>
          <a:blipFill>
            <a:blip r:embed="rId4" cstate="print"/>
            <a:srcRect/>
            <a:stretch>
              <a:fillRect l="2" t="-45415" r="-243873" b="-460920"/>
            </a:stretch>
          </a:blipFill>
        </p:spPr>
        <p:txBody>
          <a:bodyPr wrap="square" lIns="0" tIns="0" rIns="0" bIns="0" rtlCol="0"/>
          <a:lstStyle/>
          <a:p>
            <a:endParaRPr/>
          </a:p>
        </p:txBody>
      </p:sp>
      <p:cxnSp>
        <p:nvCxnSpPr>
          <p:cNvPr id="10" name="Straight Connector 9"/>
          <p:cNvCxnSpPr/>
          <p:nvPr/>
        </p:nvCxnSpPr>
        <p:spPr>
          <a:xfrm>
            <a:off x="4211782" y="839479"/>
            <a:ext cx="0" cy="421285"/>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2369127" y="1228947"/>
            <a:ext cx="3699164" cy="31817"/>
          </a:xfrm>
          <a:prstGeom prst="line">
            <a:avLst/>
          </a:prstGeom>
          <a:ln w="38100"/>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2369127" y="1260764"/>
            <a:ext cx="0" cy="4453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082136" y="1233049"/>
            <a:ext cx="0" cy="4453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97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7929" y="1878861"/>
            <a:ext cx="2291517" cy="382156"/>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Carlito"/>
                <a:cs typeface="Carlito"/>
              </a:rPr>
              <a:t>Time</a:t>
            </a:r>
            <a:r>
              <a:rPr sz="2400" b="1" spc="-70" dirty="0">
                <a:latin typeface="Carlito"/>
                <a:cs typeface="Carlito"/>
              </a:rPr>
              <a:t> </a:t>
            </a:r>
            <a:r>
              <a:rPr sz="2400" b="1" spc="-5" dirty="0">
                <a:latin typeface="Carlito"/>
                <a:cs typeface="Carlito"/>
              </a:rPr>
              <a:t>Series</a:t>
            </a:r>
            <a:endParaRPr sz="2400" dirty="0">
              <a:latin typeface="Carlito"/>
              <a:cs typeface="Carlito"/>
            </a:endParaRPr>
          </a:p>
        </p:txBody>
      </p:sp>
      <p:sp>
        <p:nvSpPr>
          <p:cNvPr id="3" name="object 3"/>
          <p:cNvSpPr/>
          <p:nvPr/>
        </p:nvSpPr>
        <p:spPr>
          <a:xfrm>
            <a:off x="289180" y="2523250"/>
            <a:ext cx="5378681" cy="28956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886451" y="2616706"/>
            <a:ext cx="3181826" cy="2802143"/>
          </a:xfrm>
          <a:custGeom>
            <a:avLst/>
            <a:gdLst/>
            <a:ahLst/>
            <a:cxnLst/>
            <a:rect l="l" t="t" r="r" b="b"/>
            <a:pathLst>
              <a:path w="4242434" h="2032000">
                <a:moveTo>
                  <a:pt x="4242054" y="0"/>
                </a:moveTo>
                <a:lnTo>
                  <a:pt x="0" y="0"/>
                </a:lnTo>
                <a:lnTo>
                  <a:pt x="0" y="2031492"/>
                </a:lnTo>
                <a:lnTo>
                  <a:pt x="4242054" y="2031492"/>
                </a:lnTo>
                <a:lnTo>
                  <a:pt x="4242054" y="0"/>
                </a:lnTo>
                <a:close/>
              </a:path>
            </a:pathLst>
          </a:custGeom>
          <a:solidFill>
            <a:srgbClr val="DEEBF7"/>
          </a:solidFill>
        </p:spPr>
        <p:txBody>
          <a:bodyPr wrap="square" lIns="0" tIns="0" rIns="0" bIns="0" rtlCol="0"/>
          <a:lstStyle/>
          <a:p>
            <a:endParaRPr/>
          </a:p>
        </p:txBody>
      </p:sp>
      <p:sp>
        <p:nvSpPr>
          <p:cNvPr id="5" name="object 5"/>
          <p:cNvSpPr txBox="1"/>
          <p:nvPr/>
        </p:nvSpPr>
        <p:spPr>
          <a:xfrm>
            <a:off x="5945886" y="2635759"/>
            <a:ext cx="3017044" cy="2782813"/>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800" dirty="0">
                <a:latin typeface="Carlito"/>
                <a:cs typeface="Carlito"/>
              </a:rPr>
              <a:t>Much </a:t>
            </a:r>
            <a:r>
              <a:rPr sz="1800" spc="-5" dirty="0">
                <a:latin typeface="Carlito"/>
                <a:cs typeface="Carlito"/>
              </a:rPr>
              <a:t>difficult </a:t>
            </a:r>
            <a:r>
              <a:rPr sz="1800" spc="-15" dirty="0">
                <a:latin typeface="Carlito"/>
                <a:cs typeface="Carlito"/>
              </a:rPr>
              <a:t>to </a:t>
            </a:r>
            <a:r>
              <a:rPr sz="1800" spc="-5" dirty="0">
                <a:latin typeface="Carlito"/>
                <a:cs typeface="Carlito"/>
              </a:rPr>
              <a:t>deal</a:t>
            </a:r>
            <a:r>
              <a:rPr sz="1800" spc="25" dirty="0">
                <a:latin typeface="Carlito"/>
                <a:cs typeface="Carlito"/>
              </a:rPr>
              <a:t> </a:t>
            </a:r>
            <a:r>
              <a:rPr sz="1800" spc="-5" dirty="0">
                <a:latin typeface="Carlito"/>
                <a:cs typeface="Carlito"/>
              </a:rPr>
              <a:t>with</a:t>
            </a:r>
            <a:endParaRPr sz="1800" dirty="0">
              <a:latin typeface="Carlito"/>
              <a:cs typeface="Carlito"/>
            </a:endParaRPr>
          </a:p>
          <a:p>
            <a:pPr marL="818515" lvl="1" indent="-286385">
              <a:lnSpc>
                <a:spcPct val="100000"/>
              </a:lnSpc>
              <a:buFont typeface="Courier New"/>
              <a:buChar char="o"/>
              <a:tabLst>
                <a:tab pos="819150" algn="l"/>
              </a:tabLst>
            </a:pPr>
            <a:r>
              <a:rPr sz="1800" spc="-5" dirty="0">
                <a:latin typeface="Carlito"/>
                <a:cs typeface="Carlito"/>
              </a:rPr>
              <a:t>Enormous</a:t>
            </a:r>
            <a:r>
              <a:rPr sz="1800" spc="-10" dirty="0">
                <a:latin typeface="Carlito"/>
                <a:cs typeface="Carlito"/>
              </a:rPr>
              <a:t> </a:t>
            </a:r>
            <a:r>
              <a:rPr sz="1800" spc="-15" dirty="0">
                <a:latin typeface="Carlito"/>
                <a:cs typeface="Carlito"/>
              </a:rPr>
              <a:t>Size</a:t>
            </a:r>
            <a:endParaRPr sz="1800" dirty="0">
              <a:latin typeface="Carlito"/>
              <a:cs typeface="Carlito"/>
            </a:endParaRPr>
          </a:p>
          <a:p>
            <a:pPr marL="818515" lvl="1" indent="-286385">
              <a:lnSpc>
                <a:spcPct val="100000"/>
              </a:lnSpc>
              <a:buFont typeface="Courier New"/>
              <a:buChar char="o"/>
              <a:tabLst>
                <a:tab pos="819150" algn="l"/>
              </a:tabLst>
            </a:pPr>
            <a:r>
              <a:rPr sz="1800" spc="-10" dirty="0">
                <a:latin typeface="Carlito"/>
                <a:cs typeface="Carlito"/>
              </a:rPr>
              <a:t>Cumbersome</a:t>
            </a:r>
            <a:r>
              <a:rPr sz="1800" dirty="0">
                <a:latin typeface="Carlito"/>
                <a:cs typeface="Carlito"/>
              </a:rPr>
              <a:t> </a:t>
            </a:r>
            <a:r>
              <a:rPr sz="1800" spc="-5" dirty="0">
                <a:latin typeface="Carlito"/>
                <a:cs typeface="Carlito"/>
              </a:rPr>
              <a:t>Labeling</a:t>
            </a:r>
            <a:endParaRPr sz="1800" dirty="0">
              <a:latin typeface="Carlito"/>
              <a:cs typeface="Carlito"/>
            </a:endParaRPr>
          </a:p>
          <a:p>
            <a:pPr marL="818515" marR="5080" lvl="1" indent="-285750">
              <a:lnSpc>
                <a:spcPct val="100000"/>
              </a:lnSpc>
              <a:buFont typeface="Courier New"/>
              <a:buChar char="o"/>
              <a:tabLst>
                <a:tab pos="819150" algn="l"/>
              </a:tabLst>
            </a:pPr>
            <a:r>
              <a:rPr sz="1800" dirty="0">
                <a:latin typeface="Carlito"/>
                <a:cs typeface="Carlito"/>
              </a:rPr>
              <a:t>Not </a:t>
            </a:r>
            <a:r>
              <a:rPr sz="1800" spc="-5" dirty="0">
                <a:latin typeface="Carlito"/>
                <a:cs typeface="Carlito"/>
              </a:rPr>
              <a:t>so </a:t>
            </a:r>
            <a:r>
              <a:rPr sz="1800" spc="-10" dirty="0">
                <a:latin typeface="Carlito"/>
                <a:cs typeface="Carlito"/>
              </a:rPr>
              <a:t>standard </a:t>
            </a:r>
            <a:r>
              <a:rPr sz="1800" spc="-15" dirty="0">
                <a:latin typeface="Carlito"/>
                <a:cs typeface="Carlito"/>
              </a:rPr>
              <a:t>feature </a:t>
            </a:r>
            <a:r>
              <a:rPr sz="1800" spc="-10" dirty="0">
                <a:latin typeface="Carlito"/>
                <a:cs typeface="Carlito"/>
              </a:rPr>
              <a:t>extraction  </a:t>
            </a:r>
            <a:r>
              <a:rPr sz="1800" spc="-15" dirty="0">
                <a:latin typeface="Carlito"/>
                <a:cs typeface="Carlito"/>
              </a:rPr>
              <a:t>strategies </a:t>
            </a:r>
            <a:r>
              <a:rPr sz="1800" dirty="0">
                <a:latin typeface="Carlito"/>
                <a:cs typeface="Carlito"/>
              </a:rPr>
              <a:t>as in </a:t>
            </a:r>
            <a:r>
              <a:rPr sz="1800" spc="-5" dirty="0">
                <a:latin typeface="Carlito"/>
                <a:cs typeface="Carlito"/>
              </a:rPr>
              <a:t>case of images.  (Direct </a:t>
            </a:r>
            <a:r>
              <a:rPr sz="1800" dirty="0">
                <a:latin typeface="Carlito"/>
                <a:cs typeface="Carlito"/>
              </a:rPr>
              <a:t>modeling </a:t>
            </a:r>
            <a:r>
              <a:rPr sz="1800" spc="-5" dirty="0">
                <a:latin typeface="Carlito"/>
                <a:cs typeface="Carlito"/>
              </a:rPr>
              <a:t>of </a:t>
            </a:r>
            <a:r>
              <a:rPr sz="1800" dirty="0">
                <a:latin typeface="Carlito"/>
                <a:cs typeface="Carlito"/>
              </a:rPr>
              <a:t>time </a:t>
            </a:r>
            <a:r>
              <a:rPr sz="1800" spc="-5" dirty="0">
                <a:latin typeface="Carlito"/>
                <a:cs typeface="Carlito"/>
              </a:rPr>
              <a:t>series </a:t>
            </a:r>
            <a:r>
              <a:rPr sz="1800" dirty="0">
                <a:latin typeface="Carlito"/>
                <a:cs typeface="Carlito"/>
              </a:rPr>
              <a:t>is  </a:t>
            </a:r>
            <a:r>
              <a:rPr sz="1800" spc="-15" dirty="0">
                <a:latin typeface="Carlito"/>
                <a:cs typeface="Carlito"/>
              </a:rPr>
              <a:t>preferred)</a:t>
            </a:r>
            <a:endParaRPr sz="1800" dirty="0">
              <a:latin typeface="Carlito"/>
              <a:cs typeface="Carlito"/>
            </a:endParaRPr>
          </a:p>
        </p:txBody>
      </p:sp>
      <p:sp>
        <p:nvSpPr>
          <p:cNvPr id="6" name="object 6"/>
          <p:cNvSpPr txBox="1">
            <a:spLocks noGrp="1"/>
          </p:cNvSpPr>
          <p:nvPr>
            <p:ph type="title"/>
          </p:nvPr>
        </p:nvSpPr>
        <p:spPr>
          <a:xfrm>
            <a:off x="971553" y="366619"/>
            <a:ext cx="7200897" cy="1133644"/>
          </a:xfrm>
          <a:prstGeom prst="rect">
            <a:avLst/>
          </a:prstGeom>
        </p:spPr>
        <p:txBody>
          <a:bodyPr vert="horz" wrap="square" lIns="0" tIns="12700" rIns="0" bIns="0" rtlCol="0">
            <a:spAutoFit/>
          </a:bodyPr>
          <a:lstStyle/>
          <a:p>
            <a:pPr algn="ctr">
              <a:lnSpc>
                <a:spcPct val="100000"/>
              </a:lnSpc>
              <a:spcBef>
                <a:spcPts val="100"/>
              </a:spcBef>
            </a:pPr>
            <a:r>
              <a:rPr spc="-5" dirty="0"/>
              <a:t>Machine </a:t>
            </a:r>
            <a:r>
              <a:rPr dirty="0"/>
              <a:t>Learning:</a:t>
            </a:r>
            <a:r>
              <a:rPr spc="-45" dirty="0"/>
              <a:t> </a:t>
            </a:r>
            <a:r>
              <a:rPr spc="-10" dirty="0"/>
              <a:t>Overview</a:t>
            </a:r>
          </a:p>
          <a:p>
            <a:pPr algn="ctr">
              <a:lnSpc>
                <a:spcPct val="100000"/>
              </a:lnSpc>
              <a:spcBef>
                <a:spcPts val="50"/>
              </a:spcBef>
            </a:pPr>
            <a:r>
              <a:rPr sz="2800" b="0" i="1" spc="-15" dirty="0">
                <a:solidFill>
                  <a:srgbClr val="006FC0"/>
                </a:solidFill>
                <a:latin typeface="Carlito"/>
                <a:cs typeface="Carlito"/>
              </a:rPr>
              <a:t>Data</a:t>
            </a:r>
            <a:r>
              <a:rPr sz="2800" b="0" i="1" spc="-5" dirty="0">
                <a:solidFill>
                  <a:srgbClr val="006FC0"/>
                </a:solidFill>
                <a:latin typeface="Carlito"/>
                <a:cs typeface="Carlito"/>
              </a:rPr>
              <a:t> </a:t>
            </a:r>
            <a:r>
              <a:rPr sz="2800" b="0" i="1" spc="-30" dirty="0">
                <a:solidFill>
                  <a:srgbClr val="006FC0"/>
                </a:solidFill>
                <a:latin typeface="Carlito"/>
                <a:cs typeface="Carlito"/>
              </a:rPr>
              <a:t>Types</a:t>
            </a:r>
            <a:endParaRPr sz="2800" dirty="0">
              <a:latin typeface="Carlito"/>
              <a:cs typeface="Carlito"/>
            </a:endParaRPr>
          </a:p>
        </p:txBody>
      </p:sp>
    </p:spTree>
    <p:extLst>
      <p:ext uri="{BB962C8B-B14F-4D97-AF65-F5344CB8AC3E}">
        <p14:creationId xmlns:p14="http://schemas.microsoft.com/office/powerpoint/2010/main" val="179259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85743" y="4441366"/>
            <a:ext cx="3317557" cy="2318791"/>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2712291" y="159183"/>
            <a:ext cx="2869883" cy="1617345"/>
            <a:chOff x="3616388" y="444182"/>
            <a:chExt cx="3826510" cy="1617345"/>
          </a:xfrm>
        </p:grpSpPr>
        <p:sp>
          <p:nvSpPr>
            <p:cNvPr id="4" name="object 4"/>
            <p:cNvSpPr/>
            <p:nvPr/>
          </p:nvSpPr>
          <p:spPr>
            <a:xfrm>
              <a:off x="3657600" y="485393"/>
              <a:ext cx="3680170" cy="1485793"/>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637026" y="464819"/>
              <a:ext cx="3785235" cy="1576070"/>
            </a:xfrm>
            <a:custGeom>
              <a:avLst/>
              <a:gdLst/>
              <a:ahLst/>
              <a:cxnLst/>
              <a:rect l="l" t="t" r="r" b="b"/>
              <a:pathLst>
                <a:path w="3785234" h="1576070">
                  <a:moveTo>
                    <a:pt x="0" y="1575815"/>
                  </a:moveTo>
                  <a:lnTo>
                    <a:pt x="3784854" y="1575815"/>
                  </a:lnTo>
                  <a:lnTo>
                    <a:pt x="3784854" y="0"/>
                  </a:lnTo>
                  <a:lnTo>
                    <a:pt x="0" y="0"/>
                  </a:lnTo>
                  <a:lnTo>
                    <a:pt x="0" y="1575815"/>
                  </a:lnTo>
                  <a:close/>
                </a:path>
              </a:pathLst>
            </a:custGeom>
            <a:ln w="41148">
              <a:solidFill>
                <a:srgbClr val="000000"/>
              </a:solidFill>
            </a:ln>
          </p:spPr>
          <p:txBody>
            <a:bodyPr wrap="square" lIns="0" tIns="0" rIns="0" bIns="0" rtlCol="0"/>
            <a:lstStyle/>
            <a:p>
              <a:endParaRPr/>
            </a:p>
          </p:txBody>
        </p:sp>
      </p:grpSp>
      <p:sp>
        <p:nvSpPr>
          <p:cNvPr id="6" name="object 6"/>
          <p:cNvSpPr txBox="1"/>
          <p:nvPr/>
        </p:nvSpPr>
        <p:spPr>
          <a:xfrm>
            <a:off x="213756" y="2071421"/>
            <a:ext cx="4312333" cy="3109826"/>
          </a:xfrm>
          <a:prstGeom prst="rect">
            <a:avLst/>
          </a:prstGeom>
        </p:spPr>
        <p:txBody>
          <a:bodyPr vert="horz" wrap="square" lIns="0" tIns="36830" rIns="0" bIns="0" rtlCol="0">
            <a:spAutoFit/>
          </a:bodyPr>
          <a:lstStyle/>
          <a:p>
            <a:pPr marL="393700">
              <a:lnSpc>
                <a:spcPct val="100000"/>
              </a:lnSpc>
              <a:spcBef>
                <a:spcPts val="290"/>
              </a:spcBef>
              <a:tabLst>
                <a:tab pos="2490470" algn="l"/>
              </a:tabLst>
            </a:pPr>
            <a:r>
              <a:rPr sz="1800" b="1" u="heavy" spc="-5" dirty="0">
                <a:uFill>
                  <a:solidFill>
                    <a:srgbClr val="000000"/>
                  </a:solidFill>
                </a:uFill>
                <a:latin typeface="Carlito"/>
                <a:cs typeface="Carlito"/>
              </a:rPr>
              <a:t>Time</a:t>
            </a:r>
            <a:r>
              <a:rPr sz="1800" b="1" u="heavy" spc="-10" dirty="0">
                <a:uFill>
                  <a:solidFill>
                    <a:srgbClr val="000000"/>
                  </a:solidFill>
                </a:uFill>
                <a:latin typeface="Carlito"/>
                <a:cs typeface="Carlito"/>
              </a:rPr>
              <a:t> </a:t>
            </a:r>
            <a:r>
              <a:rPr sz="1800" b="1" u="heavy" spc="-5" dirty="0">
                <a:uFill>
                  <a:solidFill>
                    <a:srgbClr val="000000"/>
                  </a:solidFill>
                </a:uFill>
                <a:latin typeface="Carlito"/>
                <a:cs typeface="Carlito"/>
              </a:rPr>
              <a:t>series</a:t>
            </a:r>
            <a:r>
              <a:rPr sz="1800" b="1" u="heavy" spc="5" dirty="0">
                <a:uFill>
                  <a:solidFill>
                    <a:srgbClr val="000000"/>
                  </a:solidFill>
                </a:uFill>
                <a:latin typeface="Carlito"/>
                <a:cs typeface="Carlito"/>
              </a:rPr>
              <a:t> </a:t>
            </a:r>
            <a:r>
              <a:rPr sz="1800" b="1" u="heavy" spc="-5" dirty="0" err="1">
                <a:uFill>
                  <a:solidFill>
                    <a:srgbClr val="000000"/>
                  </a:solidFill>
                </a:uFill>
                <a:latin typeface="Carlito"/>
                <a:cs typeface="Carlito"/>
              </a:rPr>
              <a:t>Models:</a:t>
            </a:r>
            <a:r>
              <a:rPr sz="1600" u="heavy" spc="-5" dirty="0" err="1">
                <a:uFill>
                  <a:solidFill>
                    <a:srgbClr val="000000"/>
                  </a:solidFill>
                </a:uFill>
                <a:latin typeface="Carlito"/>
                <a:cs typeface="Carlito"/>
              </a:rPr>
              <a:t>Manually</a:t>
            </a:r>
            <a:r>
              <a:rPr sz="1600" u="heavy" spc="-5" dirty="0">
                <a:uFill>
                  <a:solidFill>
                    <a:srgbClr val="000000"/>
                  </a:solidFill>
                </a:uFill>
                <a:latin typeface="Carlito"/>
                <a:cs typeface="Carlito"/>
              </a:rPr>
              <a:t> </a:t>
            </a:r>
            <a:r>
              <a:rPr sz="1600" u="heavy" dirty="0">
                <a:uFill>
                  <a:solidFill>
                    <a:srgbClr val="000000"/>
                  </a:solidFill>
                </a:uFill>
                <a:latin typeface="Carlito"/>
                <a:cs typeface="Carlito"/>
              </a:rPr>
              <a:t>model it</a:t>
            </a:r>
            <a:r>
              <a:rPr sz="1600" u="heavy" spc="-55" dirty="0">
                <a:uFill>
                  <a:solidFill>
                    <a:srgbClr val="000000"/>
                  </a:solidFill>
                </a:uFill>
                <a:latin typeface="Carlito"/>
                <a:cs typeface="Carlito"/>
              </a:rPr>
              <a:t> </a:t>
            </a:r>
            <a:r>
              <a:rPr sz="1600" u="heavy" dirty="0">
                <a:uFill>
                  <a:solidFill>
                    <a:srgbClr val="000000"/>
                  </a:solidFill>
                </a:uFill>
                <a:latin typeface="Carlito"/>
                <a:cs typeface="Carlito"/>
              </a:rPr>
              <a:t>!</a:t>
            </a:r>
            <a:endParaRPr sz="1600" dirty="0">
              <a:latin typeface="Carlito"/>
              <a:cs typeface="Carlito"/>
            </a:endParaRPr>
          </a:p>
          <a:p>
            <a:pPr marL="298450" indent="-285750">
              <a:lnSpc>
                <a:spcPct val="100000"/>
              </a:lnSpc>
              <a:spcBef>
                <a:spcPts val="195"/>
              </a:spcBef>
              <a:buFont typeface="Arial"/>
              <a:buChar char="•"/>
              <a:tabLst>
                <a:tab pos="297815" algn="l"/>
                <a:tab pos="298450" algn="l"/>
              </a:tabLst>
            </a:pPr>
            <a:r>
              <a:rPr sz="1800" spc="-5" dirty="0">
                <a:latin typeface="Carlito"/>
                <a:cs typeface="Carlito"/>
              </a:rPr>
              <a:t>Exponential Smoothing</a:t>
            </a:r>
            <a:r>
              <a:rPr sz="1800" spc="10" dirty="0">
                <a:latin typeface="Carlito"/>
                <a:cs typeface="Carlito"/>
              </a:rPr>
              <a:t> </a:t>
            </a:r>
            <a:r>
              <a:rPr sz="1800" spc="-10" dirty="0">
                <a:latin typeface="Carlito"/>
                <a:cs typeface="Carlito"/>
              </a:rPr>
              <a:t>(ETS)</a:t>
            </a:r>
            <a:endParaRPr sz="1800" dirty="0">
              <a:latin typeface="Carlito"/>
              <a:cs typeface="Carlito"/>
            </a:endParaRPr>
          </a:p>
          <a:p>
            <a:pPr marL="298450" marR="5080" indent="-285750">
              <a:lnSpc>
                <a:spcPct val="100000"/>
              </a:lnSpc>
              <a:buFont typeface="Arial"/>
              <a:buChar char="•"/>
              <a:tabLst>
                <a:tab pos="297815" algn="l"/>
                <a:tab pos="298450" algn="l"/>
              </a:tabLst>
            </a:pPr>
            <a:r>
              <a:rPr sz="1800" spc="-10" dirty="0">
                <a:latin typeface="Carlito"/>
                <a:cs typeface="Carlito"/>
              </a:rPr>
              <a:t>Autoregressive </a:t>
            </a:r>
            <a:r>
              <a:rPr sz="1800" spc="-15" dirty="0">
                <a:latin typeface="Carlito"/>
                <a:cs typeface="Carlito"/>
              </a:rPr>
              <a:t>Integrated </a:t>
            </a:r>
            <a:r>
              <a:rPr sz="1800" dirty="0">
                <a:latin typeface="Carlito"/>
                <a:cs typeface="Carlito"/>
              </a:rPr>
              <a:t>Moving </a:t>
            </a:r>
            <a:r>
              <a:rPr sz="1800" spc="-20" dirty="0">
                <a:latin typeface="Carlito"/>
                <a:cs typeface="Carlito"/>
              </a:rPr>
              <a:t>Average  </a:t>
            </a:r>
            <a:r>
              <a:rPr sz="1800" spc="-5" dirty="0">
                <a:latin typeface="Carlito"/>
                <a:cs typeface="Carlito"/>
              </a:rPr>
              <a:t>(ARIMA)</a:t>
            </a:r>
            <a:r>
              <a:rPr sz="1800" spc="-10" dirty="0">
                <a:latin typeface="Carlito"/>
                <a:cs typeface="Carlito"/>
              </a:rPr>
              <a:t> </a:t>
            </a:r>
            <a:r>
              <a:rPr sz="1800" dirty="0">
                <a:latin typeface="Carlito"/>
                <a:cs typeface="Carlito"/>
              </a:rPr>
              <a:t>models</a:t>
            </a:r>
          </a:p>
          <a:p>
            <a:pPr marL="298450" indent="-285750">
              <a:lnSpc>
                <a:spcPct val="100000"/>
              </a:lnSpc>
              <a:buFont typeface="Arial"/>
              <a:buChar char="•"/>
              <a:tabLst>
                <a:tab pos="297815" algn="l"/>
                <a:tab pos="298450" algn="l"/>
              </a:tabLst>
            </a:pPr>
            <a:r>
              <a:rPr sz="1800" spc="-5" dirty="0">
                <a:latin typeface="Carlito"/>
                <a:cs typeface="Carlito"/>
              </a:rPr>
              <a:t>Linear</a:t>
            </a:r>
            <a:r>
              <a:rPr sz="1800" spc="5" dirty="0">
                <a:latin typeface="Carlito"/>
                <a:cs typeface="Carlito"/>
              </a:rPr>
              <a:t> </a:t>
            </a:r>
            <a:r>
              <a:rPr sz="1800" spc="-10" dirty="0">
                <a:latin typeface="Carlito"/>
                <a:cs typeface="Carlito"/>
              </a:rPr>
              <a:t>regression</a:t>
            </a:r>
            <a:endParaRPr sz="1800" dirty="0">
              <a:latin typeface="Carlito"/>
              <a:cs typeface="Carlito"/>
            </a:endParaRPr>
          </a:p>
          <a:p>
            <a:pPr marL="298450" marR="296545" indent="-285750">
              <a:lnSpc>
                <a:spcPct val="100000"/>
              </a:lnSpc>
              <a:buFont typeface="Arial"/>
              <a:buChar char="•"/>
              <a:tabLst>
                <a:tab pos="297815" algn="l"/>
                <a:tab pos="298450" algn="l"/>
              </a:tabLst>
            </a:pPr>
            <a:r>
              <a:rPr sz="1800" spc="-10" dirty="0">
                <a:latin typeface="Carlito"/>
                <a:cs typeface="Carlito"/>
              </a:rPr>
              <a:t>Generalized Autoregressive </a:t>
            </a:r>
            <a:r>
              <a:rPr sz="1800" spc="-5" dirty="0">
                <a:latin typeface="Carlito"/>
                <a:cs typeface="Carlito"/>
              </a:rPr>
              <a:t>Conditional  </a:t>
            </a:r>
            <a:r>
              <a:rPr sz="1800" spc="-15" dirty="0">
                <a:latin typeface="Carlito"/>
                <a:cs typeface="Carlito"/>
              </a:rPr>
              <a:t>Heteroskedasticity</a:t>
            </a:r>
            <a:r>
              <a:rPr sz="1800" spc="10" dirty="0">
                <a:latin typeface="Carlito"/>
                <a:cs typeface="Carlito"/>
              </a:rPr>
              <a:t> </a:t>
            </a:r>
            <a:r>
              <a:rPr sz="1800" spc="-10" dirty="0">
                <a:latin typeface="Carlito"/>
                <a:cs typeface="Carlito"/>
              </a:rPr>
              <a:t>(GARCH)</a:t>
            </a:r>
            <a:endParaRPr sz="1800" dirty="0">
              <a:latin typeface="Carlito"/>
              <a:cs typeface="Carlito"/>
            </a:endParaRPr>
          </a:p>
          <a:p>
            <a:pPr marL="298450" indent="-285750">
              <a:lnSpc>
                <a:spcPct val="100000"/>
              </a:lnSpc>
              <a:buFont typeface="Arial"/>
              <a:buChar char="•"/>
              <a:tabLst>
                <a:tab pos="297815" algn="l"/>
                <a:tab pos="298450" algn="l"/>
              </a:tabLst>
            </a:pPr>
            <a:r>
              <a:rPr sz="1800" spc="-10" dirty="0">
                <a:latin typeface="Carlito"/>
                <a:cs typeface="Carlito"/>
              </a:rPr>
              <a:t>Bayesian</a:t>
            </a:r>
            <a:r>
              <a:rPr sz="1800" dirty="0">
                <a:latin typeface="Carlito"/>
                <a:cs typeface="Carlito"/>
              </a:rPr>
              <a:t> Models</a:t>
            </a:r>
          </a:p>
          <a:p>
            <a:pPr marL="298450" indent="-285750">
              <a:lnSpc>
                <a:spcPct val="100000"/>
              </a:lnSpc>
              <a:buFont typeface="Arial"/>
              <a:buChar char="•"/>
              <a:tabLst>
                <a:tab pos="297815" algn="l"/>
                <a:tab pos="298450" algn="l"/>
              </a:tabLst>
            </a:pPr>
            <a:r>
              <a:rPr sz="1800" spc="-25" dirty="0">
                <a:latin typeface="Carlito"/>
                <a:cs typeface="Carlito"/>
              </a:rPr>
              <a:t>Vector </a:t>
            </a:r>
            <a:r>
              <a:rPr sz="1800" spc="-10" dirty="0">
                <a:latin typeface="Carlito"/>
                <a:cs typeface="Carlito"/>
              </a:rPr>
              <a:t>auto-regression </a:t>
            </a:r>
            <a:r>
              <a:rPr sz="1800" spc="-20" dirty="0">
                <a:latin typeface="Carlito"/>
                <a:cs typeface="Carlito"/>
              </a:rPr>
              <a:t>(VAR)</a:t>
            </a:r>
            <a:r>
              <a:rPr sz="1800" spc="70" dirty="0">
                <a:latin typeface="Carlito"/>
                <a:cs typeface="Carlito"/>
              </a:rPr>
              <a:t> </a:t>
            </a:r>
            <a:r>
              <a:rPr sz="1800" dirty="0">
                <a:latin typeface="Carlito"/>
                <a:cs typeface="Carlito"/>
              </a:rPr>
              <a:t>models</a:t>
            </a:r>
          </a:p>
          <a:p>
            <a:pPr marL="298450" indent="-285750">
              <a:lnSpc>
                <a:spcPct val="100000"/>
              </a:lnSpc>
              <a:buFont typeface="Arial"/>
              <a:buChar char="•"/>
              <a:tabLst>
                <a:tab pos="297815" algn="l"/>
                <a:tab pos="298450" algn="l"/>
              </a:tabLst>
            </a:pPr>
            <a:r>
              <a:rPr sz="1800" spc="-15" dirty="0">
                <a:latin typeface="Carlito"/>
                <a:cs typeface="Carlito"/>
              </a:rPr>
              <a:t>etc.</a:t>
            </a:r>
            <a:endParaRPr sz="1800" dirty="0">
              <a:latin typeface="Carlito"/>
              <a:cs typeface="Carlito"/>
            </a:endParaRPr>
          </a:p>
        </p:txBody>
      </p:sp>
      <p:sp>
        <p:nvSpPr>
          <p:cNvPr id="7" name="object 7"/>
          <p:cNvSpPr txBox="1">
            <a:spLocks noGrp="1"/>
          </p:cNvSpPr>
          <p:nvPr>
            <p:ph type="title"/>
          </p:nvPr>
        </p:nvSpPr>
        <p:spPr>
          <a:xfrm>
            <a:off x="5256276" y="2084517"/>
            <a:ext cx="3809524" cy="536044"/>
          </a:xfrm>
          <a:prstGeom prst="rect">
            <a:avLst/>
          </a:prstGeom>
        </p:spPr>
        <p:txBody>
          <a:bodyPr vert="horz" wrap="square" lIns="0" tIns="12700" rIns="0" bIns="0" rtlCol="0">
            <a:spAutoFit/>
          </a:bodyPr>
          <a:lstStyle/>
          <a:p>
            <a:pPr marL="12700">
              <a:lnSpc>
                <a:spcPct val="100000"/>
              </a:lnSpc>
              <a:spcBef>
                <a:spcPts val="100"/>
              </a:spcBef>
              <a:tabLst>
                <a:tab pos="1920875" algn="l"/>
              </a:tabLst>
            </a:pPr>
            <a:r>
              <a:rPr sz="1800" u="heavy" dirty="0">
                <a:solidFill>
                  <a:srgbClr val="000000"/>
                </a:solidFill>
                <a:uFill>
                  <a:solidFill>
                    <a:srgbClr val="000000"/>
                  </a:solidFill>
                </a:uFill>
              </a:rPr>
              <a:t>Machine</a:t>
            </a:r>
            <a:r>
              <a:rPr sz="1800" u="heavy" spc="-5" dirty="0">
                <a:solidFill>
                  <a:srgbClr val="000000"/>
                </a:solidFill>
                <a:uFill>
                  <a:solidFill>
                    <a:srgbClr val="000000"/>
                  </a:solidFill>
                </a:uFill>
              </a:rPr>
              <a:t> </a:t>
            </a:r>
            <a:r>
              <a:rPr sz="1800" u="heavy" spc="-5" dirty="0" err="1">
                <a:solidFill>
                  <a:srgbClr val="000000"/>
                </a:solidFill>
                <a:uFill>
                  <a:solidFill>
                    <a:srgbClr val="000000"/>
                  </a:solidFill>
                </a:uFill>
              </a:rPr>
              <a:t>Learning:</a:t>
            </a:r>
            <a:r>
              <a:rPr sz="1600" b="0" u="heavy" spc="-5" dirty="0" err="1">
                <a:solidFill>
                  <a:srgbClr val="000000"/>
                </a:solidFill>
                <a:uFill>
                  <a:solidFill>
                    <a:srgbClr val="000000"/>
                  </a:solidFill>
                </a:uFill>
                <a:latin typeface="Carlito"/>
                <a:cs typeface="Carlito"/>
              </a:rPr>
              <a:t>Let</a:t>
            </a:r>
            <a:r>
              <a:rPr sz="1600" b="0" u="heavy" spc="-5" dirty="0">
                <a:solidFill>
                  <a:srgbClr val="000000"/>
                </a:solidFill>
                <a:uFill>
                  <a:solidFill>
                    <a:srgbClr val="000000"/>
                  </a:solidFill>
                </a:uFill>
                <a:latin typeface="Carlito"/>
                <a:cs typeface="Carlito"/>
              </a:rPr>
              <a:t> machine learning handle </a:t>
            </a:r>
            <a:r>
              <a:rPr sz="1600" b="0" u="heavy" dirty="0">
                <a:solidFill>
                  <a:srgbClr val="000000"/>
                </a:solidFill>
                <a:uFill>
                  <a:solidFill>
                    <a:srgbClr val="000000"/>
                  </a:solidFill>
                </a:uFill>
                <a:latin typeface="Carlito"/>
                <a:cs typeface="Carlito"/>
              </a:rPr>
              <a:t>the </a:t>
            </a:r>
            <a:r>
              <a:rPr sz="1600" b="0" u="heavy" spc="-10" dirty="0">
                <a:solidFill>
                  <a:srgbClr val="000000"/>
                </a:solidFill>
                <a:uFill>
                  <a:solidFill>
                    <a:srgbClr val="000000"/>
                  </a:solidFill>
                </a:uFill>
                <a:latin typeface="Carlito"/>
                <a:cs typeface="Carlito"/>
              </a:rPr>
              <a:t>task</a:t>
            </a:r>
            <a:r>
              <a:rPr sz="1600" b="0" u="heavy" spc="-55" dirty="0">
                <a:solidFill>
                  <a:srgbClr val="000000"/>
                </a:solidFill>
                <a:uFill>
                  <a:solidFill>
                    <a:srgbClr val="000000"/>
                  </a:solidFill>
                </a:uFill>
                <a:latin typeface="Carlito"/>
                <a:cs typeface="Carlito"/>
              </a:rPr>
              <a:t> </a:t>
            </a:r>
            <a:r>
              <a:rPr sz="1600" b="0" u="heavy" dirty="0">
                <a:solidFill>
                  <a:srgbClr val="000000"/>
                </a:solidFill>
                <a:uFill>
                  <a:solidFill>
                    <a:srgbClr val="000000"/>
                  </a:solidFill>
                </a:uFill>
                <a:latin typeface="Carlito"/>
                <a:cs typeface="Carlito"/>
              </a:rPr>
              <a:t>!</a:t>
            </a:r>
            <a:endParaRPr sz="1600" dirty="0">
              <a:latin typeface="Carlito"/>
              <a:cs typeface="Carlito"/>
            </a:endParaRPr>
          </a:p>
        </p:txBody>
      </p:sp>
      <p:sp>
        <p:nvSpPr>
          <p:cNvPr id="8" name="object 8"/>
          <p:cNvSpPr/>
          <p:nvPr/>
        </p:nvSpPr>
        <p:spPr>
          <a:xfrm>
            <a:off x="146225" y="5260768"/>
            <a:ext cx="2785491" cy="143295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843374" y="1782942"/>
            <a:ext cx="5365432" cy="354330"/>
          </a:xfrm>
          <a:custGeom>
            <a:avLst/>
            <a:gdLst/>
            <a:ahLst/>
            <a:cxnLst/>
            <a:rect l="l" t="t" r="r" b="b"/>
            <a:pathLst>
              <a:path w="7153909" h="354330">
                <a:moveTo>
                  <a:pt x="7153656" y="277749"/>
                </a:moveTo>
                <a:lnTo>
                  <a:pt x="7128129" y="277749"/>
                </a:lnTo>
                <a:lnTo>
                  <a:pt x="7128129" y="189611"/>
                </a:lnTo>
                <a:lnTo>
                  <a:pt x="7128129" y="164465"/>
                </a:lnTo>
                <a:lnTo>
                  <a:pt x="3084449" y="164465"/>
                </a:lnTo>
                <a:lnTo>
                  <a:pt x="3084449" y="0"/>
                </a:lnTo>
                <a:lnTo>
                  <a:pt x="3084195" y="0"/>
                </a:lnTo>
                <a:lnTo>
                  <a:pt x="3059303" y="0"/>
                </a:lnTo>
                <a:lnTo>
                  <a:pt x="3059049" y="0"/>
                </a:lnTo>
                <a:lnTo>
                  <a:pt x="3059049" y="164465"/>
                </a:lnTo>
                <a:lnTo>
                  <a:pt x="25527" y="164465"/>
                </a:lnTo>
                <a:lnTo>
                  <a:pt x="25527" y="277749"/>
                </a:lnTo>
                <a:lnTo>
                  <a:pt x="0" y="277749"/>
                </a:lnTo>
                <a:lnTo>
                  <a:pt x="38100" y="353949"/>
                </a:lnTo>
                <a:lnTo>
                  <a:pt x="69850" y="290449"/>
                </a:lnTo>
                <a:lnTo>
                  <a:pt x="76200" y="277749"/>
                </a:lnTo>
                <a:lnTo>
                  <a:pt x="50673" y="277749"/>
                </a:lnTo>
                <a:lnTo>
                  <a:pt x="50673" y="189611"/>
                </a:lnTo>
                <a:lnTo>
                  <a:pt x="3059049" y="189611"/>
                </a:lnTo>
                <a:lnTo>
                  <a:pt x="3084449" y="189611"/>
                </a:lnTo>
                <a:lnTo>
                  <a:pt x="7102983" y="189611"/>
                </a:lnTo>
                <a:lnTo>
                  <a:pt x="7102983" y="277749"/>
                </a:lnTo>
                <a:lnTo>
                  <a:pt x="7077456" y="277749"/>
                </a:lnTo>
                <a:lnTo>
                  <a:pt x="7115556" y="353949"/>
                </a:lnTo>
                <a:lnTo>
                  <a:pt x="7147306" y="290449"/>
                </a:lnTo>
                <a:lnTo>
                  <a:pt x="7153656" y="277749"/>
                </a:lnTo>
                <a:close/>
              </a:path>
            </a:pathLst>
          </a:custGeom>
          <a:solidFill>
            <a:srgbClr val="000000"/>
          </a:solidFill>
        </p:spPr>
        <p:txBody>
          <a:bodyPr wrap="square" lIns="0" tIns="0" rIns="0" bIns="0" rtlCol="0"/>
          <a:lstStyle/>
          <a:p>
            <a:endParaRPr/>
          </a:p>
        </p:txBody>
      </p:sp>
      <p:sp>
        <p:nvSpPr>
          <p:cNvPr id="10" name="object 10"/>
          <p:cNvSpPr txBox="1"/>
          <p:nvPr/>
        </p:nvSpPr>
        <p:spPr>
          <a:xfrm>
            <a:off x="5260769" y="2805984"/>
            <a:ext cx="3700065" cy="1674817"/>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0" dirty="0">
                <a:latin typeface="Carlito"/>
                <a:cs typeface="Carlito"/>
              </a:rPr>
              <a:t>Neural Networks </a:t>
            </a:r>
            <a:r>
              <a:rPr sz="1800" spc="-5" dirty="0">
                <a:latin typeface="Carlito"/>
                <a:cs typeface="Carlito"/>
              </a:rPr>
              <a:t>such </a:t>
            </a:r>
            <a:r>
              <a:rPr sz="1800" dirty="0">
                <a:latin typeface="Carlito"/>
                <a:cs typeface="Carlito"/>
              </a:rPr>
              <a:t>as  </a:t>
            </a:r>
            <a:r>
              <a:rPr sz="1800" spc="-10" dirty="0">
                <a:latin typeface="Carlito"/>
                <a:cs typeface="Carlito"/>
              </a:rPr>
              <a:t>Convolutional Neural  Networks </a:t>
            </a:r>
            <a:r>
              <a:rPr sz="1800" spc="-5" dirty="0">
                <a:latin typeface="Carlito"/>
                <a:cs typeface="Carlito"/>
              </a:rPr>
              <a:t>(CNN) </a:t>
            </a:r>
            <a:r>
              <a:rPr sz="1800" spc="-25" dirty="0">
                <a:latin typeface="Carlito"/>
                <a:cs typeface="Carlito"/>
              </a:rPr>
              <a:t>take </a:t>
            </a:r>
            <a:r>
              <a:rPr sz="1800" spc="-15" dirty="0">
                <a:latin typeface="Carlito"/>
                <a:cs typeface="Carlito"/>
              </a:rPr>
              <a:t>raw  </a:t>
            </a:r>
            <a:r>
              <a:rPr sz="1800" spc="-20" dirty="0">
                <a:latin typeface="Carlito"/>
                <a:cs typeface="Carlito"/>
              </a:rPr>
              <a:t>waveforms </a:t>
            </a:r>
            <a:r>
              <a:rPr sz="1800" dirty="0">
                <a:latin typeface="Carlito"/>
                <a:cs typeface="Carlito"/>
              </a:rPr>
              <a:t>as input </a:t>
            </a:r>
            <a:r>
              <a:rPr sz="1800" spc="-5" dirty="0">
                <a:latin typeface="Carlito"/>
                <a:cs typeface="Carlito"/>
              </a:rPr>
              <a:t>and  </a:t>
            </a:r>
            <a:r>
              <a:rPr sz="1800" spc="-15" dirty="0">
                <a:latin typeface="Carlito"/>
                <a:cs typeface="Carlito"/>
              </a:rPr>
              <a:t>first </a:t>
            </a:r>
            <a:r>
              <a:rPr sz="1800" spc="-10" dirty="0">
                <a:latin typeface="Carlito"/>
                <a:cs typeface="Carlito"/>
              </a:rPr>
              <a:t>process </a:t>
            </a:r>
            <a:r>
              <a:rPr sz="1800" dirty="0">
                <a:latin typeface="Carlito"/>
                <a:cs typeface="Carlito"/>
              </a:rPr>
              <a:t>it inside  multiple </a:t>
            </a:r>
            <a:r>
              <a:rPr sz="1800" spc="-15" dirty="0">
                <a:latin typeface="Carlito"/>
                <a:cs typeface="Carlito"/>
              </a:rPr>
              <a:t>layers to get </a:t>
            </a:r>
            <a:r>
              <a:rPr sz="1800" spc="-10" dirty="0">
                <a:latin typeface="Carlito"/>
                <a:cs typeface="Carlito"/>
              </a:rPr>
              <a:t>best  </a:t>
            </a:r>
            <a:r>
              <a:rPr sz="1800" spc="-5" dirty="0">
                <a:latin typeface="Carlito"/>
                <a:cs typeface="Carlito"/>
              </a:rPr>
              <a:t>predictive </a:t>
            </a:r>
            <a:r>
              <a:rPr sz="1800" dirty="0">
                <a:latin typeface="Carlito"/>
                <a:cs typeface="Carlito"/>
              </a:rPr>
              <a:t>model </a:t>
            </a:r>
            <a:r>
              <a:rPr sz="1800" spc="-15" dirty="0">
                <a:latin typeface="Carlito"/>
                <a:cs typeface="Carlito"/>
              </a:rPr>
              <a:t>for</a:t>
            </a:r>
            <a:r>
              <a:rPr sz="1800" spc="-30" dirty="0">
                <a:latin typeface="Carlito"/>
                <a:cs typeface="Carlito"/>
              </a:rPr>
              <a:t> </a:t>
            </a:r>
            <a:r>
              <a:rPr sz="1800" dirty="0">
                <a:latin typeface="Carlito"/>
                <a:cs typeface="Carlito"/>
              </a:rPr>
              <a:t>it</a:t>
            </a:r>
          </a:p>
        </p:txBody>
      </p:sp>
    </p:spTree>
    <p:extLst>
      <p:ext uri="{BB962C8B-B14F-4D97-AF65-F5344CB8AC3E}">
        <p14:creationId xmlns:p14="http://schemas.microsoft.com/office/powerpoint/2010/main" val="167375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782" y="1080654"/>
            <a:ext cx="8395854" cy="5591545"/>
          </a:xfrm>
          <a:prstGeom prst="rect">
            <a:avLst/>
          </a:prstGeom>
        </p:spPr>
      </p:pic>
    </p:spTree>
    <p:extLst>
      <p:ext uri="{BB962C8B-B14F-4D97-AF65-F5344CB8AC3E}">
        <p14:creationId xmlns:p14="http://schemas.microsoft.com/office/powerpoint/2010/main" val="754616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8280" y="1769313"/>
            <a:ext cx="3464948" cy="382156"/>
          </a:xfrm>
          <a:prstGeom prst="rect">
            <a:avLst/>
          </a:prstGeom>
        </p:spPr>
        <p:txBody>
          <a:bodyPr vert="horz" wrap="square" lIns="0" tIns="12700" rIns="0" bIns="0" rtlCol="0">
            <a:spAutoFit/>
          </a:bodyPr>
          <a:lstStyle/>
          <a:p>
            <a:pPr marL="12700">
              <a:lnSpc>
                <a:spcPct val="100000"/>
              </a:lnSpc>
              <a:spcBef>
                <a:spcPts val="100"/>
              </a:spcBef>
            </a:pPr>
            <a:r>
              <a:rPr sz="2400" b="1" spc="-15" dirty="0">
                <a:latin typeface="Carlito"/>
                <a:cs typeface="Carlito"/>
              </a:rPr>
              <a:t>Heterogeneous</a:t>
            </a:r>
            <a:r>
              <a:rPr sz="2400" b="1" spc="-30" dirty="0">
                <a:latin typeface="Carlito"/>
                <a:cs typeface="Carlito"/>
              </a:rPr>
              <a:t> </a:t>
            </a:r>
            <a:r>
              <a:rPr sz="2400" b="1" spc="-15" dirty="0">
                <a:latin typeface="Carlito"/>
                <a:cs typeface="Carlito"/>
              </a:rPr>
              <a:t>data</a:t>
            </a:r>
            <a:endParaRPr sz="2400" dirty="0">
              <a:latin typeface="Carlito"/>
              <a:cs typeface="Carlito"/>
            </a:endParaRPr>
          </a:p>
        </p:txBody>
      </p:sp>
      <p:sp>
        <p:nvSpPr>
          <p:cNvPr id="3" name="object 3"/>
          <p:cNvSpPr/>
          <p:nvPr/>
        </p:nvSpPr>
        <p:spPr>
          <a:xfrm>
            <a:off x="599503" y="2133601"/>
            <a:ext cx="2073607" cy="111618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451984" y="2846057"/>
            <a:ext cx="4347972" cy="55322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4583868" y="2855467"/>
            <a:ext cx="4489213"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Carlito"/>
                <a:cs typeface="Carlito"/>
              </a:rPr>
              <a:t>Multimodal </a:t>
            </a:r>
            <a:r>
              <a:rPr sz="2400" spc="-5" dirty="0">
                <a:latin typeface="Carlito"/>
                <a:cs typeface="Carlito"/>
              </a:rPr>
              <a:t>Machine Learning</a:t>
            </a:r>
            <a:r>
              <a:rPr sz="2400" spc="-100" dirty="0">
                <a:latin typeface="Carlito"/>
                <a:cs typeface="Carlito"/>
              </a:rPr>
              <a:t> </a:t>
            </a:r>
            <a:r>
              <a:rPr sz="2400" dirty="0">
                <a:latin typeface="Carlito"/>
                <a:cs typeface="Carlito"/>
              </a:rPr>
              <a:t>!</a:t>
            </a:r>
          </a:p>
        </p:txBody>
      </p:sp>
      <p:sp>
        <p:nvSpPr>
          <p:cNvPr id="6" name="object 6"/>
          <p:cNvSpPr/>
          <p:nvPr/>
        </p:nvSpPr>
        <p:spPr>
          <a:xfrm>
            <a:off x="677227" y="3590194"/>
            <a:ext cx="1953959" cy="129601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504831" y="5143086"/>
            <a:ext cx="2388161" cy="1068391"/>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1485329" y="3127755"/>
            <a:ext cx="161449" cy="482600"/>
          </a:xfrm>
          <a:prstGeom prst="rect">
            <a:avLst/>
          </a:prstGeom>
        </p:spPr>
        <p:txBody>
          <a:bodyPr vert="horz" wrap="square" lIns="0" tIns="12700" rIns="0" bIns="0" rtlCol="0">
            <a:spAutoFit/>
          </a:bodyPr>
          <a:lstStyle/>
          <a:p>
            <a:pPr marL="12700">
              <a:lnSpc>
                <a:spcPct val="100000"/>
              </a:lnSpc>
              <a:spcBef>
                <a:spcPts val="100"/>
              </a:spcBef>
            </a:pPr>
            <a:r>
              <a:rPr sz="3000" b="1" dirty="0">
                <a:latin typeface="Carlito"/>
                <a:cs typeface="Carlito"/>
              </a:rPr>
              <a:t>+</a:t>
            </a:r>
            <a:endParaRPr sz="3000">
              <a:latin typeface="Carlito"/>
              <a:cs typeface="Carlito"/>
            </a:endParaRPr>
          </a:p>
        </p:txBody>
      </p:sp>
      <p:sp>
        <p:nvSpPr>
          <p:cNvPr id="9" name="object 9"/>
          <p:cNvSpPr txBox="1"/>
          <p:nvPr/>
        </p:nvSpPr>
        <p:spPr>
          <a:xfrm>
            <a:off x="1485329" y="4780533"/>
            <a:ext cx="161449" cy="482600"/>
          </a:xfrm>
          <a:prstGeom prst="rect">
            <a:avLst/>
          </a:prstGeom>
        </p:spPr>
        <p:txBody>
          <a:bodyPr vert="horz" wrap="square" lIns="0" tIns="12700" rIns="0" bIns="0" rtlCol="0">
            <a:spAutoFit/>
          </a:bodyPr>
          <a:lstStyle/>
          <a:p>
            <a:pPr marL="12700">
              <a:lnSpc>
                <a:spcPct val="100000"/>
              </a:lnSpc>
              <a:spcBef>
                <a:spcPts val="100"/>
              </a:spcBef>
            </a:pPr>
            <a:r>
              <a:rPr sz="3000" b="1" dirty="0">
                <a:latin typeface="Carlito"/>
                <a:cs typeface="Carlito"/>
              </a:rPr>
              <a:t>+</a:t>
            </a:r>
            <a:endParaRPr sz="3000">
              <a:latin typeface="Carlito"/>
              <a:cs typeface="Carlito"/>
            </a:endParaRPr>
          </a:p>
        </p:txBody>
      </p:sp>
      <p:sp>
        <p:nvSpPr>
          <p:cNvPr id="10" name="object 10"/>
          <p:cNvSpPr/>
          <p:nvPr/>
        </p:nvSpPr>
        <p:spPr>
          <a:xfrm>
            <a:off x="3104674" y="2956180"/>
            <a:ext cx="953453" cy="227329"/>
          </a:xfrm>
          <a:custGeom>
            <a:avLst/>
            <a:gdLst/>
            <a:ahLst/>
            <a:cxnLst/>
            <a:rect l="l" t="t" r="r" b="b"/>
            <a:pathLst>
              <a:path w="1271270" h="227330">
                <a:moveTo>
                  <a:pt x="1157477" y="0"/>
                </a:moveTo>
                <a:lnTo>
                  <a:pt x="1157477" y="56769"/>
                </a:lnTo>
                <a:lnTo>
                  <a:pt x="0" y="56769"/>
                </a:lnTo>
                <a:lnTo>
                  <a:pt x="0" y="170307"/>
                </a:lnTo>
                <a:lnTo>
                  <a:pt x="1157477" y="170307"/>
                </a:lnTo>
                <a:lnTo>
                  <a:pt x="1157477" y="227075"/>
                </a:lnTo>
                <a:lnTo>
                  <a:pt x="1271015" y="113537"/>
                </a:lnTo>
                <a:lnTo>
                  <a:pt x="1157477" y="0"/>
                </a:lnTo>
                <a:close/>
              </a:path>
            </a:pathLst>
          </a:custGeom>
          <a:solidFill>
            <a:srgbClr val="FF9EFF"/>
          </a:solidFill>
        </p:spPr>
        <p:txBody>
          <a:bodyPr wrap="square" lIns="0" tIns="0" rIns="0" bIns="0" rtlCol="0"/>
          <a:lstStyle/>
          <a:p>
            <a:endParaRPr/>
          </a:p>
        </p:txBody>
      </p:sp>
      <p:sp>
        <p:nvSpPr>
          <p:cNvPr id="11" name="object 11"/>
          <p:cNvSpPr/>
          <p:nvPr/>
        </p:nvSpPr>
        <p:spPr>
          <a:xfrm>
            <a:off x="4940177" y="3721609"/>
            <a:ext cx="3455729" cy="2411761"/>
          </a:xfrm>
          <a:prstGeom prst="rect">
            <a:avLst/>
          </a:prstGeom>
          <a:blipFill>
            <a:blip r:embed="rId6" cstate="print"/>
            <a:stretch>
              <a:fillRect/>
            </a:stretch>
          </a:blipFill>
        </p:spPr>
        <p:txBody>
          <a:bodyPr wrap="square" lIns="0" tIns="0" rIns="0" bIns="0" rtlCol="0"/>
          <a:lstStyle/>
          <a:p>
            <a:endParaRPr/>
          </a:p>
        </p:txBody>
      </p:sp>
      <p:sp>
        <p:nvSpPr>
          <p:cNvPr id="12" name="object 12"/>
          <p:cNvSpPr txBox="1">
            <a:spLocks noGrp="1"/>
          </p:cNvSpPr>
          <p:nvPr>
            <p:ph type="title"/>
          </p:nvPr>
        </p:nvSpPr>
        <p:spPr>
          <a:xfrm>
            <a:off x="971553" y="414119"/>
            <a:ext cx="7200897" cy="1133644"/>
          </a:xfrm>
          <a:prstGeom prst="rect">
            <a:avLst/>
          </a:prstGeom>
        </p:spPr>
        <p:txBody>
          <a:bodyPr vert="horz" wrap="square" lIns="0" tIns="12700" rIns="0" bIns="0" rtlCol="0">
            <a:spAutoFit/>
          </a:bodyPr>
          <a:lstStyle/>
          <a:p>
            <a:pPr algn="ctr">
              <a:lnSpc>
                <a:spcPct val="100000"/>
              </a:lnSpc>
              <a:spcBef>
                <a:spcPts val="100"/>
              </a:spcBef>
            </a:pPr>
            <a:r>
              <a:rPr spc="-5" dirty="0"/>
              <a:t>Machine </a:t>
            </a:r>
            <a:r>
              <a:rPr dirty="0"/>
              <a:t>Learning:</a:t>
            </a:r>
            <a:r>
              <a:rPr spc="-45" dirty="0"/>
              <a:t> </a:t>
            </a:r>
            <a:r>
              <a:rPr spc="-10" dirty="0"/>
              <a:t>Overview</a:t>
            </a:r>
          </a:p>
          <a:p>
            <a:pPr algn="ctr">
              <a:lnSpc>
                <a:spcPct val="100000"/>
              </a:lnSpc>
              <a:spcBef>
                <a:spcPts val="50"/>
              </a:spcBef>
            </a:pPr>
            <a:r>
              <a:rPr sz="2800" b="0" i="1" spc="-15" dirty="0">
                <a:solidFill>
                  <a:srgbClr val="006FC0"/>
                </a:solidFill>
                <a:latin typeface="Carlito"/>
                <a:cs typeface="Carlito"/>
              </a:rPr>
              <a:t>Data</a:t>
            </a:r>
            <a:r>
              <a:rPr sz="2800" b="0" i="1" spc="-5" dirty="0">
                <a:solidFill>
                  <a:srgbClr val="006FC0"/>
                </a:solidFill>
                <a:latin typeface="Carlito"/>
                <a:cs typeface="Carlito"/>
              </a:rPr>
              <a:t> </a:t>
            </a:r>
            <a:r>
              <a:rPr sz="2800" b="0" i="1" spc="-30" dirty="0">
                <a:solidFill>
                  <a:srgbClr val="006FC0"/>
                </a:solidFill>
                <a:latin typeface="Carlito"/>
                <a:cs typeface="Carlito"/>
              </a:rPr>
              <a:t>Types</a:t>
            </a:r>
            <a:endParaRPr sz="2800" dirty="0">
              <a:latin typeface="Carlito"/>
              <a:cs typeface="Carlito"/>
            </a:endParaRPr>
          </a:p>
        </p:txBody>
      </p:sp>
    </p:spTree>
    <p:extLst>
      <p:ext uri="{BB962C8B-B14F-4D97-AF65-F5344CB8AC3E}">
        <p14:creationId xmlns:p14="http://schemas.microsoft.com/office/powerpoint/2010/main" val="184240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929FF"/>
                </a:solidFill>
              </a:rPr>
              <a:t>Batch and Online Learning</a:t>
            </a:r>
          </a:p>
        </p:txBody>
      </p:sp>
      <p:sp>
        <p:nvSpPr>
          <p:cNvPr id="3" name="Content Placeholder 2"/>
          <p:cNvSpPr>
            <a:spLocks noGrp="1"/>
          </p:cNvSpPr>
          <p:nvPr>
            <p:ph idx="1"/>
          </p:nvPr>
        </p:nvSpPr>
        <p:spPr/>
        <p:txBody>
          <a:bodyPr>
            <a:normAutofit/>
          </a:bodyPr>
          <a:lstStyle/>
          <a:p>
            <a:r>
              <a:rPr lang="en-US" sz="3200" dirty="0"/>
              <a:t>Another criterion used to classify Machine Learning systems is whether or not the system can learn incrementally from a stream of incoming data.</a:t>
            </a:r>
          </a:p>
        </p:txBody>
      </p:sp>
    </p:spTree>
    <p:extLst>
      <p:ext uri="{BB962C8B-B14F-4D97-AF65-F5344CB8AC3E}">
        <p14:creationId xmlns:p14="http://schemas.microsoft.com/office/powerpoint/2010/main" val="946590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17" y="1368992"/>
            <a:ext cx="7200897" cy="1303867"/>
          </a:xfrm>
        </p:spPr>
        <p:txBody>
          <a:bodyPr/>
          <a:lstStyle/>
          <a:p>
            <a:r>
              <a:rPr lang="en-US" dirty="0">
                <a:solidFill>
                  <a:srgbClr val="2929FF"/>
                </a:solidFill>
              </a:rPr>
              <a:t>Batch learning</a:t>
            </a:r>
          </a:p>
        </p:txBody>
      </p:sp>
      <p:sp>
        <p:nvSpPr>
          <p:cNvPr id="3" name="Content Placeholder 2"/>
          <p:cNvSpPr>
            <a:spLocks noGrp="1"/>
          </p:cNvSpPr>
          <p:nvPr>
            <p:ph idx="1"/>
          </p:nvPr>
        </p:nvSpPr>
        <p:spPr>
          <a:xfrm>
            <a:off x="762000" y="2556932"/>
            <a:ext cx="7772400" cy="3318936"/>
          </a:xfrm>
        </p:spPr>
        <p:txBody>
          <a:bodyPr>
            <a:noAutofit/>
          </a:bodyPr>
          <a:lstStyle/>
          <a:p>
            <a:r>
              <a:rPr lang="en-US" dirty="0"/>
              <a:t>In </a:t>
            </a:r>
            <a:r>
              <a:rPr lang="en-US" i="1" dirty="0"/>
              <a:t>batch learning</a:t>
            </a:r>
            <a:r>
              <a:rPr lang="en-US" dirty="0"/>
              <a:t>, the system is incapable of learning incrementally: </a:t>
            </a:r>
          </a:p>
          <a:p>
            <a:r>
              <a:rPr lang="en-US" dirty="0"/>
              <a:t>It must be trained using all the available data. </a:t>
            </a:r>
          </a:p>
          <a:p>
            <a:r>
              <a:rPr lang="en-US" dirty="0"/>
              <a:t>This will generally take a lot of time and computing resources, so it is typically done offline. </a:t>
            </a:r>
          </a:p>
          <a:p>
            <a:r>
              <a:rPr lang="en-US" dirty="0"/>
              <a:t>First the system is trained, and then it is launched into production and runs without learning anymore; </a:t>
            </a:r>
          </a:p>
          <a:p>
            <a:r>
              <a:rPr lang="en-US" dirty="0"/>
              <a:t>it just applies what it has learned. This is called </a:t>
            </a:r>
            <a:r>
              <a:rPr lang="en-US" i="1" dirty="0"/>
              <a:t>offline learning</a:t>
            </a:r>
            <a:r>
              <a:rPr lang="en-US" dirty="0"/>
              <a:t>.</a:t>
            </a:r>
          </a:p>
        </p:txBody>
      </p:sp>
    </p:spTree>
    <p:extLst>
      <p:ext uri="{BB962C8B-B14F-4D97-AF65-F5344CB8AC3E}">
        <p14:creationId xmlns:p14="http://schemas.microsoft.com/office/powerpoint/2010/main" val="1300438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17" y="1368992"/>
            <a:ext cx="7200897" cy="1303867"/>
          </a:xfrm>
        </p:spPr>
        <p:txBody>
          <a:bodyPr/>
          <a:lstStyle/>
          <a:p>
            <a:r>
              <a:rPr lang="en-US" dirty="0">
                <a:solidFill>
                  <a:srgbClr val="2929FF"/>
                </a:solidFill>
              </a:rPr>
              <a:t>Batch learning</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306" y="2682967"/>
            <a:ext cx="6893169" cy="3624048"/>
          </a:xfrm>
          <a:prstGeom prst="rect">
            <a:avLst/>
          </a:prstGeom>
        </p:spPr>
      </p:pic>
    </p:spTree>
    <p:extLst>
      <p:ext uri="{BB962C8B-B14F-4D97-AF65-F5344CB8AC3E}">
        <p14:creationId xmlns:p14="http://schemas.microsoft.com/office/powerpoint/2010/main" val="2898365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63" y="1099363"/>
            <a:ext cx="7200897" cy="1303867"/>
          </a:xfrm>
        </p:spPr>
        <p:txBody>
          <a:bodyPr/>
          <a:lstStyle/>
          <a:p>
            <a:r>
              <a:rPr lang="en-US" dirty="0">
                <a:solidFill>
                  <a:srgbClr val="2929FF"/>
                </a:solidFill>
              </a:rPr>
              <a:t>Online learning</a:t>
            </a:r>
          </a:p>
        </p:txBody>
      </p:sp>
      <p:sp>
        <p:nvSpPr>
          <p:cNvPr id="3" name="Content Placeholder 2"/>
          <p:cNvSpPr>
            <a:spLocks noGrp="1"/>
          </p:cNvSpPr>
          <p:nvPr>
            <p:ph idx="1"/>
          </p:nvPr>
        </p:nvSpPr>
        <p:spPr>
          <a:xfrm>
            <a:off x="644769" y="2556932"/>
            <a:ext cx="8053755" cy="3318936"/>
          </a:xfrm>
        </p:spPr>
        <p:txBody>
          <a:bodyPr>
            <a:noAutofit/>
          </a:bodyPr>
          <a:lstStyle/>
          <a:p>
            <a:r>
              <a:rPr lang="en-US" sz="2800" dirty="0"/>
              <a:t>In </a:t>
            </a:r>
            <a:r>
              <a:rPr lang="en-US" sz="2800" i="1" dirty="0"/>
              <a:t>online learning</a:t>
            </a:r>
            <a:r>
              <a:rPr lang="en-US" sz="2800" dirty="0"/>
              <a:t>, you train the system incrementally by feeding it data instances sequentially, </a:t>
            </a:r>
          </a:p>
          <a:p>
            <a:r>
              <a:rPr lang="en-US" sz="2800" dirty="0"/>
              <a:t>either individually or by small groups called </a:t>
            </a:r>
            <a:r>
              <a:rPr lang="en-US" sz="2800" i="1" dirty="0"/>
              <a:t>mini-batches</a:t>
            </a:r>
            <a:r>
              <a:rPr lang="en-US" sz="2800" dirty="0"/>
              <a:t>. </a:t>
            </a:r>
          </a:p>
          <a:p>
            <a:r>
              <a:rPr lang="en-US" sz="2800" dirty="0"/>
              <a:t>Each learning step is fast and cheap, so the system can learn about new data on the fly,</a:t>
            </a:r>
          </a:p>
          <a:p>
            <a:r>
              <a:rPr lang="en-US" sz="2800" dirty="0"/>
              <a:t>Online learning is great for systems that receive data as a continuous flow (e.g., stock prices)</a:t>
            </a:r>
          </a:p>
        </p:txBody>
      </p:sp>
    </p:spTree>
    <p:extLst>
      <p:ext uri="{BB962C8B-B14F-4D97-AF65-F5344CB8AC3E}">
        <p14:creationId xmlns:p14="http://schemas.microsoft.com/office/powerpoint/2010/main" val="4105120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63" y="1099363"/>
            <a:ext cx="7200897" cy="1303867"/>
          </a:xfrm>
        </p:spPr>
        <p:txBody>
          <a:bodyPr/>
          <a:lstStyle/>
          <a:p>
            <a:r>
              <a:rPr lang="en-US" dirty="0">
                <a:solidFill>
                  <a:srgbClr val="2929FF"/>
                </a:solidFill>
              </a:rPr>
              <a:t>Online learning</a:t>
            </a:r>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231" y="2512950"/>
            <a:ext cx="7151077" cy="3758896"/>
          </a:xfrm>
          <a:prstGeom prst="rect">
            <a:avLst/>
          </a:prstGeom>
        </p:spPr>
      </p:pic>
    </p:spTree>
    <p:extLst>
      <p:ext uri="{BB962C8B-B14F-4D97-AF65-F5344CB8AC3E}">
        <p14:creationId xmlns:p14="http://schemas.microsoft.com/office/powerpoint/2010/main" val="459243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 y="381000"/>
            <a:ext cx="7372351" cy="1143000"/>
          </a:xfrm>
        </p:spPr>
        <p:txBody>
          <a:bodyPr vert="horz" lIns="91440" tIns="45720" rIns="91440" bIns="45720" rtlCol="0" anchor="b">
            <a:normAutofit/>
          </a:bodyPr>
          <a:lstStyle/>
          <a:p>
            <a:r>
              <a:rPr lang="en-US" sz="4800" b="1"/>
              <a:t>Components Training Data</a:t>
            </a:r>
          </a:p>
        </p:txBody>
      </p:sp>
      <p:sp>
        <p:nvSpPr>
          <p:cNvPr id="3" name="Content Placeholder 2"/>
          <p:cNvSpPr>
            <a:spLocks noGrp="1"/>
          </p:cNvSpPr>
          <p:nvPr>
            <p:ph idx="1"/>
          </p:nvPr>
        </p:nvSpPr>
        <p:spPr>
          <a:xfrm>
            <a:off x="1314450" y="1600200"/>
            <a:ext cx="6343651" cy="4724400"/>
          </a:xfrm>
        </p:spPr>
        <p:txBody>
          <a:bodyPr>
            <a:noAutofit/>
          </a:bodyPr>
          <a:lstStyle/>
          <a:p>
            <a:pPr marL="68580" lvl="1" indent="0">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b="1">
                <a:solidFill>
                  <a:srgbClr val="0070C0"/>
                </a:solidFill>
              </a:rPr>
              <a:t>Instances/Examples</a:t>
            </a:r>
          </a:p>
          <a:p>
            <a:pPr marL="342900" lvl="1">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a:t>Individual, independent examples of a concept</a:t>
            </a:r>
          </a:p>
          <a:p>
            <a:pPr marL="68580" lvl="1" indent="0">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b="1">
                <a:solidFill>
                  <a:srgbClr val="0070C0"/>
                </a:solidFill>
              </a:rPr>
              <a:t>Attributes/Features</a:t>
            </a:r>
          </a:p>
          <a:p>
            <a:pPr marL="342900" lvl="1">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a:t>measuring aspects of an instance</a:t>
            </a:r>
          </a:p>
          <a:p>
            <a:pPr marL="342900" lvl="2" indent="-274320">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a:t>We will focus on nominal and numeric ones</a:t>
            </a:r>
          </a:p>
          <a:p>
            <a:pPr marL="342900" lvl="1">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endParaRPr lang="en-US" sz="3200"/>
          </a:p>
        </p:txBody>
      </p:sp>
    </p:spTree>
    <p:extLst>
      <p:ext uri="{BB962C8B-B14F-4D97-AF65-F5344CB8AC3E}">
        <p14:creationId xmlns:p14="http://schemas.microsoft.com/office/powerpoint/2010/main" val="7109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619" y="269630"/>
            <a:ext cx="5268559" cy="797169"/>
          </a:xfrm>
          <a:solidFill>
            <a:schemeClr val="accent5">
              <a:lumMod val="60000"/>
              <a:lumOff val="40000"/>
            </a:schemeClr>
          </a:solidFill>
        </p:spPr>
        <p:txBody>
          <a:bodyPr/>
          <a:lstStyle/>
          <a:p>
            <a:r>
              <a:rPr lang="en-US" dirty="0"/>
              <a:t>Training Data</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151" y="1242645"/>
            <a:ext cx="6629400" cy="556260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8185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4800" b="1">
                <a:solidFill>
                  <a:srgbClr val="0070C0"/>
                </a:solidFill>
              </a:rPr>
              <a:t>Feature Types</a:t>
            </a:r>
          </a:p>
        </p:txBody>
      </p:sp>
      <p:sp>
        <p:nvSpPr>
          <p:cNvPr id="3" name="Content Placeholder 2"/>
          <p:cNvSpPr>
            <a:spLocks noGrp="1"/>
          </p:cNvSpPr>
          <p:nvPr>
            <p:ph idx="1"/>
          </p:nvPr>
        </p:nvSpPr>
        <p:spPr/>
        <p:txBody>
          <a:bodyPr>
            <a:normAutofit fontScale="92500" lnSpcReduction="10000"/>
          </a:bodyPr>
          <a:lstStyle/>
          <a:p>
            <a:r>
              <a:rPr lang="en-US" sz="3200"/>
              <a:t>Features can be classified on the basis of their values</a:t>
            </a:r>
          </a:p>
          <a:p>
            <a:r>
              <a:rPr lang="en-US" sz="3200" b="1">
                <a:solidFill>
                  <a:srgbClr val="00B0F0"/>
                </a:solidFill>
              </a:rPr>
              <a:t>Nominal</a:t>
            </a:r>
          </a:p>
          <a:p>
            <a:pPr lvl="1"/>
            <a:r>
              <a:rPr lang="en-US" sz="3200"/>
              <a:t>Values are distinct Symbols</a:t>
            </a:r>
          </a:p>
          <a:p>
            <a:r>
              <a:rPr lang="en-US" sz="3200" b="1">
                <a:solidFill>
                  <a:srgbClr val="00B0F0"/>
                </a:solidFill>
              </a:rPr>
              <a:t>Numeric</a:t>
            </a:r>
          </a:p>
          <a:p>
            <a:pPr lvl="1"/>
            <a:r>
              <a:rPr lang="en-US" sz="3200"/>
              <a:t>Either real or integer valued </a:t>
            </a:r>
          </a:p>
          <a:p>
            <a:endParaRPr lang="en-US" sz="3200"/>
          </a:p>
        </p:txBody>
      </p:sp>
    </p:spTree>
    <p:extLst>
      <p:ext uri="{BB962C8B-B14F-4D97-AF65-F5344CB8AC3E}">
        <p14:creationId xmlns:p14="http://schemas.microsoft.com/office/powerpoint/2010/main" val="379382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381000"/>
            <a:ext cx="5268559" cy="1143000"/>
          </a:xfrm>
        </p:spPr>
        <p:txBody>
          <a:bodyPr vert="horz" lIns="91440" tIns="45720" rIns="91440" bIns="45720" rtlCol="0" anchor="b">
            <a:normAutofit/>
          </a:bodyPr>
          <a:lstStyle/>
          <a:p>
            <a:r>
              <a:rPr lang="en-US" sz="4800" b="1">
                <a:solidFill>
                  <a:srgbClr val="0070C0"/>
                </a:solidFill>
              </a:rPr>
              <a:t>Feature Types</a:t>
            </a:r>
          </a:p>
        </p:txBody>
      </p:sp>
      <p:pic>
        <p:nvPicPr>
          <p:cNvPr id="6" name="Picture 5" descr="Screen Clipping"/>
          <p:cNvPicPr>
            <a:picLocks noChangeAspect="1"/>
          </p:cNvPicPr>
          <p:nvPr/>
        </p:nvPicPr>
        <p:blipFill rotWithShape="1">
          <a:blip r:embed="rId2">
            <a:extLst>
              <a:ext uri="{28A0092B-C50C-407E-A947-70E740481C1C}">
                <a14:useLocalDpi xmlns:a14="http://schemas.microsoft.com/office/drawing/2010/main" val="0"/>
              </a:ext>
            </a:extLst>
          </a:blip>
          <a:srcRect r="20354"/>
          <a:stretch/>
        </p:blipFill>
        <p:spPr>
          <a:xfrm>
            <a:off x="1657351" y="1524001"/>
            <a:ext cx="5943600" cy="5181600"/>
          </a:xfrm>
          <a:prstGeom prst="rect">
            <a:avLst/>
          </a:prstGeom>
        </p:spPr>
      </p:pic>
    </p:spTree>
    <p:extLst>
      <p:ext uri="{BB962C8B-B14F-4D97-AF65-F5344CB8AC3E}">
        <p14:creationId xmlns:p14="http://schemas.microsoft.com/office/powerpoint/2010/main" val="3302113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346366" y="651167"/>
            <a:ext cx="8763000" cy="609600"/>
          </a:xfrm>
          <a:prstGeom prst="rect">
            <a:avLst/>
          </a:prstGeom>
        </p:spPr>
        <p:txBody>
          <a:bodyPr/>
          <a:lstStyle>
            <a:lvl1pPr algn="ctr" defTabSz="914400" rtl="0" eaLnBrk="1" latinLnBrk="0" hangingPunct="1">
              <a:spcBef>
                <a:spcPct val="0"/>
              </a:spcBef>
              <a:buNone/>
              <a:defRPr sz="4400" b="1" kern="1200">
                <a:solidFill>
                  <a:srgbClr val="7030A0"/>
                </a:solidFill>
                <a:latin typeface="+mj-lt"/>
                <a:ea typeface="+mj-ea"/>
                <a:cs typeface="+mj-cs"/>
              </a:defRPr>
            </a:lvl1pPr>
          </a:lstStyle>
          <a:p>
            <a:r>
              <a:rPr lang="en-US" altLang="en-US" dirty="0">
                <a:solidFill>
                  <a:srgbClr val="00B0F0"/>
                </a:solidFill>
              </a:rPr>
              <a:t>Attributes</a:t>
            </a:r>
          </a:p>
        </p:txBody>
      </p:sp>
      <p:sp>
        <p:nvSpPr>
          <p:cNvPr id="4" name="Rectangle 3"/>
          <p:cNvSpPr txBox="1">
            <a:spLocks noChangeArrowheads="1"/>
          </p:cNvSpPr>
          <p:nvPr/>
        </p:nvSpPr>
        <p:spPr>
          <a:xfrm>
            <a:off x="568036" y="1295400"/>
            <a:ext cx="7980219"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b="1" dirty="0"/>
              <a:t>Attribute (</a:t>
            </a:r>
            <a:r>
              <a:rPr lang="en-US" altLang="en-US" dirty="0"/>
              <a:t>or</a:t>
            </a:r>
            <a:r>
              <a:rPr lang="en-US" altLang="en-US" b="1" dirty="0"/>
              <a:t> dimensions, features, variables</a:t>
            </a:r>
            <a:r>
              <a:rPr lang="en-US" altLang="en-US" dirty="0"/>
              <a:t>): a data field, representing a characteristic or feature of a data object.</a:t>
            </a:r>
          </a:p>
          <a:p>
            <a:pPr lvl="1"/>
            <a:r>
              <a:rPr lang="en-US" altLang="en-US" i="1" dirty="0"/>
              <a:t>E.g., customer _ID, name, address</a:t>
            </a:r>
          </a:p>
          <a:p>
            <a:r>
              <a:rPr lang="en-US" altLang="en-US" dirty="0"/>
              <a:t>Types:</a:t>
            </a:r>
          </a:p>
          <a:p>
            <a:pPr lvl="1"/>
            <a:r>
              <a:rPr lang="en-US" altLang="en-US" dirty="0"/>
              <a:t>Nominal</a:t>
            </a:r>
          </a:p>
          <a:p>
            <a:pPr lvl="1"/>
            <a:r>
              <a:rPr lang="en-US" altLang="en-US" dirty="0"/>
              <a:t>Binary</a:t>
            </a:r>
          </a:p>
          <a:p>
            <a:pPr lvl="1"/>
            <a:r>
              <a:rPr lang="en-US" altLang="en-US" dirty="0"/>
              <a:t>Numeric: (Discrete, Continuous)</a:t>
            </a:r>
          </a:p>
          <a:p>
            <a:pPr lvl="2"/>
            <a:r>
              <a:rPr lang="en-US" altLang="en-US" sz="2800" dirty="0"/>
              <a:t>Interval-scaled</a:t>
            </a:r>
          </a:p>
          <a:p>
            <a:pPr lvl="2"/>
            <a:r>
              <a:rPr lang="en-US" altLang="en-US" sz="2800" dirty="0"/>
              <a:t>Ratio-scaled</a:t>
            </a:r>
            <a:endParaRPr lang="en-US" altLang="en-US" dirty="0"/>
          </a:p>
        </p:txBody>
      </p:sp>
    </p:spTree>
    <p:extLst>
      <p:ext uri="{BB962C8B-B14F-4D97-AF65-F5344CB8AC3E}">
        <p14:creationId xmlns:p14="http://schemas.microsoft.com/office/powerpoint/2010/main" val="338796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barn(inVertical)">
                                      <p:cBhvr>
                                        <p:cTn id="3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 y="304800"/>
            <a:ext cx="8763000" cy="609600"/>
          </a:xfrm>
          <a:prstGeom prst="rect">
            <a:avLst/>
          </a:prstGeom>
        </p:spPr>
        <p:txBody>
          <a:bodyPr/>
          <a:lstStyle>
            <a:lvl1pPr algn="ctr" defTabSz="914400" rtl="0" eaLnBrk="1" latinLnBrk="0" hangingPunct="1">
              <a:spcBef>
                <a:spcPct val="0"/>
              </a:spcBef>
              <a:buNone/>
              <a:defRPr sz="4400" b="1" kern="1200">
                <a:solidFill>
                  <a:srgbClr val="7030A0"/>
                </a:solidFill>
                <a:latin typeface="+mj-lt"/>
                <a:ea typeface="+mj-ea"/>
                <a:cs typeface="+mj-cs"/>
              </a:defRPr>
            </a:lvl1pPr>
          </a:lstStyle>
          <a:p>
            <a:r>
              <a:rPr lang="en-US" altLang="en-US" dirty="0">
                <a:solidFill>
                  <a:srgbClr val="00B0F0"/>
                </a:solidFill>
              </a:rPr>
              <a:t>Attribute Types </a:t>
            </a:r>
          </a:p>
        </p:txBody>
      </p:sp>
      <p:sp>
        <p:nvSpPr>
          <p:cNvPr id="4" name="Rectangle 3"/>
          <p:cNvSpPr txBox="1">
            <a:spLocks noChangeArrowheads="1"/>
          </p:cNvSpPr>
          <p:nvPr/>
        </p:nvSpPr>
        <p:spPr>
          <a:xfrm>
            <a:off x="512622" y="1011385"/>
            <a:ext cx="7869381"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92100" indent="-292100">
              <a:lnSpc>
                <a:spcPct val="90000"/>
              </a:lnSpc>
              <a:spcBef>
                <a:spcPts val="0"/>
              </a:spcBef>
            </a:pPr>
            <a:r>
              <a:rPr lang="en-US" altLang="en-US" sz="2400" b="1" dirty="0">
                <a:solidFill>
                  <a:srgbClr val="FF0000"/>
                </a:solidFill>
              </a:rPr>
              <a:t>Nominal:</a:t>
            </a:r>
            <a:r>
              <a:rPr lang="en-US" altLang="en-US" sz="2400" dirty="0"/>
              <a:t> categories, states, or “names of things”</a:t>
            </a:r>
          </a:p>
          <a:p>
            <a:pPr marL="749300" lvl="1" indent="-342900">
              <a:lnSpc>
                <a:spcPct val="90000"/>
              </a:lnSpc>
              <a:spcBef>
                <a:spcPts val="0"/>
              </a:spcBef>
            </a:pPr>
            <a:r>
              <a:rPr lang="en-US" altLang="en-US" sz="2400" i="1" dirty="0" err="1"/>
              <a:t>Hair_color</a:t>
            </a:r>
            <a:r>
              <a:rPr lang="en-US" altLang="en-US" sz="2400" i="1" dirty="0"/>
              <a:t> = </a:t>
            </a:r>
            <a:r>
              <a:rPr lang="en-US" altLang="en-US" sz="2400" dirty="0"/>
              <a:t>{</a:t>
            </a:r>
            <a:r>
              <a:rPr lang="en-US" altLang="en-US" sz="2400" i="1" dirty="0"/>
              <a:t>auburn, black, blond, brown, grey, red, white</a:t>
            </a:r>
            <a:r>
              <a:rPr lang="en-US" altLang="en-US" sz="2400" dirty="0"/>
              <a:t>}</a:t>
            </a:r>
          </a:p>
          <a:p>
            <a:pPr marL="749300" lvl="1" indent="-342900">
              <a:lnSpc>
                <a:spcPct val="90000"/>
              </a:lnSpc>
              <a:spcBef>
                <a:spcPts val="0"/>
              </a:spcBef>
            </a:pPr>
            <a:r>
              <a:rPr lang="en-US" altLang="en-US" sz="2400" dirty="0"/>
              <a:t>marital status, occupation, ID numbers, zip codes</a:t>
            </a:r>
          </a:p>
          <a:p>
            <a:pPr marL="292100" indent="-292100">
              <a:lnSpc>
                <a:spcPct val="90000"/>
              </a:lnSpc>
              <a:spcBef>
                <a:spcPts val="0"/>
              </a:spcBef>
            </a:pPr>
            <a:r>
              <a:rPr lang="en-US" altLang="en-US" sz="2400" b="1" dirty="0">
                <a:solidFill>
                  <a:srgbClr val="FF0000"/>
                </a:solidFill>
              </a:rPr>
              <a:t>Binary</a:t>
            </a:r>
          </a:p>
          <a:p>
            <a:pPr marL="749300" lvl="1" indent="-342900">
              <a:lnSpc>
                <a:spcPct val="90000"/>
              </a:lnSpc>
              <a:spcBef>
                <a:spcPts val="0"/>
              </a:spcBef>
            </a:pPr>
            <a:r>
              <a:rPr lang="en-US" altLang="en-US" sz="2400" dirty="0"/>
              <a:t>Nominal attribute with only 2 states (0 and 1)</a:t>
            </a:r>
          </a:p>
          <a:p>
            <a:pPr marL="749300" lvl="1" indent="-342900">
              <a:lnSpc>
                <a:spcPct val="90000"/>
              </a:lnSpc>
              <a:spcBef>
                <a:spcPts val="0"/>
              </a:spcBef>
            </a:pPr>
            <a:r>
              <a:rPr lang="en-US" altLang="en-US" sz="2400" u="sng" dirty="0"/>
              <a:t>Symmetric binary</a:t>
            </a:r>
            <a:r>
              <a:rPr lang="en-US" altLang="en-US" sz="2400" dirty="0"/>
              <a:t>: both outcomes equally important</a:t>
            </a:r>
          </a:p>
          <a:p>
            <a:pPr marL="1257300" lvl="2" indent="-393700">
              <a:lnSpc>
                <a:spcPct val="90000"/>
              </a:lnSpc>
              <a:spcBef>
                <a:spcPts val="0"/>
              </a:spcBef>
            </a:pPr>
            <a:r>
              <a:rPr lang="en-US" altLang="en-US" dirty="0"/>
              <a:t>e.g., gender</a:t>
            </a:r>
          </a:p>
          <a:p>
            <a:pPr marL="749300" lvl="1" indent="-342900">
              <a:lnSpc>
                <a:spcPct val="90000"/>
              </a:lnSpc>
              <a:spcBef>
                <a:spcPts val="0"/>
              </a:spcBef>
            </a:pPr>
            <a:r>
              <a:rPr lang="en-US" altLang="en-US" sz="2400" u="sng" dirty="0"/>
              <a:t>Asymmetric binary</a:t>
            </a:r>
            <a:r>
              <a:rPr lang="en-US" altLang="en-US" sz="2400" dirty="0"/>
              <a:t>: outcomes not equally important.  </a:t>
            </a:r>
          </a:p>
          <a:p>
            <a:pPr marL="1257300" lvl="2" indent="-393700">
              <a:lnSpc>
                <a:spcPct val="90000"/>
              </a:lnSpc>
              <a:spcBef>
                <a:spcPts val="0"/>
              </a:spcBef>
            </a:pPr>
            <a:r>
              <a:rPr lang="en-US" altLang="en-US" dirty="0"/>
              <a:t>e.g., medical test (positive vs. negative)</a:t>
            </a:r>
          </a:p>
          <a:p>
            <a:pPr marL="1257300" lvl="2" indent="-393700">
              <a:lnSpc>
                <a:spcPct val="90000"/>
              </a:lnSpc>
              <a:spcBef>
                <a:spcPts val="0"/>
              </a:spcBef>
            </a:pPr>
            <a:r>
              <a:rPr lang="en-US" altLang="en-US" dirty="0"/>
              <a:t>Convention: assign 1 to most important outcome (e.g., HIV positive)</a:t>
            </a:r>
          </a:p>
          <a:p>
            <a:pPr marL="292100" indent="-292100">
              <a:lnSpc>
                <a:spcPct val="90000"/>
              </a:lnSpc>
              <a:spcBef>
                <a:spcPts val="0"/>
              </a:spcBef>
            </a:pPr>
            <a:r>
              <a:rPr lang="en-US" altLang="en-US" sz="2400" b="1" dirty="0">
                <a:solidFill>
                  <a:srgbClr val="FF0000"/>
                </a:solidFill>
              </a:rPr>
              <a:t>Ordinal</a:t>
            </a:r>
          </a:p>
          <a:p>
            <a:pPr marL="749300" lvl="1" indent="-342900">
              <a:lnSpc>
                <a:spcPct val="90000"/>
              </a:lnSpc>
              <a:spcBef>
                <a:spcPts val="0"/>
              </a:spcBef>
            </a:pPr>
            <a:r>
              <a:rPr lang="en-US" altLang="en-US" sz="2400" dirty="0"/>
              <a:t>Values have a meaningful order (ranking) but magnitude between successive values is not known.</a:t>
            </a:r>
          </a:p>
          <a:p>
            <a:pPr marL="749300" lvl="1" indent="-342900">
              <a:lnSpc>
                <a:spcPct val="90000"/>
              </a:lnSpc>
              <a:spcBef>
                <a:spcPts val="0"/>
              </a:spcBef>
            </a:pPr>
            <a:r>
              <a:rPr lang="en-US" altLang="en-US" sz="2400" i="1" dirty="0"/>
              <a:t>Size = </a:t>
            </a:r>
            <a:r>
              <a:rPr lang="en-US" altLang="en-US" sz="2400" dirty="0"/>
              <a:t>{</a:t>
            </a:r>
            <a:r>
              <a:rPr lang="en-US" altLang="en-US" sz="2400" i="1" dirty="0"/>
              <a:t>small, medium, large</a:t>
            </a:r>
            <a:r>
              <a:rPr lang="en-US" altLang="en-US" sz="2400" dirty="0"/>
              <a:t>}</a:t>
            </a:r>
            <a:r>
              <a:rPr lang="en-US" altLang="en-US" sz="2400" i="1" dirty="0"/>
              <a:t>,</a:t>
            </a:r>
            <a:r>
              <a:rPr lang="en-US" altLang="en-US" sz="2400" dirty="0"/>
              <a:t> grades, army rankings</a:t>
            </a:r>
          </a:p>
        </p:txBody>
      </p:sp>
    </p:spTree>
    <p:extLst>
      <p:ext uri="{BB962C8B-B14F-4D97-AF65-F5344CB8AC3E}">
        <p14:creationId xmlns:p14="http://schemas.microsoft.com/office/powerpoint/2010/main" val="192788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barn(inVertical)">
                                      <p:cBhvr>
                                        <p:cTn id="30" dur="500"/>
                                        <p:tgtEl>
                                          <p:spTgt spid="4">
                                            <p:txEl>
                                              <p:pRg st="7" end="7"/>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barn(inVertical)">
                                      <p:cBhvr>
                                        <p:cTn id="33" dur="500"/>
                                        <p:tgtEl>
                                          <p:spTgt spid="4">
                                            <p:txEl>
                                              <p:pRg st="8" end="8"/>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4">
                                            <p:txEl>
                                              <p:pRg st="9" end="9"/>
                                            </p:txEl>
                                          </p:spTgt>
                                        </p:tgtEl>
                                        <p:attrNameLst>
                                          <p:attrName>style.visibility</p:attrName>
                                        </p:attrNameLst>
                                      </p:cBhvr>
                                      <p:to>
                                        <p:strVal val="visible"/>
                                      </p:to>
                                    </p:set>
                                    <p:animEffect transition="in" filter="barn(inVertical)">
                                      <p:cBhvr>
                                        <p:cTn id="36" dur="500"/>
                                        <p:tgtEl>
                                          <p:spTgt spid="4">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Effect transition="in" filter="wipe(down)">
                                      <p:cBhvr>
                                        <p:cTn id="41" dur="500"/>
                                        <p:tgtEl>
                                          <p:spTgt spid="4">
                                            <p:txEl>
                                              <p:pRg st="10" end="10"/>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4">
                                            <p:txEl>
                                              <p:pRg st="11" end="11"/>
                                            </p:txEl>
                                          </p:spTgt>
                                        </p:tgtEl>
                                        <p:attrNameLst>
                                          <p:attrName>style.visibility</p:attrName>
                                        </p:attrNameLst>
                                      </p:cBhvr>
                                      <p:to>
                                        <p:strVal val="visible"/>
                                      </p:to>
                                    </p:set>
                                    <p:animEffect transition="in" filter="wipe(down)">
                                      <p:cBhvr>
                                        <p:cTn id="44" dur="500"/>
                                        <p:tgtEl>
                                          <p:spTgt spid="4">
                                            <p:txEl>
                                              <p:pRg st="11" end="11"/>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animEffect transition="in" filter="wipe(down)">
                                      <p:cBhvr>
                                        <p:cTn id="4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7239000" y="6477000"/>
            <a:ext cx="1905000" cy="38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fld id="{8E170457-5F46-AB4B-BBFF-21D9CFE39D78}" type="slidenum">
              <a:rPr lang="en-US" altLang="en-US" sz="1200"/>
              <a:pPr eaLnBrk="1" hangingPunct="1"/>
              <a:t>20</a:t>
            </a:fld>
            <a:endParaRPr lang="en-US" altLang="en-US" sz="1200"/>
          </a:p>
        </p:txBody>
      </p:sp>
      <p:sp>
        <p:nvSpPr>
          <p:cNvPr id="3" name="Rectangle 2"/>
          <p:cNvSpPr txBox="1">
            <a:spLocks noChangeArrowheads="1"/>
          </p:cNvSpPr>
          <p:nvPr/>
        </p:nvSpPr>
        <p:spPr>
          <a:xfrm>
            <a:off x="-277093" y="401784"/>
            <a:ext cx="8763000" cy="609600"/>
          </a:xfrm>
          <a:prstGeom prst="rect">
            <a:avLst/>
          </a:prstGeom>
        </p:spPr>
        <p:txBody>
          <a:bodyPr/>
          <a:lstStyle>
            <a:lvl1pPr algn="ctr" defTabSz="914400" rtl="0" eaLnBrk="1" latinLnBrk="0" hangingPunct="1">
              <a:spcBef>
                <a:spcPct val="0"/>
              </a:spcBef>
              <a:buNone/>
              <a:defRPr sz="4400" b="1" kern="1200">
                <a:solidFill>
                  <a:srgbClr val="7030A0"/>
                </a:solidFill>
                <a:latin typeface="+mj-lt"/>
                <a:ea typeface="+mj-ea"/>
                <a:cs typeface="+mj-cs"/>
              </a:defRPr>
            </a:lvl1pPr>
          </a:lstStyle>
          <a:p>
            <a:r>
              <a:rPr lang="en-US" altLang="en-US" dirty="0">
                <a:solidFill>
                  <a:srgbClr val="C00000"/>
                </a:solidFill>
              </a:rPr>
              <a:t>Numeric Attribute Types </a:t>
            </a:r>
          </a:p>
        </p:txBody>
      </p:sp>
      <p:sp>
        <p:nvSpPr>
          <p:cNvPr id="4" name="Rectangle 3"/>
          <p:cNvSpPr txBox="1">
            <a:spLocks noChangeArrowheads="1"/>
          </p:cNvSpPr>
          <p:nvPr/>
        </p:nvSpPr>
        <p:spPr>
          <a:xfrm>
            <a:off x="581891" y="1198425"/>
            <a:ext cx="7952510" cy="5257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92100" indent="-292100">
              <a:lnSpc>
                <a:spcPct val="90000"/>
              </a:lnSpc>
            </a:pPr>
            <a:r>
              <a:rPr lang="en-US" altLang="en-US" sz="2400" dirty="0"/>
              <a:t>Quantity (integer or real-valued)</a:t>
            </a:r>
          </a:p>
          <a:p>
            <a:pPr marL="292100" indent="-292100">
              <a:lnSpc>
                <a:spcPct val="90000"/>
              </a:lnSpc>
            </a:pPr>
            <a:r>
              <a:rPr lang="en-US" altLang="en-US" sz="2400" b="1" dirty="0">
                <a:solidFill>
                  <a:srgbClr val="00B0F0"/>
                </a:solidFill>
              </a:rPr>
              <a:t>Interval</a:t>
            </a:r>
          </a:p>
          <a:p>
            <a:pPr marL="457200" indent="-393700">
              <a:lnSpc>
                <a:spcPct val="90000"/>
              </a:lnSpc>
            </a:pPr>
            <a:r>
              <a:rPr lang="en-US" altLang="en-US" sz="2000" dirty="0"/>
              <a:t>Measured on a scale of </a:t>
            </a:r>
            <a:r>
              <a:rPr lang="en-US" altLang="en-US" sz="2000" b="1" dirty="0"/>
              <a:t>equal-sized units</a:t>
            </a:r>
          </a:p>
          <a:p>
            <a:pPr marL="457200" indent="-393700">
              <a:lnSpc>
                <a:spcPct val="90000"/>
              </a:lnSpc>
            </a:pPr>
            <a:r>
              <a:rPr lang="en-US" altLang="en-US" sz="2000" dirty="0"/>
              <a:t>Values have order</a:t>
            </a:r>
          </a:p>
          <a:p>
            <a:pPr marL="857250" lvl="1" indent="-393700">
              <a:lnSpc>
                <a:spcPct val="90000"/>
              </a:lnSpc>
            </a:pPr>
            <a:r>
              <a:rPr lang="en-US" altLang="en-US" sz="2000" dirty="0"/>
              <a:t>E.g., </a:t>
            </a:r>
            <a:r>
              <a:rPr lang="en-US" altLang="en-US" sz="2000" i="1" dirty="0"/>
              <a:t>temperature in </a:t>
            </a:r>
            <a:r>
              <a:rPr lang="en-US" altLang="en-US" sz="2000" i="1" dirty="0" err="1"/>
              <a:t>C</a:t>
            </a:r>
            <a:r>
              <a:rPr lang="en-US" altLang="en-US" sz="2000" i="1" dirty="0" err="1">
                <a:ea typeface="Tahoma" charset="0"/>
                <a:cs typeface="Tahoma" charset="0"/>
              </a:rPr>
              <a:t>˚</a:t>
            </a:r>
            <a:r>
              <a:rPr lang="en-US" altLang="en-US" sz="2000" i="1" dirty="0" err="1"/>
              <a:t>or</a:t>
            </a:r>
            <a:r>
              <a:rPr lang="en-US" altLang="en-US" sz="2000" i="1" dirty="0"/>
              <a:t> F</a:t>
            </a:r>
            <a:r>
              <a:rPr lang="en-US" altLang="en-US" sz="2000" i="1" dirty="0">
                <a:ea typeface="Tahoma" charset="0"/>
                <a:cs typeface="Tahoma" charset="0"/>
              </a:rPr>
              <a:t>˚</a:t>
            </a:r>
            <a:r>
              <a:rPr lang="en-US" altLang="en-US" sz="2000" i="1" dirty="0"/>
              <a:t>, calendar dates</a:t>
            </a:r>
          </a:p>
          <a:p>
            <a:pPr marL="457200" indent="-393700">
              <a:lnSpc>
                <a:spcPct val="90000"/>
              </a:lnSpc>
            </a:pPr>
            <a:r>
              <a:rPr lang="en-US" altLang="en-US" sz="2000" dirty="0"/>
              <a:t>No true zero-point</a:t>
            </a:r>
          </a:p>
          <a:p>
            <a:pPr marL="457200" indent="-393700">
              <a:lnSpc>
                <a:spcPct val="90000"/>
              </a:lnSpc>
            </a:pPr>
            <a:r>
              <a:rPr lang="en-US" altLang="en-US" sz="2000" dirty="0"/>
              <a:t>Intangible</a:t>
            </a:r>
          </a:p>
          <a:p>
            <a:pPr marL="406400">
              <a:lnSpc>
                <a:spcPct val="90000"/>
              </a:lnSpc>
            </a:pPr>
            <a:r>
              <a:rPr lang="en-US" sz="2000" dirty="0">
                <a:solidFill>
                  <a:srgbClr val="292929"/>
                </a:solidFill>
                <a:latin typeface="charter"/>
              </a:rPr>
              <a:t>W</a:t>
            </a:r>
            <a:r>
              <a:rPr lang="en-US" sz="2000" b="0" i="0" dirty="0">
                <a:solidFill>
                  <a:srgbClr val="292929"/>
                </a:solidFill>
                <a:effectLst/>
                <a:latin typeface="charter"/>
              </a:rPr>
              <a:t>e can add and subtract, but we cannot multiply, divide or calculate ratios.</a:t>
            </a:r>
            <a:endParaRPr lang="en-US" altLang="en-US" sz="2000" dirty="0"/>
          </a:p>
          <a:p>
            <a:pPr marL="292100" indent="-292100">
              <a:lnSpc>
                <a:spcPct val="90000"/>
              </a:lnSpc>
            </a:pPr>
            <a:r>
              <a:rPr lang="en-US" altLang="en-US" sz="2400" b="1" dirty="0">
                <a:solidFill>
                  <a:srgbClr val="00B0F0"/>
                </a:solidFill>
              </a:rPr>
              <a:t>Ratio</a:t>
            </a:r>
          </a:p>
          <a:p>
            <a:pPr marL="457200" indent="-393700">
              <a:lnSpc>
                <a:spcPct val="90000"/>
              </a:lnSpc>
            </a:pPr>
            <a:r>
              <a:rPr lang="en-US" altLang="en-US" sz="2000" dirty="0"/>
              <a:t>Inherent </a:t>
            </a:r>
            <a:r>
              <a:rPr lang="en-US" altLang="en-US" sz="2000" b="1" dirty="0"/>
              <a:t>zero-point</a:t>
            </a:r>
          </a:p>
          <a:p>
            <a:pPr marL="457200" indent="-393700">
              <a:lnSpc>
                <a:spcPct val="90000"/>
              </a:lnSpc>
            </a:pPr>
            <a:r>
              <a:rPr lang="en-US" altLang="en-US" sz="2000" dirty="0"/>
              <a:t>tangible</a:t>
            </a:r>
          </a:p>
          <a:p>
            <a:pPr marL="457200" indent="-393700">
              <a:lnSpc>
                <a:spcPct val="90000"/>
              </a:lnSpc>
            </a:pPr>
            <a:r>
              <a:rPr lang="en-US" altLang="en-US" sz="2000" dirty="0"/>
              <a:t>We can speak of values as being an order of magnitude larger than the unit of measurement (10 K</a:t>
            </a:r>
            <a:r>
              <a:rPr lang="en-US" altLang="en-US" sz="2000" dirty="0">
                <a:ea typeface="Tahoma" charset="0"/>
                <a:cs typeface="Tahoma" charset="0"/>
              </a:rPr>
              <a:t>˚</a:t>
            </a:r>
            <a:r>
              <a:rPr lang="en-US" altLang="en-US" sz="2000" dirty="0"/>
              <a:t> is twice as high as 5 K</a:t>
            </a:r>
            <a:r>
              <a:rPr lang="en-US" altLang="en-US" sz="2000" dirty="0">
                <a:ea typeface="Tahoma" charset="0"/>
                <a:cs typeface="Tahoma" charset="0"/>
              </a:rPr>
              <a:t>˚</a:t>
            </a:r>
            <a:r>
              <a:rPr lang="en-US" altLang="en-US" sz="2000" dirty="0"/>
              <a:t>).</a:t>
            </a:r>
          </a:p>
          <a:p>
            <a:pPr marL="857250" lvl="1" indent="-393700">
              <a:lnSpc>
                <a:spcPct val="90000"/>
              </a:lnSpc>
            </a:pPr>
            <a:r>
              <a:rPr lang="en-US" altLang="en-US" sz="2000" dirty="0"/>
              <a:t>e.g., </a:t>
            </a:r>
            <a:r>
              <a:rPr lang="en-US" altLang="en-US" sz="2000" i="1" dirty="0"/>
              <a:t>temperature in Kelvin, length, counts, monetary quantities</a:t>
            </a:r>
          </a:p>
        </p:txBody>
      </p:sp>
    </p:spTree>
    <p:extLst>
      <p:ext uri="{BB962C8B-B14F-4D97-AF65-F5344CB8AC3E}">
        <p14:creationId xmlns:p14="http://schemas.microsoft.com/office/powerpoint/2010/main" val="35139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1000"/>
                                        <p:tgtEl>
                                          <p:spTgt spid="4">
                                            <p:txEl>
                                              <p:pRg st="7" end="7"/>
                                            </p:txEl>
                                          </p:spTgt>
                                        </p:tgtEl>
                                      </p:cBhvr>
                                    </p:animEffect>
                                    <p:anim calcmode="lin" valueType="num">
                                      <p:cBhvr>
                                        <p:cTn id="3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barn(inVertical)">
                                      <p:cBhvr>
                                        <p:cTn id="39" dur="500"/>
                                        <p:tgtEl>
                                          <p:spTgt spid="4">
                                            <p:txEl>
                                              <p:pRg st="8" end="8"/>
                                            </p:txEl>
                                          </p:spTgt>
                                        </p:tgtEl>
                                      </p:cBhvr>
                                    </p:animEffect>
                                  </p:childTnLst>
                                </p:cTn>
                              </p:par>
                              <p:par>
                                <p:cTn id="40" presetID="16" presetClass="entr" presetSubtype="21" fill="hold"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barn(inVertical)">
                                      <p:cBhvr>
                                        <p:cTn id="42" dur="500"/>
                                        <p:tgtEl>
                                          <p:spTgt spid="4">
                                            <p:txEl>
                                              <p:pRg st="9" end="9"/>
                                            </p:txEl>
                                          </p:spTgt>
                                        </p:tgtEl>
                                      </p:cBhvr>
                                    </p:animEffect>
                                  </p:childTnLst>
                                </p:cTn>
                              </p:par>
                              <p:par>
                                <p:cTn id="43" presetID="16" presetClass="entr" presetSubtype="21"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Effect transition="in" filter="barn(inVertical)">
                                      <p:cBhvr>
                                        <p:cTn id="45" dur="500"/>
                                        <p:tgtEl>
                                          <p:spTgt spid="4">
                                            <p:txEl>
                                              <p:pRg st="10" end="10"/>
                                            </p:txEl>
                                          </p:spTgt>
                                        </p:tgtEl>
                                      </p:cBhvr>
                                    </p:animEffect>
                                  </p:childTnLst>
                                </p:cTn>
                              </p:par>
                              <p:par>
                                <p:cTn id="46" presetID="16" presetClass="entr" presetSubtype="21" fill="hold" nodeType="withEffect">
                                  <p:stCondLst>
                                    <p:cond delay="0"/>
                                  </p:stCondLst>
                                  <p:childTnLst>
                                    <p:set>
                                      <p:cBhvr>
                                        <p:cTn id="47" dur="1" fill="hold">
                                          <p:stCondLst>
                                            <p:cond delay="0"/>
                                          </p:stCondLst>
                                        </p:cTn>
                                        <p:tgtEl>
                                          <p:spTgt spid="4">
                                            <p:txEl>
                                              <p:pRg st="11" end="11"/>
                                            </p:txEl>
                                          </p:spTgt>
                                        </p:tgtEl>
                                        <p:attrNameLst>
                                          <p:attrName>style.visibility</p:attrName>
                                        </p:attrNameLst>
                                      </p:cBhvr>
                                      <p:to>
                                        <p:strVal val="visible"/>
                                      </p:to>
                                    </p:set>
                                    <p:animEffect transition="in" filter="barn(inVertical)">
                                      <p:cBhvr>
                                        <p:cTn id="48" dur="500"/>
                                        <p:tgtEl>
                                          <p:spTgt spid="4">
                                            <p:txEl>
                                              <p:pRg st="11" end="11"/>
                                            </p:txEl>
                                          </p:spTgt>
                                        </p:tgtEl>
                                      </p:cBhvr>
                                    </p:animEffect>
                                  </p:childTnLst>
                                </p:cTn>
                              </p:par>
                              <p:par>
                                <p:cTn id="49" presetID="16" presetClass="entr" presetSubtype="21" fill="hold" nodeType="with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animEffect transition="in" filter="barn(inVertical)">
                                      <p:cBhvr>
                                        <p:cTn id="51"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7239000" y="6477000"/>
            <a:ext cx="1905000" cy="38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fld id="{8E170457-5F46-AB4B-BBFF-21D9CFE39D78}" type="slidenum">
              <a:rPr lang="en-US" altLang="en-US" sz="1200"/>
              <a:pPr eaLnBrk="1" hangingPunct="1"/>
              <a:t>21</a:t>
            </a:fld>
            <a:endParaRPr lang="en-US" altLang="en-US" sz="1200"/>
          </a:p>
        </p:txBody>
      </p:sp>
      <p:sp>
        <p:nvSpPr>
          <p:cNvPr id="3" name="Rectangle 2"/>
          <p:cNvSpPr txBox="1">
            <a:spLocks noChangeArrowheads="1"/>
          </p:cNvSpPr>
          <p:nvPr/>
        </p:nvSpPr>
        <p:spPr>
          <a:xfrm>
            <a:off x="381000" y="477985"/>
            <a:ext cx="8763000" cy="609600"/>
          </a:xfrm>
          <a:prstGeom prst="rect">
            <a:avLst/>
          </a:prstGeom>
        </p:spPr>
        <p:txBody>
          <a:bodyPr/>
          <a:lstStyle>
            <a:defPPr>
              <a:defRPr lang="en-US"/>
            </a:defPPr>
            <a:lvl1pPr algn="ctr" defTabSz="914400">
              <a:spcBef>
                <a:spcPct val="0"/>
              </a:spcBef>
              <a:buNone/>
              <a:defRPr sz="4400" b="1">
                <a:solidFill>
                  <a:srgbClr val="C00000"/>
                </a:solidFill>
                <a:latin typeface="+mj-lt"/>
                <a:ea typeface="+mj-ea"/>
                <a:cs typeface="+mj-cs"/>
              </a:defRPr>
            </a:lvl1pPr>
          </a:lstStyle>
          <a:p>
            <a:r>
              <a:rPr lang="en-US" sz="3600" dirty="0"/>
              <a:t>General Characteristics of Data Sets</a:t>
            </a:r>
            <a:endParaRPr lang="en-US" altLang="en-US" sz="3600" dirty="0"/>
          </a:p>
        </p:txBody>
      </p:sp>
      <p:sp>
        <p:nvSpPr>
          <p:cNvPr id="4" name="Rectangle 3"/>
          <p:cNvSpPr txBox="1">
            <a:spLocks noChangeArrowheads="1"/>
          </p:cNvSpPr>
          <p:nvPr/>
        </p:nvSpPr>
        <p:spPr>
          <a:xfrm>
            <a:off x="762000" y="1087585"/>
            <a:ext cx="7523018" cy="5257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92100" indent="-292100">
              <a:lnSpc>
                <a:spcPct val="90000"/>
              </a:lnSpc>
            </a:pPr>
            <a:r>
              <a:rPr lang="en-US" sz="2400" b="1" dirty="0">
                <a:solidFill>
                  <a:srgbClr val="00B0F0"/>
                </a:solidFill>
              </a:rPr>
              <a:t>Dimensionality</a:t>
            </a:r>
          </a:p>
          <a:p>
            <a:pPr marL="0" indent="0">
              <a:lnSpc>
                <a:spcPct val="90000"/>
              </a:lnSpc>
              <a:buNone/>
            </a:pPr>
            <a:r>
              <a:rPr lang="en-US" sz="2400" dirty="0"/>
              <a:t>The dimensionality of a data set is the number of attributes that the objects in the data set have.</a:t>
            </a:r>
          </a:p>
          <a:p>
            <a:pPr marL="400050" lvl="1" indent="0">
              <a:lnSpc>
                <a:spcPct val="90000"/>
              </a:lnSpc>
              <a:buNone/>
            </a:pPr>
            <a:r>
              <a:rPr lang="en-US" sz="2000" dirty="0"/>
              <a:t>In a particular data set if there are high number of attributes, then it can become difficult to analyze such a data set. This problem is referred as </a:t>
            </a:r>
            <a:r>
              <a:rPr lang="en-US" sz="2000" b="1" dirty="0">
                <a:solidFill>
                  <a:srgbClr val="C00000"/>
                </a:solidFill>
              </a:rPr>
              <a:t>Curse of Dimensionality.</a:t>
            </a:r>
            <a:endParaRPr lang="en-US" altLang="en-US" sz="2000" b="1" dirty="0">
              <a:solidFill>
                <a:srgbClr val="C00000"/>
              </a:solidFill>
            </a:endParaRPr>
          </a:p>
          <a:p>
            <a:pPr marL="292100" indent="-292100">
              <a:lnSpc>
                <a:spcPct val="90000"/>
              </a:lnSpc>
            </a:pPr>
            <a:r>
              <a:rPr lang="en-US" sz="2400" b="1" dirty="0">
                <a:solidFill>
                  <a:srgbClr val="00B0F0"/>
                </a:solidFill>
              </a:rPr>
              <a:t>Sparsity</a:t>
            </a:r>
          </a:p>
          <a:p>
            <a:pPr marL="0" indent="0">
              <a:lnSpc>
                <a:spcPct val="90000"/>
              </a:lnSpc>
              <a:buNone/>
            </a:pPr>
            <a:r>
              <a:rPr lang="en-US" sz="2400" dirty="0"/>
              <a:t>For some data sets, most attributes of an object have values of 0; in many cases fewer than 1% of the entries are non-zero. Such a data is called sparse data or it can be said that the data set has Sparsity.</a:t>
            </a:r>
          </a:p>
          <a:p>
            <a:pPr>
              <a:lnSpc>
                <a:spcPct val="90000"/>
              </a:lnSpc>
            </a:pPr>
            <a:r>
              <a:rPr lang="en-US" sz="2400" b="1" dirty="0">
                <a:solidFill>
                  <a:srgbClr val="00B0F0"/>
                </a:solidFill>
              </a:rPr>
              <a:t>Resolution</a:t>
            </a:r>
          </a:p>
          <a:p>
            <a:pPr marL="0" indent="0">
              <a:lnSpc>
                <a:spcPct val="90000"/>
              </a:lnSpc>
              <a:buNone/>
            </a:pPr>
            <a:r>
              <a:rPr lang="en-US" sz="2400" dirty="0"/>
              <a:t>Resolution is the smallest change that can be measured.</a:t>
            </a:r>
          </a:p>
          <a:p>
            <a:pPr marL="400050" lvl="1" indent="0">
              <a:lnSpc>
                <a:spcPct val="90000"/>
              </a:lnSpc>
              <a:buNone/>
            </a:pPr>
            <a:r>
              <a:rPr lang="en-US" sz="2000" dirty="0"/>
              <a:t>Finer resolution reduces rounding errors. However, resolution that is too coarse may add rounding errors.</a:t>
            </a:r>
          </a:p>
        </p:txBody>
      </p:sp>
    </p:spTree>
    <p:extLst>
      <p:ext uri="{BB962C8B-B14F-4D97-AF65-F5344CB8AC3E}">
        <p14:creationId xmlns:p14="http://schemas.microsoft.com/office/powerpoint/2010/main" val="202073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barn(inVertical)">
                                      <p:cBhvr>
                                        <p:cTn id="26" dur="500"/>
                                        <p:tgtEl>
                                          <p:spTgt spid="4">
                                            <p:txEl>
                                              <p:pRg st="5" end="5"/>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barn(inVertical)">
                                      <p:cBhvr>
                                        <p:cTn id="29" dur="500"/>
                                        <p:tgtEl>
                                          <p:spTgt spid="4">
                                            <p:txEl>
                                              <p:pRg st="6" end="6"/>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barn(inVertical)">
                                      <p:cBhvr>
                                        <p:cTn id="3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323" y="982133"/>
            <a:ext cx="7901354" cy="1303867"/>
          </a:xfrm>
        </p:spPr>
        <p:txBody>
          <a:bodyPr>
            <a:normAutofit fontScale="90000"/>
          </a:bodyPr>
          <a:lstStyle/>
          <a:p>
            <a:r>
              <a:rPr lang="en-US" dirty="0">
                <a:solidFill>
                  <a:srgbClr val="2929FF"/>
                </a:solidFill>
              </a:rPr>
              <a:t>Main Challenges of Machine Learning</a:t>
            </a:r>
          </a:p>
        </p:txBody>
      </p:sp>
      <p:sp>
        <p:nvSpPr>
          <p:cNvPr id="3" name="Content Placeholder 2"/>
          <p:cNvSpPr>
            <a:spLocks noGrp="1"/>
          </p:cNvSpPr>
          <p:nvPr>
            <p:ph idx="1"/>
          </p:nvPr>
        </p:nvSpPr>
        <p:spPr/>
        <p:txBody>
          <a:bodyPr>
            <a:normAutofit/>
          </a:bodyPr>
          <a:lstStyle/>
          <a:p>
            <a:r>
              <a:rPr lang="en-US" sz="2800" dirty="0"/>
              <a:t>In short, since your main task is to select a learning algorithm and train it on some data, </a:t>
            </a:r>
          </a:p>
          <a:p>
            <a:r>
              <a:rPr lang="en-US" sz="2800" dirty="0"/>
              <a:t>the two things that can go wrong are </a:t>
            </a:r>
            <a:r>
              <a:rPr lang="en-US" sz="2800" b="1" dirty="0">
                <a:solidFill>
                  <a:srgbClr val="FF0000"/>
                </a:solidFill>
              </a:rPr>
              <a:t>“bad algorithm”</a:t>
            </a:r>
            <a:r>
              <a:rPr lang="en-US" sz="2800" dirty="0"/>
              <a:t> and </a:t>
            </a:r>
            <a:r>
              <a:rPr lang="en-US" sz="2800" b="1" dirty="0">
                <a:solidFill>
                  <a:srgbClr val="FF0000"/>
                </a:solidFill>
              </a:rPr>
              <a:t>“bad data.”</a:t>
            </a:r>
            <a:r>
              <a:rPr lang="en-US" sz="2800" dirty="0"/>
              <a:t> </a:t>
            </a:r>
          </a:p>
          <a:p>
            <a:r>
              <a:rPr lang="en-US" sz="2800" dirty="0"/>
              <a:t>Let’s start with examples of bad data.</a:t>
            </a:r>
          </a:p>
        </p:txBody>
      </p:sp>
    </p:spTree>
    <p:extLst>
      <p:ext uri="{BB962C8B-B14F-4D97-AF65-F5344CB8AC3E}">
        <p14:creationId xmlns:p14="http://schemas.microsoft.com/office/powerpoint/2010/main" val="1076749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93" y="982133"/>
            <a:ext cx="8124092" cy="1303867"/>
          </a:xfrm>
        </p:spPr>
        <p:txBody>
          <a:bodyPr>
            <a:normAutofit fontScale="90000"/>
          </a:bodyPr>
          <a:lstStyle/>
          <a:p>
            <a:r>
              <a:rPr lang="en-US" dirty="0">
                <a:solidFill>
                  <a:srgbClr val="2929FF"/>
                </a:solidFill>
              </a:rPr>
              <a:t>Insufficient Quantity of Training Data</a:t>
            </a:r>
          </a:p>
        </p:txBody>
      </p:sp>
      <p:sp>
        <p:nvSpPr>
          <p:cNvPr id="3" name="Content Placeholder 2"/>
          <p:cNvSpPr>
            <a:spLocks noGrp="1"/>
          </p:cNvSpPr>
          <p:nvPr>
            <p:ph idx="1"/>
          </p:nvPr>
        </p:nvSpPr>
        <p:spPr/>
        <p:txBody>
          <a:bodyPr>
            <a:normAutofit/>
          </a:bodyPr>
          <a:lstStyle/>
          <a:p>
            <a:r>
              <a:rPr lang="en-US" dirty="0"/>
              <a:t>It takes a lot of data for most Machine Learning algorithms to work properly. </a:t>
            </a:r>
          </a:p>
          <a:p>
            <a:r>
              <a:rPr lang="en-US" dirty="0"/>
              <a:t>Even for very simple problems you typically need thousands of examples, and </a:t>
            </a:r>
          </a:p>
          <a:p>
            <a:r>
              <a:rPr lang="en-US" dirty="0"/>
              <a:t>For complex problems such as image or speech recognition you may need millions of examples (unless you can reuse parts of an existing model).</a:t>
            </a:r>
          </a:p>
        </p:txBody>
      </p:sp>
    </p:spTree>
    <p:extLst>
      <p:ext uri="{BB962C8B-B14F-4D97-AF65-F5344CB8AC3E}">
        <p14:creationId xmlns:p14="http://schemas.microsoft.com/office/powerpoint/2010/main" val="1218701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2929FF"/>
                </a:solidFill>
              </a:rPr>
              <a:t>Non-representative Training Data</a:t>
            </a:r>
          </a:p>
        </p:txBody>
      </p:sp>
      <p:sp>
        <p:nvSpPr>
          <p:cNvPr id="3" name="Content Placeholder 2"/>
          <p:cNvSpPr>
            <a:spLocks noGrp="1"/>
          </p:cNvSpPr>
          <p:nvPr>
            <p:ph idx="1"/>
          </p:nvPr>
        </p:nvSpPr>
        <p:spPr/>
        <p:txBody>
          <a:bodyPr>
            <a:normAutofit/>
          </a:bodyPr>
          <a:lstStyle/>
          <a:p>
            <a:r>
              <a:rPr lang="en-US" dirty="0"/>
              <a:t>In order to generalize well, it is crucial that your training data be representative of the new cases you want to generalize to</a:t>
            </a:r>
          </a:p>
          <a:p>
            <a:r>
              <a:rPr lang="en-US" dirty="0"/>
              <a:t>If the sample is too small, you will have </a:t>
            </a:r>
            <a:r>
              <a:rPr lang="en-US" b="1" i="1" dirty="0">
                <a:solidFill>
                  <a:srgbClr val="C00000"/>
                </a:solidFill>
              </a:rPr>
              <a:t>sampling noise </a:t>
            </a:r>
            <a:r>
              <a:rPr lang="en-US" dirty="0"/>
              <a:t>(i.e., </a:t>
            </a:r>
            <a:r>
              <a:rPr lang="en-US" dirty="0" err="1"/>
              <a:t>nonrepresentative</a:t>
            </a:r>
            <a:r>
              <a:rPr lang="en-US" dirty="0"/>
              <a:t> data as a result of chance), </a:t>
            </a:r>
          </a:p>
          <a:p>
            <a:r>
              <a:rPr lang="en-US" dirty="0"/>
              <a:t>But even very large samples can be non-representative if the sampling method is flawed. This is called </a:t>
            </a:r>
            <a:r>
              <a:rPr lang="en-US" b="1" i="1" dirty="0">
                <a:solidFill>
                  <a:srgbClr val="C00000"/>
                </a:solidFill>
              </a:rPr>
              <a:t>sampling bias.</a:t>
            </a:r>
          </a:p>
        </p:txBody>
      </p:sp>
    </p:spTree>
    <p:extLst>
      <p:ext uri="{BB962C8B-B14F-4D97-AF65-F5344CB8AC3E}">
        <p14:creationId xmlns:p14="http://schemas.microsoft.com/office/powerpoint/2010/main" val="72134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3" y="1298654"/>
            <a:ext cx="7200897" cy="1303867"/>
          </a:xfrm>
        </p:spPr>
        <p:txBody>
          <a:bodyPr/>
          <a:lstStyle/>
          <a:p>
            <a:r>
              <a:rPr lang="en-US" dirty="0">
                <a:solidFill>
                  <a:srgbClr val="2929FF"/>
                </a:solidFill>
              </a:rPr>
              <a:t>Poor-Quality Data</a:t>
            </a:r>
          </a:p>
        </p:txBody>
      </p:sp>
      <p:sp>
        <p:nvSpPr>
          <p:cNvPr id="3" name="Content Placeholder 2"/>
          <p:cNvSpPr>
            <a:spLocks noGrp="1"/>
          </p:cNvSpPr>
          <p:nvPr>
            <p:ph idx="1"/>
          </p:nvPr>
        </p:nvSpPr>
        <p:spPr>
          <a:xfrm>
            <a:off x="971552" y="2556932"/>
            <a:ext cx="7598017" cy="3318936"/>
          </a:xfrm>
        </p:spPr>
        <p:txBody>
          <a:bodyPr>
            <a:normAutofit fontScale="85000" lnSpcReduction="20000"/>
          </a:bodyPr>
          <a:lstStyle/>
          <a:p>
            <a:r>
              <a:rPr lang="en-US" dirty="0"/>
              <a:t>If training data is full of errors, outliers, and noise (e.g., due to poor quality measurements), it will make it harder for the system to detect the underlying patterns</a:t>
            </a:r>
          </a:p>
          <a:p>
            <a:r>
              <a:rPr lang="en-US" dirty="0"/>
              <a:t>Its well worth the effort to spend time cleaning up your training data. </a:t>
            </a:r>
          </a:p>
          <a:p>
            <a:r>
              <a:rPr lang="en-US" dirty="0"/>
              <a:t>If some instances are clearly outliers, it may help to simply discard them or try to fix the errors manually.</a:t>
            </a:r>
          </a:p>
          <a:p>
            <a:r>
              <a:rPr lang="en-US" dirty="0"/>
              <a:t>If some instances are missing a few features (e.g., 5% of your customers did not specify their age), you must decide whether you want to ignore this attribute altogether, ignore these instances, fill in the missing values (e.g., with the median age), or train one model with the feature and one model without it, and so on.</a:t>
            </a:r>
          </a:p>
        </p:txBody>
      </p:sp>
    </p:spTree>
    <p:extLst>
      <p:ext uri="{BB962C8B-B14F-4D97-AF65-F5344CB8AC3E}">
        <p14:creationId xmlns:p14="http://schemas.microsoft.com/office/powerpoint/2010/main" val="727674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929FF"/>
                </a:solidFill>
              </a:rPr>
              <a:t>Irrelevant Features</a:t>
            </a:r>
          </a:p>
        </p:txBody>
      </p:sp>
      <p:sp>
        <p:nvSpPr>
          <p:cNvPr id="3" name="Content Placeholder 2"/>
          <p:cNvSpPr>
            <a:spLocks noGrp="1"/>
          </p:cNvSpPr>
          <p:nvPr>
            <p:ph idx="1"/>
          </p:nvPr>
        </p:nvSpPr>
        <p:spPr/>
        <p:txBody>
          <a:bodyPr>
            <a:normAutofit fontScale="85000" lnSpcReduction="20000"/>
          </a:bodyPr>
          <a:lstStyle/>
          <a:p>
            <a:r>
              <a:rPr lang="en-US" dirty="0"/>
              <a:t>Your system will only be capable of learning if the training data contains enough relevant features and not too many irrelevant ones. </a:t>
            </a:r>
          </a:p>
          <a:p>
            <a:r>
              <a:rPr lang="en-US" dirty="0"/>
              <a:t>A critical part of the success of a Machine Learning project is coming up with a good set of features to train on. This process, called </a:t>
            </a:r>
            <a:r>
              <a:rPr lang="en-US" i="1" dirty="0"/>
              <a:t>feature engineering</a:t>
            </a:r>
            <a:r>
              <a:rPr lang="en-US" dirty="0"/>
              <a:t>,</a:t>
            </a:r>
          </a:p>
          <a:p>
            <a:r>
              <a:rPr lang="en-US" b="1" i="1" dirty="0">
                <a:solidFill>
                  <a:srgbClr val="C00000"/>
                </a:solidFill>
              </a:rPr>
              <a:t>Feature selection </a:t>
            </a:r>
            <a:r>
              <a:rPr lang="en-US" b="1" dirty="0">
                <a:solidFill>
                  <a:srgbClr val="C00000"/>
                </a:solidFill>
              </a:rPr>
              <a:t>: </a:t>
            </a:r>
            <a:r>
              <a:rPr lang="en-US" dirty="0"/>
              <a:t>selecting the most useful features to train on among existing features.</a:t>
            </a:r>
          </a:p>
          <a:p>
            <a:r>
              <a:rPr lang="en-US" b="1" i="1" dirty="0">
                <a:solidFill>
                  <a:srgbClr val="C00000"/>
                </a:solidFill>
              </a:rPr>
              <a:t>Feature extraction : </a:t>
            </a:r>
            <a:r>
              <a:rPr lang="en-US" dirty="0"/>
              <a:t>combining existing features to produce a more useful one (dimensionality reduction algorithms can help).</a:t>
            </a:r>
          </a:p>
          <a:p>
            <a:r>
              <a:rPr lang="en-US" dirty="0"/>
              <a:t>Creating new features by gathering new data.</a:t>
            </a:r>
          </a:p>
        </p:txBody>
      </p:sp>
    </p:spTree>
    <p:extLst>
      <p:ext uri="{BB962C8B-B14F-4D97-AF65-F5344CB8AC3E}">
        <p14:creationId xmlns:p14="http://schemas.microsoft.com/office/powerpoint/2010/main" val="1482029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solidFill>
                  <a:srgbClr val="2929FF"/>
                </a:solidFill>
              </a:rPr>
              <a:t>Overfitting</a:t>
            </a:r>
            <a:r>
              <a:rPr lang="en-US" dirty="0">
                <a:solidFill>
                  <a:srgbClr val="2929FF"/>
                </a:solidFill>
              </a:rPr>
              <a:t> the Training Data</a:t>
            </a:r>
          </a:p>
        </p:txBody>
      </p:sp>
      <p:sp>
        <p:nvSpPr>
          <p:cNvPr id="3" name="Content Placeholder 2"/>
          <p:cNvSpPr>
            <a:spLocks noGrp="1"/>
          </p:cNvSpPr>
          <p:nvPr>
            <p:ph idx="1"/>
          </p:nvPr>
        </p:nvSpPr>
        <p:spPr/>
        <p:txBody>
          <a:bodyPr>
            <a:normAutofit fontScale="92500"/>
          </a:bodyPr>
          <a:lstStyle/>
          <a:p>
            <a:r>
              <a:rPr lang="en-US" dirty="0"/>
              <a:t>Say you are visiting a foreign country and the taxi driver rips you off. You might be tempted to say that </a:t>
            </a:r>
            <a:r>
              <a:rPr lang="en-US" i="1" dirty="0"/>
              <a:t>all </a:t>
            </a:r>
            <a:r>
              <a:rPr lang="en-US" dirty="0"/>
              <a:t>taxi drivers in that country are thieves. Overgeneralizing is something that we humans do all too often, and unfortunately machines can fall into the same trap if we are not careful. </a:t>
            </a:r>
          </a:p>
          <a:p>
            <a:r>
              <a:rPr lang="en-US" dirty="0"/>
              <a:t>In Machine Learning this is called </a:t>
            </a:r>
            <a:r>
              <a:rPr lang="en-US" i="1" dirty="0" err="1"/>
              <a:t>overfitting</a:t>
            </a:r>
            <a:r>
              <a:rPr lang="en-US" dirty="0"/>
              <a:t>: </a:t>
            </a:r>
          </a:p>
          <a:p>
            <a:r>
              <a:rPr lang="en-US" dirty="0"/>
              <a:t>It means that the model performs well on the training data, but it does not generalize well</a:t>
            </a:r>
          </a:p>
        </p:txBody>
      </p:sp>
    </p:spTree>
    <p:extLst>
      <p:ext uri="{BB962C8B-B14F-4D97-AF65-F5344CB8AC3E}">
        <p14:creationId xmlns:p14="http://schemas.microsoft.com/office/powerpoint/2010/main" val="4254022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3" y="1230923"/>
            <a:ext cx="7200897" cy="1055077"/>
          </a:xfrm>
        </p:spPr>
        <p:txBody>
          <a:bodyPr>
            <a:normAutofit/>
          </a:bodyPr>
          <a:lstStyle/>
          <a:p>
            <a:r>
              <a:rPr lang="en-US" dirty="0" err="1">
                <a:solidFill>
                  <a:srgbClr val="2929FF"/>
                </a:solidFill>
              </a:rPr>
              <a:t>Overfitting</a:t>
            </a:r>
            <a:r>
              <a:rPr lang="en-US" dirty="0">
                <a:solidFill>
                  <a:srgbClr val="2929FF"/>
                </a:solidFill>
              </a:rPr>
              <a:t> the Training Data</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887" y="2347718"/>
            <a:ext cx="8082865" cy="3795173"/>
          </a:xfrm>
          <a:prstGeom prst="rect">
            <a:avLst/>
          </a:prstGeom>
        </p:spPr>
      </p:pic>
    </p:spTree>
    <p:extLst>
      <p:ext uri="{BB962C8B-B14F-4D97-AF65-F5344CB8AC3E}">
        <p14:creationId xmlns:p14="http://schemas.microsoft.com/office/powerpoint/2010/main" val="1858504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985" y="2556932"/>
            <a:ext cx="8147537" cy="3318936"/>
          </a:xfrm>
        </p:spPr>
        <p:txBody>
          <a:bodyPr>
            <a:noAutofit/>
          </a:bodyPr>
          <a:lstStyle/>
          <a:p>
            <a:r>
              <a:rPr lang="en-US" dirty="0" err="1"/>
              <a:t>Overfitting</a:t>
            </a:r>
            <a:r>
              <a:rPr lang="en-US" dirty="0"/>
              <a:t> happens when the model is too complex relative to the amount and noisiness of the training data. The possible solutions are:</a:t>
            </a:r>
          </a:p>
          <a:p>
            <a:r>
              <a:rPr lang="en-US" dirty="0"/>
              <a:t>To simplify the model by selecting one with fewer parameters (e.g., a linear model rather than a high-degree polynomial model), by reducing the number of attributes in the training data </a:t>
            </a:r>
          </a:p>
          <a:p>
            <a:r>
              <a:rPr lang="en-US" dirty="0"/>
              <a:t>Or by constraining the model</a:t>
            </a:r>
          </a:p>
          <a:p>
            <a:r>
              <a:rPr lang="en-US" dirty="0"/>
              <a:t>To gather more training data</a:t>
            </a:r>
          </a:p>
          <a:p>
            <a:r>
              <a:rPr lang="en-US" dirty="0"/>
              <a:t>To reduce the noise in the training data (e.g., fix data errors and remove outliers)</a:t>
            </a:r>
          </a:p>
        </p:txBody>
      </p:sp>
      <p:sp>
        <p:nvSpPr>
          <p:cNvPr id="4" name="Title 1"/>
          <p:cNvSpPr>
            <a:spLocks noGrp="1"/>
          </p:cNvSpPr>
          <p:nvPr>
            <p:ph type="title"/>
          </p:nvPr>
        </p:nvSpPr>
        <p:spPr>
          <a:xfrm>
            <a:off x="971553" y="1230923"/>
            <a:ext cx="7200897" cy="1055077"/>
          </a:xfrm>
        </p:spPr>
        <p:txBody>
          <a:bodyPr>
            <a:normAutofit/>
          </a:bodyPr>
          <a:lstStyle/>
          <a:p>
            <a:r>
              <a:rPr lang="en-US" dirty="0" err="1">
                <a:solidFill>
                  <a:srgbClr val="2929FF"/>
                </a:solidFill>
              </a:rPr>
              <a:t>Overfitting</a:t>
            </a:r>
            <a:r>
              <a:rPr lang="en-US" dirty="0">
                <a:solidFill>
                  <a:srgbClr val="2929FF"/>
                </a:solidFill>
              </a:rPr>
              <a:t> the Training Data</a:t>
            </a:r>
          </a:p>
        </p:txBody>
      </p:sp>
    </p:spTree>
    <p:extLst>
      <p:ext uri="{BB962C8B-B14F-4D97-AF65-F5344CB8AC3E}">
        <p14:creationId xmlns:p14="http://schemas.microsoft.com/office/powerpoint/2010/main" val="1955384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2929FF"/>
                </a:solidFill>
              </a:rPr>
              <a:t>Underfitting</a:t>
            </a:r>
            <a:r>
              <a:rPr lang="en-US" dirty="0">
                <a:solidFill>
                  <a:srgbClr val="2929FF"/>
                </a:solidFill>
              </a:rPr>
              <a:t> the Training Data</a:t>
            </a:r>
          </a:p>
        </p:txBody>
      </p:sp>
      <p:sp>
        <p:nvSpPr>
          <p:cNvPr id="3" name="Content Placeholder 2"/>
          <p:cNvSpPr>
            <a:spLocks noGrp="1"/>
          </p:cNvSpPr>
          <p:nvPr>
            <p:ph idx="1"/>
          </p:nvPr>
        </p:nvSpPr>
        <p:spPr/>
        <p:txBody>
          <a:bodyPr>
            <a:normAutofit/>
          </a:bodyPr>
          <a:lstStyle/>
          <a:p>
            <a:r>
              <a:rPr lang="en-US" dirty="0"/>
              <a:t>As you might guess, </a:t>
            </a:r>
            <a:r>
              <a:rPr lang="en-US" i="1" dirty="0" err="1"/>
              <a:t>underfitting</a:t>
            </a:r>
            <a:r>
              <a:rPr lang="en-US" i="1" dirty="0"/>
              <a:t> </a:t>
            </a:r>
            <a:r>
              <a:rPr lang="en-US" dirty="0"/>
              <a:t>is the opposite of </a:t>
            </a:r>
            <a:r>
              <a:rPr lang="en-US" dirty="0" err="1"/>
              <a:t>overfitting</a:t>
            </a:r>
            <a:r>
              <a:rPr lang="en-US" dirty="0"/>
              <a:t>: it occurs when your model is too simple to learn the underlying structure of the data. </a:t>
            </a:r>
          </a:p>
          <a:p>
            <a:r>
              <a:rPr lang="en-US" dirty="0"/>
              <a:t>For example, a linear model of life satisfaction is prone to </a:t>
            </a:r>
            <a:r>
              <a:rPr lang="en-US" dirty="0" err="1"/>
              <a:t>underfit</a:t>
            </a:r>
            <a:r>
              <a:rPr lang="en-US" dirty="0"/>
              <a:t>; reality is just more complex than the model, so its predictions are bound to be inaccurate, even on the training examples.</a:t>
            </a:r>
          </a:p>
        </p:txBody>
      </p:sp>
    </p:spTree>
    <p:extLst>
      <p:ext uri="{BB962C8B-B14F-4D97-AF65-F5344CB8AC3E}">
        <p14:creationId xmlns:p14="http://schemas.microsoft.com/office/powerpoint/2010/main" val="362321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2929FF"/>
                </a:solidFill>
              </a:rPr>
              <a:t>Underfitting</a:t>
            </a:r>
            <a:r>
              <a:rPr lang="en-US" dirty="0">
                <a:solidFill>
                  <a:srgbClr val="2929FF"/>
                </a:solidFill>
              </a:rPr>
              <a:t> the Training Data</a:t>
            </a:r>
          </a:p>
        </p:txBody>
      </p:sp>
      <p:sp>
        <p:nvSpPr>
          <p:cNvPr id="3" name="Content Placeholder 2"/>
          <p:cNvSpPr>
            <a:spLocks noGrp="1"/>
          </p:cNvSpPr>
          <p:nvPr>
            <p:ph idx="1"/>
          </p:nvPr>
        </p:nvSpPr>
        <p:spPr/>
        <p:txBody>
          <a:bodyPr>
            <a:normAutofit/>
          </a:bodyPr>
          <a:lstStyle/>
          <a:p>
            <a:pPr marL="0" indent="0">
              <a:buNone/>
            </a:pPr>
            <a:r>
              <a:rPr lang="en-US" dirty="0"/>
              <a:t>The main options to fix this problem are:</a:t>
            </a:r>
          </a:p>
          <a:p>
            <a:r>
              <a:rPr lang="en-US" dirty="0"/>
              <a:t>Selecting a more powerful model, with more parameters</a:t>
            </a:r>
          </a:p>
          <a:p>
            <a:r>
              <a:rPr lang="en-US" dirty="0"/>
              <a:t>Feeding better features to the learning algorithm (feature engineering)</a:t>
            </a:r>
          </a:p>
          <a:p>
            <a:r>
              <a:rPr lang="en-US" dirty="0"/>
              <a:t>Reducing the constraints on the model (e.g., reducing the regularization </a:t>
            </a:r>
            <a:r>
              <a:rPr lang="en-US" dirty="0" err="1"/>
              <a:t>hyperparameter</a:t>
            </a:r>
            <a:r>
              <a:rPr lang="en-US" dirty="0"/>
              <a:t>)</a:t>
            </a:r>
          </a:p>
        </p:txBody>
      </p:sp>
    </p:spTree>
    <p:extLst>
      <p:ext uri="{BB962C8B-B14F-4D97-AF65-F5344CB8AC3E}">
        <p14:creationId xmlns:p14="http://schemas.microsoft.com/office/powerpoint/2010/main" val="362321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63EF7A-E1C6-4077-A38D-EDA5D6E26BEA}"/>
              </a:ext>
            </a:extLst>
          </p:cNvPr>
          <p:cNvSpPr>
            <a:spLocks noGrp="1"/>
          </p:cNvSpPr>
          <p:nvPr>
            <p:ph type="title"/>
          </p:nvPr>
        </p:nvSpPr>
        <p:spPr/>
        <p:txBody>
          <a:bodyPr>
            <a:prstTxWarp prst="textChevron">
              <a:avLst/>
            </a:prstTxWarp>
          </a:bodyPr>
          <a:lstStyle/>
          <a:p>
            <a:r>
              <a:rPr lang="en-US" dirty="0">
                <a:ln w="0"/>
                <a:solidFill>
                  <a:schemeClr val="tx1"/>
                </a:solidFill>
                <a:effectLst>
                  <a:outerShdw blurRad="38100" dist="19050" dir="2700000" algn="tl" rotWithShape="0">
                    <a:schemeClr val="dk1">
                      <a:alpha val="40000"/>
                    </a:schemeClr>
                  </a:outerShdw>
                </a:effectLst>
              </a:rPr>
              <a:t>Supervised  Machine  Learning</a:t>
            </a:r>
          </a:p>
        </p:txBody>
      </p:sp>
    </p:spTree>
    <p:extLst>
      <p:ext uri="{BB962C8B-B14F-4D97-AF65-F5344CB8AC3E}">
        <p14:creationId xmlns:p14="http://schemas.microsoft.com/office/powerpoint/2010/main" val="1300908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43491" y="533400"/>
            <a:ext cx="7586160" cy="1143000"/>
          </a:xfrm>
        </p:spPr>
        <p:txBody>
          <a:bodyPr>
            <a:normAutofit fontScale="90000"/>
          </a:bodyPr>
          <a:lstStyle/>
          <a:p>
            <a:r>
              <a:rPr lang="en-US" sz="5400"/>
              <a:t>Inductive Machine Learning Process …</a:t>
            </a:r>
          </a:p>
        </p:txBody>
      </p:sp>
      <p:sp>
        <p:nvSpPr>
          <p:cNvPr id="5" name="Rounded Rectangle 4"/>
          <p:cNvSpPr/>
          <p:nvPr/>
        </p:nvSpPr>
        <p:spPr>
          <a:xfrm>
            <a:off x="-57150" y="1981200"/>
            <a:ext cx="2103422"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C00000"/>
                </a:solidFill>
              </a:rPr>
              <a:t>Preparation of </a:t>
            </a:r>
            <a:r>
              <a:rPr lang="en-US" sz="2400" b="1">
                <a:solidFill>
                  <a:srgbClr val="0070C0"/>
                </a:solidFill>
              </a:rPr>
              <a:t>Training Data</a:t>
            </a:r>
          </a:p>
        </p:txBody>
      </p:sp>
      <p:sp>
        <p:nvSpPr>
          <p:cNvPr id="6" name="Right Arrow 5"/>
          <p:cNvSpPr/>
          <p:nvPr/>
        </p:nvSpPr>
        <p:spPr>
          <a:xfrm>
            <a:off x="2046271" y="2990851"/>
            <a:ext cx="625341"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ounded Rectangle 6"/>
          <p:cNvSpPr/>
          <p:nvPr/>
        </p:nvSpPr>
        <p:spPr>
          <a:xfrm>
            <a:off x="2671613" y="1981200"/>
            <a:ext cx="1900388"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Learning Scheme OR</a:t>
            </a:r>
          </a:p>
          <a:p>
            <a:pPr algn="ctr"/>
            <a:r>
              <a:rPr lang="en-US" sz="2400" dirty="0">
                <a:solidFill>
                  <a:srgbClr val="C00000"/>
                </a:solidFill>
              </a:rPr>
              <a:t>Learning Algorithm</a:t>
            </a:r>
          </a:p>
        </p:txBody>
      </p:sp>
      <p:sp>
        <p:nvSpPr>
          <p:cNvPr id="8" name="Rounded Rectangle 7"/>
          <p:cNvSpPr/>
          <p:nvPr/>
        </p:nvSpPr>
        <p:spPr>
          <a:xfrm>
            <a:off x="5143500" y="1981200"/>
            <a:ext cx="1280160"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Trained Model</a:t>
            </a:r>
          </a:p>
        </p:txBody>
      </p:sp>
      <p:sp>
        <p:nvSpPr>
          <p:cNvPr id="9" name="Right Arrow 8"/>
          <p:cNvSpPr/>
          <p:nvPr/>
        </p:nvSpPr>
        <p:spPr>
          <a:xfrm>
            <a:off x="4575310" y="3048001"/>
            <a:ext cx="568191"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Right Arrow 12"/>
          <p:cNvSpPr/>
          <p:nvPr/>
        </p:nvSpPr>
        <p:spPr>
          <a:xfrm>
            <a:off x="6500812" y="2990851"/>
            <a:ext cx="555499" cy="647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Rounded Rectangle 13"/>
          <p:cNvSpPr/>
          <p:nvPr/>
        </p:nvSpPr>
        <p:spPr>
          <a:xfrm>
            <a:off x="7118032" y="1981200"/>
            <a:ext cx="2083118"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Testing and Evaluation</a:t>
            </a:r>
          </a:p>
          <a:p>
            <a:pPr algn="ctr"/>
            <a:r>
              <a:rPr lang="en-US" sz="2400" dirty="0">
                <a:solidFill>
                  <a:srgbClr val="C00000"/>
                </a:solidFill>
              </a:rPr>
              <a:t>Test Data</a:t>
            </a:r>
          </a:p>
        </p:txBody>
      </p:sp>
      <p:sp>
        <p:nvSpPr>
          <p:cNvPr id="15" name="Rounded Rectangle 7">
            <a:extLst>
              <a:ext uri="{FF2B5EF4-FFF2-40B4-BE49-F238E27FC236}">
                <a16:creationId xmlns:a16="http://schemas.microsoft.com/office/drawing/2014/main" id="{312C7925-F35B-4D4F-A43D-1E74049A1337}"/>
              </a:ext>
            </a:extLst>
          </p:cNvPr>
          <p:cNvSpPr/>
          <p:nvPr/>
        </p:nvSpPr>
        <p:spPr>
          <a:xfrm>
            <a:off x="3886200" y="4800600"/>
            <a:ext cx="2914651" cy="20003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Deploy Trained &amp; Tested Model in Domain</a:t>
            </a:r>
          </a:p>
        </p:txBody>
      </p:sp>
      <p:sp>
        <p:nvSpPr>
          <p:cNvPr id="17" name="Arrow: Bent-Up 16">
            <a:extLst>
              <a:ext uri="{FF2B5EF4-FFF2-40B4-BE49-F238E27FC236}">
                <a16:creationId xmlns:a16="http://schemas.microsoft.com/office/drawing/2014/main" id="{6D2AEB14-B883-4D98-8618-63190B89759B}"/>
              </a:ext>
            </a:extLst>
          </p:cNvPr>
          <p:cNvSpPr/>
          <p:nvPr/>
        </p:nvSpPr>
        <p:spPr>
          <a:xfrm rot="16200000" flipH="1">
            <a:off x="7229475" y="4143378"/>
            <a:ext cx="1143003" cy="2000251"/>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482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inVertical)">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barn(inVertical)">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barn(inVertical)">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3" grpId="0" animBg="1"/>
      <p:bldP spid="14" grpId="0" animBg="1"/>
      <p:bldP spid="15"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91440" tIns="45720" rIns="91440" bIns="45720" rtlCol="0" anchor="b">
            <a:normAutofit/>
          </a:bodyPr>
          <a:lstStyle/>
          <a:p>
            <a:r>
              <a:rPr lang="en-US" sz="4800" b="1">
                <a:solidFill>
                  <a:srgbClr val="0070C0"/>
                </a:solidFill>
              </a:rPr>
              <a:t>Deployed Model…</a:t>
            </a:r>
          </a:p>
        </p:txBody>
      </p:sp>
      <p:sp>
        <p:nvSpPr>
          <p:cNvPr id="5" name="Rounded Rectangle 4"/>
          <p:cNvSpPr/>
          <p:nvPr/>
        </p:nvSpPr>
        <p:spPr>
          <a:xfrm>
            <a:off x="514352" y="2590800"/>
            <a:ext cx="2400300"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rgbClr val="0070C0"/>
                </a:solidFill>
              </a:rPr>
              <a:t>New/ Unknown Instance</a:t>
            </a:r>
          </a:p>
        </p:txBody>
      </p:sp>
      <p:sp>
        <p:nvSpPr>
          <p:cNvPr id="6" name="Right Arrow 5"/>
          <p:cNvSpPr/>
          <p:nvPr/>
        </p:nvSpPr>
        <p:spPr>
          <a:xfrm>
            <a:off x="2914651" y="3600450"/>
            <a:ext cx="685800" cy="647700"/>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0070C0"/>
              </a:solidFill>
            </a:endParaRPr>
          </a:p>
        </p:txBody>
      </p:sp>
      <p:sp>
        <p:nvSpPr>
          <p:cNvPr id="7" name="Rounded Rectangle 6"/>
          <p:cNvSpPr/>
          <p:nvPr/>
        </p:nvSpPr>
        <p:spPr>
          <a:xfrm>
            <a:off x="3600452" y="2590800"/>
            <a:ext cx="1714500"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rgbClr val="0070C0"/>
                </a:solidFill>
              </a:rPr>
              <a:t>ML Model</a:t>
            </a:r>
          </a:p>
        </p:txBody>
      </p:sp>
      <p:sp>
        <p:nvSpPr>
          <p:cNvPr id="8" name="Rounded Rectangle 7"/>
          <p:cNvSpPr/>
          <p:nvPr/>
        </p:nvSpPr>
        <p:spPr>
          <a:xfrm>
            <a:off x="6000752" y="2590800"/>
            <a:ext cx="2171700" cy="26099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rgbClr val="0070C0"/>
                </a:solidFill>
              </a:rPr>
              <a:t>Result/ Prediction</a:t>
            </a:r>
          </a:p>
        </p:txBody>
      </p:sp>
      <p:sp>
        <p:nvSpPr>
          <p:cNvPr id="9" name="Right Arrow 8"/>
          <p:cNvSpPr/>
          <p:nvPr/>
        </p:nvSpPr>
        <p:spPr>
          <a:xfrm>
            <a:off x="5314951" y="3657600"/>
            <a:ext cx="685800" cy="647700"/>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0070C0"/>
              </a:solidFill>
            </a:endParaRPr>
          </a:p>
        </p:txBody>
      </p:sp>
    </p:spTree>
    <p:extLst>
      <p:ext uri="{BB962C8B-B14F-4D97-AF65-F5344CB8AC3E}">
        <p14:creationId xmlns:p14="http://schemas.microsoft.com/office/powerpoint/2010/main" val="276860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43491" y="609600"/>
            <a:ext cx="7024744" cy="990600"/>
          </a:xfrm>
        </p:spPr>
        <p:txBody>
          <a:bodyPr>
            <a:normAutofit fontScale="90000"/>
          </a:bodyPr>
          <a:lstStyle/>
          <a:p>
            <a:r>
              <a:rPr lang="en-US" sz="4800" b="1">
                <a:solidFill>
                  <a:srgbClr val="0070C0"/>
                </a:solidFill>
              </a:rPr>
              <a:t>Supervised Machine Learning Types</a:t>
            </a:r>
          </a:p>
        </p:txBody>
      </p:sp>
      <p:sp>
        <p:nvSpPr>
          <p:cNvPr id="4" name="Content Placeholder 3"/>
          <p:cNvSpPr>
            <a:spLocks noGrp="1"/>
          </p:cNvSpPr>
          <p:nvPr>
            <p:ph idx="1"/>
          </p:nvPr>
        </p:nvSpPr>
        <p:spPr>
          <a:xfrm>
            <a:off x="1043493" y="1752601"/>
            <a:ext cx="6777317" cy="2438400"/>
          </a:xfrm>
        </p:spPr>
        <p:txBody>
          <a:bodyPr>
            <a:noAutofit/>
          </a:bodyPr>
          <a:lstStyle/>
          <a:p>
            <a:pPr marL="68580" indent="0">
              <a:buNone/>
            </a:pPr>
            <a:r>
              <a:rPr lang="en-US" sz="3200">
                <a:solidFill>
                  <a:srgbClr val="C00000"/>
                </a:solidFill>
              </a:rPr>
              <a:t>Types Supervised Machine Learning</a:t>
            </a:r>
            <a:r>
              <a:rPr lang="en-US" sz="3200"/>
              <a:t> </a:t>
            </a:r>
          </a:p>
          <a:p>
            <a:r>
              <a:rPr lang="en-US" sz="3200"/>
              <a:t>Classification</a:t>
            </a:r>
          </a:p>
          <a:p>
            <a:r>
              <a:rPr lang="en-US" sz="3200"/>
              <a:t>Association</a:t>
            </a:r>
          </a:p>
          <a:p>
            <a:r>
              <a:rPr lang="en-US" sz="3200"/>
              <a:t>Regression \ Numeric Prediction</a:t>
            </a:r>
          </a:p>
          <a:p>
            <a:pPr marL="68580" indent="0">
              <a:buNone/>
            </a:pPr>
            <a:r>
              <a:rPr lang="en-US" sz="3200">
                <a:solidFill>
                  <a:srgbClr val="C00000"/>
                </a:solidFill>
              </a:rPr>
              <a:t>Also Known as Predictive Learning</a:t>
            </a:r>
          </a:p>
          <a:p>
            <a:endParaRPr lang="en-US" sz="3200"/>
          </a:p>
          <a:p>
            <a:endParaRPr lang="en-US" sz="3200"/>
          </a:p>
        </p:txBody>
      </p:sp>
    </p:spTree>
    <p:extLst>
      <p:ext uri="{BB962C8B-B14F-4D97-AF65-F5344CB8AC3E}">
        <p14:creationId xmlns:p14="http://schemas.microsoft.com/office/powerpoint/2010/main" val="150360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43491" y="609600"/>
            <a:ext cx="7024744" cy="990600"/>
          </a:xfrm>
        </p:spPr>
        <p:txBody>
          <a:bodyPr>
            <a:normAutofit fontScale="90000"/>
          </a:bodyPr>
          <a:lstStyle/>
          <a:p>
            <a:r>
              <a:rPr lang="en-US" sz="4800" b="1">
                <a:solidFill>
                  <a:srgbClr val="0070C0"/>
                </a:solidFill>
              </a:rPr>
              <a:t>Supervised Machine Learning Types</a:t>
            </a:r>
          </a:p>
        </p:txBody>
      </p:sp>
      <p:sp>
        <p:nvSpPr>
          <p:cNvPr id="4" name="Content Placeholder 3"/>
          <p:cNvSpPr>
            <a:spLocks noGrp="1"/>
          </p:cNvSpPr>
          <p:nvPr>
            <p:ph idx="1"/>
          </p:nvPr>
        </p:nvSpPr>
        <p:spPr>
          <a:xfrm>
            <a:off x="1043493" y="1752601"/>
            <a:ext cx="6777317" cy="2438400"/>
          </a:xfrm>
        </p:spPr>
        <p:txBody>
          <a:bodyPr>
            <a:noAutofit/>
          </a:bodyPr>
          <a:lstStyle/>
          <a:p>
            <a:pPr marL="68580" indent="0">
              <a:buNone/>
            </a:pPr>
            <a:r>
              <a:rPr lang="en-US" sz="3200" dirty="0">
                <a:solidFill>
                  <a:srgbClr val="C00000"/>
                </a:solidFill>
              </a:rPr>
              <a:t>Types Supervised Machine Learning</a:t>
            </a:r>
            <a:r>
              <a:rPr lang="en-US" sz="3200" dirty="0"/>
              <a:t> </a:t>
            </a:r>
          </a:p>
          <a:p>
            <a:r>
              <a:rPr lang="en-US" sz="3200" dirty="0"/>
              <a:t>Classification</a:t>
            </a:r>
          </a:p>
          <a:p>
            <a:r>
              <a:rPr lang="en-US" sz="3200" dirty="0"/>
              <a:t>Regression \ Numeric Prediction</a:t>
            </a:r>
          </a:p>
          <a:p>
            <a:pPr marL="68580" indent="0">
              <a:buNone/>
            </a:pPr>
            <a:r>
              <a:rPr lang="en-US" sz="3200" dirty="0">
                <a:solidFill>
                  <a:srgbClr val="C00000"/>
                </a:solidFill>
              </a:rPr>
              <a:t>Also Known as Predictive Learning</a:t>
            </a:r>
          </a:p>
          <a:p>
            <a:endParaRPr lang="en-US" sz="3200" dirty="0"/>
          </a:p>
          <a:p>
            <a:endParaRPr lang="en-US" sz="3200" dirty="0"/>
          </a:p>
        </p:txBody>
      </p:sp>
    </p:spTree>
    <p:extLst>
      <p:ext uri="{BB962C8B-B14F-4D97-AF65-F5344CB8AC3E}">
        <p14:creationId xmlns:p14="http://schemas.microsoft.com/office/powerpoint/2010/main" val="393823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4800" b="1">
                <a:solidFill>
                  <a:srgbClr val="0070C0"/>
                </a:solidFill>
              </a:rPr>
              <a:t>Classification Learning</a:t>
            </a:r>
          </a:p>
        </p:txBody>
      </p:sp>
      <p:sp>
        <p:nvSpPr>
          <p:cNvPr id="3" name="Content Placeholder 2"/>
          <p:cNvSpPr>
            <a:spLocks noGrp="1"/>
          </p:cNvSpPr>
          <p:nvPr>
            <p:ph idx="1"/>
          </p:nvPr>
        </p:nvSpPr>
        <p:spPr/>
        <p:txBody>
          <a:bodyPr>
            <a:normAutofit fontScale="85000" lnSpcReduction="20000"/>
          </a:bodyPr>
          <a:lstStyle/>
          <a:p>
            <a:r>
              <a:rPr lang="en-US" sz="3200" dirty="0"/>
              <a:t>Supervised Learning</a:t>
            </a:r>
          </a:p>
          <a:p>
            <a:r>
              <a:rPr lang="en-US" sz="3200" dirty="0"/>
              <a:t>Prediction Belongs to one of </a:t>
            </a:r>
            <a:r>
              <a:rPr lang="en-US" sz="3200" b="1" dirty="0">
                <a:solidFill>
                  <a:schemeClr val="tx1"/>
                </a:solidFill>
              </a:rPr>
              <a:t>distinct\Discrete class</a:t>
            </a:r>
          </a:p>
          <a:p>
            <a:r>
              <a:rPr lang="en-US" sz="3200" dirty="0"/>
              <a:t>If Prediction Consists of two Classes also known as </a:t>
            </a:r>
            <a:r>
              <a:rPr lang="en-US" sz="3200" b="1" dirty="0">
                <a:solidFill>
                  <a:srgbClr val="FF0000"/>
                </a:solidFill>
              </a:rPr>
              <a:t>Binary Prediction </a:t>
            </a:r>
            <a:r>
              <a:rPr lang="en-US" sz="3200" b="1" dirty="0">
                <a:solidFill>
                  <a:schemeClr val="tx1">
                    <a:lumMod val="65000"/>
                    <a:lumOff val="35000"/>
                  </a:schemeClr>
                </a:solidFill>
              </a:rPr>
              <a:t>otherwise</a:t>
            </a:r>
            <a:r>
              <a:rPr lang="en-US" sz="3200" b="1" dirty="0">
                <a:solidFill>
                  <a:srgbClr val="FF0000"/>
                </a:solidFill>
              </a:rPr>
              <a:t> Multi-Class Classification</a:t>
            </a:r>
          </a:p>
          <a:p>
            <a:pPr lvl="0"/>
            <a:r>
              <a:rPr lang="en-US" sz="3200" dirty="0"/>
              <a:t>Measure success on fresh data for which class labels are known (test data)</a:t>
            </a:r>
          </a:p>
          <a:p>
            <a:endParaRPr lang="en-US" sz="3200" dirty="0"/>
          </a:p>
          <a:p>
            <a:endParaRPr lang="en-US" sz="3200" dirty="0"/>
          </a:p>
        </p:txBody>
      </p:sp>
    </p:spTree>
    <p:extLst>
      <p:ext uri="{BB962C8B-B14F-4D97-AF65-F5344CB8AC3E}">
        <p14:creationId xmlns:p14="http://schemas.microsoft.com/office/powerpoint/2010/main" val="187167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1" y="1066800"/>
            <a:ext cx="6629400" cy="5562600"/>
          </a:xfrm>
          <a:prstGeom prst="rect">
            <a:avLst/>
          </a:prstGeom>
          <a:ln w="88900" cap="sq" cmpd="thickThin">
            <a:solidFill>
              <a:srgbClr val="000000"/>
            </a:solidFill>
            <a:prstDash val="solid"/>
            <a:miter lim="800000"/>
          </a:ln>
          <a:effectLst>
            <a:innerShdw blurRad="76200">
              <a:srgbClr val="000000"/>
            </a:innerShdw>
          </a:effectLst>
        </p:spPr>
      </p:pic>
      <p:sp>
        <p:nvSpPr>
          <p:cNvPr id="5" name="Rectangle 4"/>
          <p:cNvSpPr/>
          <p:nvPr/>
        </p:nvSpPr>
        <p:spPr>
          <a:xfrm>
            <a:off x="5886451" y="1066800"/>
            <a:ext cx="571500" cy="55626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7893" y="494264"/>
            <a:ext cx="8526107" cy="572536"/>
          </a:xfrm>
        </p:spPr>
        <p:txBody>
          <a:bodyPr vert="horz" lIns="91440" tIns="45720" rIns="91440" bIns="45720" rtlCol="0" anchor="b">
            <a:normAutofit fontScale="90000"/>
          </a:bodyPr>
          <a:lstStyle/>
          <a:p>
            <a:r>
              <a:rPr lang="en-US" sz="4800" b="1" dirty="0">
                <a:solidFill>
                  <a:srgbClr val="0070C0"/>
                </a:solidFill>
              </a:rPr>
              <a:t>Classification Learning</a:t>
            </a:r>
          </a:p>
        </p:txBody>
      </p:sp>
      <p:sp>
        <p:nvSpPr>
          <p:cNvPr id="6" name="TextBox 5"/>
          <p:cNvSpPr txBox="1"/>
          <p:nvPr/>
        </p:nvSpPr>
        <p:spPr>
          <a:xfrm>
            <a:off x="4972051" y="3810002"/>
            <a:ext cx="914400" cy="923330"/>
          </a:xfrm>
          <a:prstGeom prst="rect">
            <a:avLst/>
          </a:prstGeom>
          <a:noFill/>
        </p:spPr>
        <p:txBody>
          <a:bodyPr wrap="square" rtlCol="0">
            <a:spAutoFit/>
          </a:bodyPr>
          <a:lstStyle/>
          <a:p>
            <a:r>
              <a:rPr lang="en-US" b="1">
                <a:solidFill>
                  <a:srgbClr val="C00000"/>
                </a:solidFill>
              </a:rPr>
              <a:t>Class Attribute</a:t>
            </a:r>
          </a:p>
        </p:txBody>
      </p:sp>
      <p:cxnSp>
        <p:nvCxnSpPr>
          <p:cNvPr id="8" name="Straight Arrow Connector 7"/>
          <p:cNvCxnSpPr/>
          <p:nvPr/>
        </p:nvCxnSpPr>
        <p:spPr>
          <a:xfrm flipV="1">
            <a:off x="5257801" y="1447800"/>
            <a:ext cx="800100" cy="24003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6C98CEC-BFC5-4029-B215-ECF84E4DDD80}"/>
              </a:ext>
            </a:extLst>
          </p:cNvPr>
          <p:cNvSpPr/>
          <p:nvPr/>
        </p:nvSpPr>
        <p:spPr>
          <a:xfrm>
            <a:off x="6922605" y="2828835"/>
            <a:ext cx="2335696" cy="1938992"/>
          </a:xfrm>
          <a:prstGeom prst="rect">
            <a:avLst/>
          </a:prstGeom>
          <a:solidFill>
            <a:schemeClr val="bg2">
              <a:lumMod val="20000"/>
              <a:lumOff val="80000"/>
            </a:schemeClr>
          </a:solidFill>
        </p:spPr>
        <p:txBody>
          <a:bodyPr wrap="square">
            <a:spAutoFit/>
          </a:bodyPr>
          <a:lstStyle/>
          <a:p>
            <a:r>
              <a:rPr lang="en-US" sz="2400" b="1" u="sng">
                <a:solidFill>
                  <a:srgbClr val="C00000"/>
                </a:solidFill>
              </a:rPr>
              <a:t>Classification</a:t>
            </a:r>
          </a:p>
          <a:p>
            <a:r>
              <a:rPr lang="en-US" sz="2400"/>
              <a:t>Association</a:t>
            </a:r>
          </a:p>
          <a:p>
            <a:r>
              <a:rPr lang="en-US" sz="2400"/>
              <a:t>Regression \ Numeric Prediction</a:t>
            </a:r>
          </a:p>
        </p:txBody>
      </p:sp>
    </p:spTree>
    <p:extLst>
      <p:ext uri="{BB962C8B-B14F-4D97-AF65-F5344CB8AC3E}">
        <p14:creationId xmlns:p14="http://schemas.microsoft.com/office/powerpoint/2010/main" val="338911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714" y="1046018"/>
            <a:ext cx="6743700" cy="5992062"/>
          </a:xfrm>
          <a:prstGeom prst="rect">
            <a:avLst/>
          </a:prstGeom>
        </p:spPr>
      </p:pic>
      <p:sp>
        <p:nvSpPr>
          <p:cNvPr id="5" name="Rectangle 4"/>
          <p:cNvSpPr/>
          <p:nvPr/>
        </p:nvSpPr>
        <p:spPr>
          <a:xfrm>
            <a:off x="6515101" y="1046018"/>
            <a:ext cx="1470314" cy="596438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2900" y="152400"/>
            <a:ext cx="8168053" cy="724936"/>
          </a:xfrm>
          <a:solidFill>
            <a:schemeClr val="accent6">
              <a:lumMod val="20000"/>
              <a:lumOff val="80000"/>
            </a:schemeClr>
          </a:solidFill>
          <a:ln>
            <a:solidFill>
              <a:schemeClr val="accent1">
                <a:lumMod val="20000"/>
                <a:lumOff val="80000"/>
              </a:schemeClr>
            </a:solidFill>
          </a:ln>
        </p:spPr>
        <p:txBody>
          <a:bodyPr vert="horz" lIns="91440" tIns="45720" rIns="91440" bIns="45720" rtlCol="0" anchor="b">
            <a:normAutofit/>
          </a:bodyPr>
          <a:lstStyle/>
          <a:p>
            <a:r>
              <a:rPr lang="en-US" sz="3600" b="1">
                <a:solidFill>
                  <a:srgbClr val="0070C0"/>
                </a:solidFill>
              </a:rPr>
              <a:t>Contact Lens Problem (Classification )</a:t>
            </a:r>
          </a:p>
        </p:txBody>
      </p:sp>
      <p:sp>
        <p:nvSpPr>
          <p:cNvPr id="6" name="TextBox 5"/>
          <p:cNvSpPr txBox="1"/>
          <p:nvPr/>
        </p:nvSpPr>
        <p:spPr>
          <a:xfrm>
            <a:off x="5772151" y="3848103"/>
            <a:ext cx="914400" cy="923330"/>
          </a:xfrm>
          <a:prstGeom prst="rect">
            <a:avLst/>
          </a:prstGeom>
          <a:noFill/>
        </p:spPr>
        <p:txBody>
          <a:bodyPr wrap="square" rtlCol="0">
            <a:spAutoFit/>
          </a:bodyPr>
          <a:lstStyle/>
          <a:p>
            <a:r>
              <a:rPr lang="en-US" b="1">
                <a:solidFill>
                  <a:srgbClr val="C00000"/>
                </a:solidFill>
              </a:rPr>
              <a:t>Class Attribute</a:t>
            </a:r>
          </a:p>
        </p:txBody>
      </p:sp>
      <p:cxnSp>
        <p:nvCxnSpPr>
          <p:cNvPr id="8" name="Straight Arrow Connector 7"/>
          <p:cNvCxnSpPr/>
          <p:nvPr/>
        </p:nvCxnSpPr>
        <p:spPr>
          <a:xfrm flipV="1">
            <a:off x="6057901" y="1447800"/>
            <a:ext cx="800100" cy="24003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29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Regression \ Numeric Prediction</a:t>
            </a:r>
          </a:p>
        </p:txBody>
      </p:sp>
      <p:sp>
        <p:nvSpPr>
          <p:cNvPr id="3" name="Content Placeholder 2"/>
          <p:cNvSpPr>
            <a:spLocks noGrp="1"/>
          </p:cNvSpPr>
          <p:nvPr>
            <p:ph idx="1"/>
          </p:nvPr>
        </p:nvSpPr>
        <p:spPr>
          <a:xfrm>
            <a:off x="618978" y="2556932"/>
            <a:ext cx="7200897" cy="2887265"/>
          </a:xfrm>
        </p:spPr>
        <p:txBody>
          <a:bodyPr>
            <a:noAutofit/>
          </a:bodyPr>
          <a:lstStyle/>
          <a:p>
            <a:pPr marL="457200" indent="-457200" hangingPunct="0">
              <a:spcBef>
                <a:spcPts val="697"/>
              </a:spcBef>
              <a:buClr>
                <a:srgbClr val="008000"/>
              </a:buClr>
              <a:buSzPct val="97000"/>
              <a:buBlip>
                <a:blip r:embed="rId2"/>
              </a:buBlip>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dirty="0"/>
              <a:t>Variant of classification learning where “class” is numeric (also called “regression”)</a:t>
            </a:r>
          </a:p>
          <a:p>
            <a:pPr marL="457200" indent="-457200" hangingPunct="0">
              <a:spcBef>
                <a:spcPts val="697"/>
              </a:spcBef>
              <a:buClr>
                <a:srgbClr val="008000"/>
              </a:buClr>
              <a:buSzPct val="97000"/>
              <a:buBlip>
                <a:blip r:embed="rId2"/>
              </a:buBlip>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dirty="0"/>
              <a:t>Learning is supervised</a:t>
            </a:r>
          </a:p>
          <a:p>
            <a:pPr marL="457200" lvl="1" indent="-457200" hangingPunct="0">
              <a:spcBef>
                <a:spcPts val="697"/>
              </a:spcBef>
              <a:buClr>
                <a:srgbClr val="008000"/>
              </a:buClr>
              <a:buSzPct val="97000"/>
              <a:buBlip>
                <a:blip r:embed="rId2"/>
              </a:buBlip>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dirty="0"/>
              <a:t>Scheme is being provided with target value</a:t>
            </a:r>
          </a:p>
          <a:p>
            <a:pPr marL="457200" indent="-457200" hangingPunct="0">
              <a:spcBef>
                <a:spcPts val="697"/>
              </a:spcBef>
              <a:buClr>
                <a:srgbClr val="008000"/>
              </a:buClr>
              <a:buSzPct val="97000"/>
              <a:buBlip>
                <a:blip r:embed="rId2"/>
              </a:buBlip>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en-US" sz="3200" dirty="0"/>
              <a:t>Measure success on test data</a:t>
            </a:r>
          </a:p>
          <a:p>
            <a:pPr marL="457200" indent="-457200" hangingPunct="0">
              <a:spcBef>
                <a:spcPts val="697"/>
              </a:spcBef>
              <a:buClr>
                <a:srgbClr val="008000"/>
              </a:buClr>
              <a:buSzPct val="97000"/>
              <a:buBlip>
                <a:blip r:embed="rId2"/>
              </a:buBlip>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endParaRPr lang="en-US" sz="3200" dirty="0"/>
          </a:p>
        </p:txBody>
      </p:sp>
      <p:sp>
        <p:nvSpPr>
          <p:cNvPr id="4" name="Rectangle 3">
            <a:extLst>
              <a:ext uri="{FF2B5EF4-FFF2-40B4-BE49-F238E27FC236}">
                <a16:creationId xmlns:a16="http://schemas.microsoft.com/office/drawing/2014/main" id="{F4206C85-69A8-49A9-B4C3-84A5B6E37692}"/>
              </a:ext>
            </a:extLst>
          </p:cNvPr>
          <p:cNvSpPr/>
          <p:nvPr/>
        </p:nvSpPr>
        <p:spPr>
          <a:xfrm>
            <a:off x="6922605" y="2828835"/>
            <a:ext cx="2335696" cy="1938992"/>
          </a:xfrm>
          <a:prstGeom prst="rect">
            <a:avLst/>
          </a:prstGeom>
          <a:solidFill>
            <a:schemeClr val="bg2">
              <a:lumMod val="20000"/>
              <a:lumOff val="80000"/>
            </a:schemeClr>
          </a:solidFill>
        </p:spPr>
        <p:txBody>
          <a:bodyPr wrap="square">
            <a:spAutoFit/>
          </a:bodyPr>
          <a:lstStyle/>
          <a:p>
            <a:r>
              <a:rPr lang="en-US" sz="2400"/>
              <a:t>Classification</a:t>
            </a:r>
          </a:p>
          <a:p>
            <a:r>
              <a:rPr lang="en-US" sz="2400"/>
              <a:t>Association</a:t>
            </a:r>
          </a:p>
          <a:p>
            <a:r>
              <a:rPr lang="en-US" sz="2400" b="1" u="sng">
                <a:solidFill>
                  <a:schemeClr val="accent1"/>
                </a:solidFill>
              </a:rPr>
              <a:t>Regression \ Numeric Prediction</a:t>
            </a:r>
          </a:p>
        </p:txBody>
      </p:sp>
    </p:spTree>
    <p:extLst>
      <p:ext uri="{BB962C8B-B14F-4D97-AF65-F5344CB8AC3E}">
        <p14:creationId xmlns:p14="http://schemas.microsoft.com/office/powerpoint/2010/main" val="391138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381000"/>
            <a:ext cx="5268559" cy="1143000"/>
          </a:xfrm>
        </p:spPr>
        <p:txBody>
          <a:bodyPr/>
          <a:lstStyle/>
          <a:p>
            <a:r>
              <a:rPr lang="en-US"/>
              <a:t>Numeric Prediction</a:t>
            </a:r>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1" y="1447800"/>
            <a:ext cx="6457951" cy="5181600"/>
          </a:xfrm>
          <a:prstGeom prst="rect">
            <a:avLst/>
          </a:prstGeom>
        </p:spPr>
      </p:pic>
    </p:spTree>
    <p:extLst>
      <p:ext uri="{BB962C8B-B14F-4D97-AF65-F5344CB8AC3E}">
        <p14:creationId xmlns:p14="http://schemas.microsoft.com/office/powerpoint/2010/main" val="3998059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7EC7-0376-4129-A942-75AA84F61075}"/>
              </a:ext>
            </a:extLst>
          </p:cNvPr>
          <p:cNvSpPr>
            <a:spLocks noGrp="1"/>
          </p:cNvSpPr>
          <p:nvPr>
            <p:ph type="title"/>
          </p:nvPr>
        </p:nvSpPr>
        <p:spPr>
          <a:xfrm>
            <a:off x="1043492" y="646664"/>
            <a:ext cx="6510700" cy="648736"/>
          </a:xfrm>
          <a:solidFill>
            <a:schemeClr val="bg2">
              <a:lumMod val="20000"/>
              <a:lumOff val="80000"/>
            </a:schemeClr>
          </a:solidFill>
        </p:spPr>
        <p:txBody>
          <a:bodyPr>
            <a:normAutofit fontScale="90000"/>
          </a:bodyPr>
          <a:lstStyle/>
          <a:p>
            <a:r>
              <a:rPr lang="en-US" b="1" dirty="0">
                <a:solidFill>
                  <a:srgbClr val="0070C0"/>
                </a:solidFill>
              </a:rPr>
              <a:t>Classification Algorithms</a:t>
            </a:r>
          </a:p>
        </p:txBody>
      </p:sp>
      <p:sp>
        <p:nvSpPr>
          <p:cNvPr id="3" name="Content Placeholder 2">
            <a:extLst>
              <a:ext uri="{FF2B5EF4-FFF2-40B4-BE49-F238E27FC236}">
                <a16:creationId xmlns:a16="http://schemas.microsoft.com/office/drawing/2014/main" id="{0ACFB5B3-F149-442B-8203-D0981FAF81A4}"/>
              </a:ext>
            </a:extLst>
          </p:cNvPr>
          <p:cNvSpPr>
            <a:spLocks noGrp="1"/>
          </p:cNvSpPr>
          <p:nvPr>
            <p:ph idx="1"/>
          </p:nvPr>
        </p:nvSpPr>
        <p:spPr>
          <a:xfrm>
            <a:off x="1043493" y="1371600"/>
            <a:ext cx="6777317" cy="5334000"/>
          </a:xfrm>
        </p:spPr>
        <p:txBody>
          <a:bodyPr>
            <a:normAutofit fontScale="92500" lnSpcReduction="20000"/>
          </a:bodyPr>
          <a:lstStyle/>
          <a:p>
            <a:pPr marL="68580" indent="0">
              <a:buNone/>
            </a:pPr>
            <a:r>
              <a:rPr lang="en-US" b="1" i="1" dirty="0">
                <a:solidFill>
                  <a:srgbClr val="C00000"/>
                </a:solidFill>
              </a:rPr>
              <a:t>There are many algorithms for classification. Some of the famous are following:</a:t>
            </a:r>
          </a:p>
          <a:p>
            <a:r>
              <a:rPr lang="en-US" b="1" i="1" dirty="0"/>
              <a:t>Decision trees </a:t>
            </a:r>
          </a:p>
          <a:p>
            <a:r>
              <a:rPr lang="en-US" dirty="0"/>
              <a:t>Naive Bayes classifier</a:t>
            </a:r>
          </a:p>
          <a:p>
            <a:r>
              <a:rPr lang="en-US" b="1" i="1" dirty="0"/>
              <a:t>Linear Regression</a:t>
            </a:r>
          </a:p>
          <a:p>
            <a:r>
              <a:rPr lang="en-US" dirty="0"/>
              <a:t>Logistic regression</a:t>
            </a:r>
            <a:endParaRPr lang="en-US" b="1" i="1" dirty="0"/>
          </a:p>
          <a:p>
            <a:r>
              <a:rPr lang="en-US" b="1" i="1" dirty="0"/>
              <a:t>Neural networks</a:t>
            </a:r>
          </a:p>
          <a:p>
            <a:pPr lvl="1"/>
            <a:r>
              <a:rPr lang="en-US" dirty="0"/>
              <a:t>Perceptron</a:t>
            </a:r>
          </a:p>
          <a:p>
            <a:pPr lvl="1"/>
            <a:r>
              <a:rPr lang="en-US" dirty="0"/>
              <a:t>Multi Layer Neural Networks</a:t>
            </a:r>
          </a:p>
          <a:p>
            <a:r>
              <a:rPr lang="en-US" b="1" i="1" dirty="0"/>
              <a:t>Support vector machines (SVM)</a:t>
            </a:r>
            <a:endParaRPr lang="en-US" dirty="0"/>
          </a:p>
          <a:p>
            <a:r>
              <a:rPr lang="en-US" b="1" i="1" dirty="0"/>
              <a:t>Quadratic classifiers</a:t>
            </a:r>
            <a:endParaRPr lang="en-US" dirty="0"/>
          </a:p>
          <a:p>
            <a:r>
              <a:rPr lang="en-US" dirty="0"/>
              <a:t>Instance Based Learning</a:t>
            </a:r>
          </a:p>
          <a:p>
            <a:pPr lvl="1"/>
            <a:r>
              <a:rPr lang="en-US" dirty="0"/>
              <a:t>k-nearest neighbor </a:t>
            </a:r>
          </a:p>
          <a:p>
            <a:endParaRPr lang="en-US" dirty="0"/>
          </a:p>
        </p:txBody>
      </p:sp>
    </p:spTree>
    <p:extLst>
      <p:ext uri="{BB962C8B-B14F-4D97-AF65-F5344CB8AC3E}">
        <p14:creationId xmlns:p14="http://schemas.microsoft.com/office/powerpoint/2010/main" val="499713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63EF7A-E1C6-4077-A38D-EDA5D6E26BEA}"/>
              </a:ext>
            </a:extLst>
          </p:cNvPr>
          <p:cNvSpPr>
            <a:spLocks noGrp="1"/>
          </p:cNvSpPr>
          <p:nvPr>
            <p:ph type="title"/>
          </p:nvPr>
        </p:nvSpPr>
        <p:spPr>
          <a:xfrm>
            <a:off x="633046" y="1752606"/>
            <a:ext cx="7889631" cy="1822514"/>
          </a:xfrm>
        </p:spPr>
        <p:txBody>
          <a:bodyPr>
            <a:prstTxWarp prst="textChevron">
              <a:avLst/>
            </a:prstTxWarp>
          </a:bodyPr>
          <a:lstStyle/>
          <a:p>
            <a:r>
              <a:rPr lang="en-US" dirty="0">
                <a:ln w="0"/>
                <a:solidFill>
                  <a:schemeClr val="tx1"/>
                </a:solidFill>
                <a:effectLst>
                  <a:outerShdw blurRad="38100" dist="19050" dir="2700000" algn="tl" rotWithShape="0">
                    <a:schemeClr val="dk1">
                      <a:alpha val="40000"/>
                    </a:schemeClr>
                  </a:outerShdw>
                </a:effectLst>
              </a:rPr>
              <a:t>K-Nearest Neighbor Algorithm  (K-NN)</a:t>
            </a:r>
          </a:p>
        </p:txBody>
      </p:sp>
      <p:sp>
        <p:nvSpPr>
          <p:cNvPr id="2" name="Rectangle 1"/>
          <p:cNvSpPr/>
          <p:nvPr/>
        </p:nvSpPr>
        <p:spPr>
          <a:xfrm>
            <a:off x="1985749" y="4197656"/>
            <a:ext cx="5943600" cy="954107"/>
          </a:xfrm>
          <a:prstGeom prst="rect">
            <a:avLst/>
          </a:prstGeom>
        </p:spPr>
        <p:txBody>
          <a:bodyPr wrap="square">
            <a:spAutoFit/>
          </a:bodyPr>
          <a:lstStyle/>
          <a:p>
            <a:r>
              <a:rPr lang="en-US" sz="2800" i="1" dirty="0">
                <a:solidFill>
                  <a:srgbClr val="FF0000"/>
                </a:solidFill>
              </a:rPr>
              <a:t>"Show me who your friends are and I’ll tell you who you are?"</a:t>
            </a:r>
            <a:endParaRPr lang="en-US" sz="2800" dirty="0">
              <a:solidFill>
                <a:srgbClr val="FF0000"/>
              </a:solidFill>
            </a:endParaRPr>
          </a:p>
        </p:txBody>
      </p:sp>
    </p:spTree>
    <p:extLst>
      <p:ext uri="{BB962C8B-B14F-4D97-AF65-F5344CB8AC3E}">
        <p14:creationId xmlns:p14="http://schemas.microsoft.com/office/powerpoint/2010/main" val="2293615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11233FD-DE26-4C23-A1E0-D4B54E8A9C87}"/>
              </a:ext>
            </a:extLst>
          </p:cNvPr>
          <p:cNvCxnSpPr/>
          <p:nvPr/>
        </p:nvCxnSpPr>
        <p:spPr>
          <a:xfrm>
            <a:off x="4449766" y="2306595"/>
            <a:ext cx="0" cy="1524000"/>
          </a:xfrm>
          <a:prstGeom prst="line">
            <a:avLst/>
          </a:prstGeom>
          <a:ln w="41275">
            <a:prstDash val="sysDash"/>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CCF88D9C-C64E-4F01-B5CF-EE1A7357C583}"/>
              </a:ext>
            </a:extLst>
          </p:cNvPr>
          <p:cNvSpPr/>
          <p:nvPr/>
        </p:nvSpPr>
        <p:spPr>
          <a:xfrm>
            <a:off x="2073767" y="3848100"/>
            <a:ext cx="5000625" cy="2286000"/>
          </a:xfrm>
          <a:prstGeom prst="roundRect">
            <a:avLst/>
          </a:prstGeom>
          <a:solidFill>
            <a:schemeClr val="bg1">
              <a:lumMod val="95000"/>
            </a:schemeClr>
          </a:solidFill>
          <a:ln w="317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grpSp>
        <p:nvGrpSpPr>
          <p:cNvPr id="12" name="Group 11">
            <a:extLst>
              <a:ext uri="{FF2B5EF4-FFF2-40B4-BE49-F238E27FC236}">
                <a16:creationId xmlns:a16="http://schemas.microsoft.com/office/drawing/2014/main" id="{49C8117E-2C6B-42A5-A6DD-DB535B7B85D3}"/>
              </a:ext>
            </a:extLst>
          </p:cNvPr>
          <p:cNvGrpSpPr/>
          <p:nvPr/>
        </p:nvGrpSpPr>
        <p:grpSpPr>
          <a:xfrm>
            <a:off x="1343025" y="1624640"/>
            <a:ext cx="6693190" cy="859416"/>
            <a:chOff x="1919721" y="1246304"/>
            <a:chExt cx="7663781" cy="622640"/>
          </a:xfrm>
        </p:grpSpPr>
        <p:sp>
          <p:nvSpPr>
            <p:cNvPr id="13" name="Rectangle: Rounded Corners 12">
              <a:extLst>
                <a:ext uri="{FF2B5EF4-FFF2-40B4-BE49-F238E27FC236}">
                  <a16:creationId xmlns:a16="http://schemas.microsoft.com/office/drawing/2014/main" id="{6EE8A2D9-30ED-4C6B-BDD7-6BD4C9E964D1}"/>
                </a:ext>
              </a:extLst>
            </p:cNvPr>
            <p:cNvSpPr/>
            <p:nvPr/>
          </p:nvSpPr>
          <p:spPr>
            <a:xfrm>
              <a:off x="1930532" y="1310960"/>
              <a:ext cx="7652970" cy="557984"/>
            </a:xfrm>
            <a:prstGeom prst="roundRect">
              <a:avLst/>
            </a:prstGeom>
            <a:solidFill>
              <a:srgbClr val="113B6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black"/>
                </a:solidFill>
              </a:endParaRPr>
            </a:p>
          </p:txBody>
        </p:sp>
        <p:sp>
          <p:nvSpPr>
            <p:cNvPr id="14" name="Rectangle: Rounded Corners 13">
              <a:extLst>
                <a:ext uri="{FF2B5EF4-FFF2-40B4-BE49-F238E27FC236}">
                  <a16:creationId xmlns:a16="http://schemas.microsoft.com/office/drawing/2014/main" id="{F6924F4C-5ED9-456D-A8EF-681119DF6CB1}"/>
                </a:ext>
              </a:extLst>
            </p:cNvPr>
            <p:cNvSpPr/>
            <p:nvPr/>
          </p:nvSpPr>
          <p:spPr>
            <a:xfrm>
              <a:off x="1919721" y="1246304"/>
              <a:ext cx="7615615" cy="579970"/>
            </a:xfrm>
            <a:prstGeom prst="roundRect">
              <a:avLst/>
            </a:prstGeom>
            <a:solidFill>
              <a:srgbClr val="AAE4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black"/>
                </a:solidFill>
                <a:latin typeface="Gotham Rounded Book" pitchFamily="50" charset="0"/>
              </a:endParaRPr>
            </a:p>
          </p:txBody>
        </p:sp>
      </p:gr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sp>
        <p:nvSpPr>
          <p:cNvPr id="30" name="Rectangle 29">
            <a:extLst>
              <a:ext uri="{FF2B5EF4-FFF2-40B4-BE49-F238E27FC236}">
                <a16:creationId xmlns:a16="http://schemas.microsoft.com/office/drawing/2014/main" id="{F4811862-FEE2-45C5-8FAF-4E5DDFF5B11A}"/>
              </a:ext>
            </a:extLst>
          </p:cNvPr>
          <p:cNvSpPr/>
          <p:nvPr/>
        </p:nvSpPr>
        <p:spPr>
          <a:xfrm>
            <a:off x="1343026" y="1765379"/>
            <a:ext cx="6176798" cy="1015663"/>
          </a:xfrm>
          <a:prstGeom prst="rect">
            <a:avLst/>
          </a:prstGeom>
        </p:spPr>
        <p:txBody>
          <a:bodyPr wrap="square">
            <a:spAutoFit/>
          </a:bodyPr>
          <a:lstStyle/>
          <a:p>
            <a:pPr algn="ctr" defTabSz="914400"/>
            <a:r>
              <a:rPr lang="en-US" sz="1500" dirty="0">
                <a:solidFill>
                  <a:prstClr val="black"/>
                </a:solidFill>
                <a:latin typeface="Gotham Rounded Book" pitchFamily="50" charset="0"/>
              </a:rPr>
              <a:t>KNN – K Nearest Neighbors, is one of the simplest </a:t>
            </a:r>
            <a:r>
              <a:rPr lang="en-US" sz="1500" b="1" dirty="0">
                <a:solidFill>
                  <a:prstClr val="black"/>
                </a:solidFill>
                <a:latin typeface="Gotham Rounded Book" pitchFamily="50" charset="0"/>
              </a:rPr>
              <a:t>Supervised</a:t>
            </a:r>
            <a:r>
              <a:rPr lang="en-US" sz="1500" dirty="0">
                <a:solidFill>
                  <a:prstClr val="black"/>
                </a:solidFill>
                <a:latin typeface="Gotham Rounded Book" pitchFamily="50" charset="0"/>
              </a:rPr>
              <a:t> Machine Learning algorithm mostly used for</a:t>
            </a:r>
          </a:p>
          <a:p>
            <a:pPr algn="ctr" defTabSz="914400"/>
            <a:endParaRPr lang="en-US" sz="1500" dirty="0">
              <a:solidFill>
                <a:prstClr val="black"/>
              </a:solidFill>
              <a:latin typeface="Gotham Rounded Book" pitchFamily="50" charset="0"/>
            </a:endParaRPr>
          </a:p>
        </p:txBody>
      </p:sp>
      <p:grpSp>
        <p:nvGrpSpPr>
          <p:cNvPr id="8" name="Group 7">
            <a:extLst>
              <a:ext uri="{FF2B5EF4-FFF2-40B4-BE49-F238E27FC236}">
                <a16:creationId xmlns:a16="http://schemas.microsoft.com/office/drawing/2014/main" id="{293BE9AD-AB72-4675-AA68-5C7B1D5103CE}"/>
              </a:ext>
            </a:extLst>
          </p:cNvPr>
          <p:cNvGrpSpPr/>
          <p:nvPr/>
        </p:nvGrpSpPr>
        <p:grpSpPr>
          <a:xfrm>
            <a:off x="2162087" y="3945277"/>
            <a:ext cx="1822935" cy="1601817"/>
            <a:chOff x="4000500" y="4260725"/>
            <a:chExt cx="2430579" cy="1601817"/>
          </a:xfrm>
        </p:grpSpPr>
        <p:sp>
          <p:nvSpPr>
            <p:cNvPr id="6" name="Rectangle 5">
              <a:extLst>
                <a:ext uri="{FF2B5EF4-FFF2-40B4-BE49-F238E27FC236}">
                  <a16:creationId xmlns:a16="http://schemas.microsoft.com/office/drawing/2014/main" id="{52D20789-FB7D-46C5-94D1-FD6E8644BFAC}"/>
                </a:ext>
              </a:extLst>
            </p:cNvPr>
            <p:cNvSpPr/>
            <p:nvPr/>
          </p:nvSpPr>
          <p:spPr>
            <a:xfrm>
              <a:off x="4000500" y="4260725"/>
              <a:ext cx="2430579" cy="323165"/>
            </a:xfrm>
            <a:prstGeom prst="rect">
              <a:avLst/>
            </a:prstGeom>
          </p:spPr>
          <p:txBody>
            <a:bodyPr wrap="none">
              <a:spAutoFit/>
            </a:bodyPr>
            <a:lstStyle/>
            <a:p>
              <a:pPr defTabSz="914400"/>
              <a:r>
                <a:rPr lang="en-US" sz="1500" b="1" dirty="0">
                  <a:solidFill>
                    <a:prstClr val="black"/>
                  </a:solidFill>
                  <a:latin typeface="Gotham Rounded Book" pitchFamily="50" charset="0"/>
                </a:rPr>
                <a:t>Classification</a:t>
              </a:r>
            </a:p>
          </p:txBody>
        </p:sp>
        <p:pic>
          <p:nvPicPr>
            <p:cNvPr id="23" name="Picture 22">
              <a:extLst>
                <a:ext uri="{FF2B5EF4-FFF2-40B4-BE49-F238E27FC236}">
                  <a16:creationId xmlns:a16="http://schemas.microsoft.com/office/drawing/2014/main" id="{B19666B3-423F-40BF-AACC-E1B75CBAC1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3021" y="4730503"/>
              <a:ext cx="1132039" cy="1132039"/>
            </a:xfrm>
            <a:prstGeom prst="rect">
              <a:avLst/>
            </a:prstGeom>
          </p:spPr>
        </p:pic>
      </p:grpSp>
      <p:sp>
        <p:nvSpPr>
          <p:cNvPr id="10" name="TextBox 9">
            <a:extLst>
              <a:ext uri="{FF2B5EF4-FFF2-40B4-BE49-F238E27FC236}">
                <a16:creationId xmlns:a16="http://schemas.microsoft.com/office/drawing/2014/main" id="{2ADAFB51-0698-4EE1-92B1-246A14BDB96A}"/>
              </a:ext>
            </a:extLst>
          </p:cNvPr>
          <p:cNvSpPr txBox="1"/>
          <p:nvPr/>
        </p:nvSpPr>
        <p:spPr>
          <a:xfrm>
            <a:off x="3413438" y="4547012"/>
            <a:ext cx="3403020" cy="784830"/>
          </a:xfrm>
          <a:prstGeom prst="rect">
            <a:avLst/>
          </a:prstGeom>
          <a:noFill/>
        </p:spPr>
        <p:txBody>
          <a:bodyPr wrap="square" rtlCol="0">
            <a:spAutoFit/>
          </a:bodyPr>
          <a:lstStyle/>
          <a:p>
            <a:pPr defTabSz="914400"/>
            <a:r>
              <a:rPr lang="en-US" sz="1500" dirty="0">
                <a:solidFill>
                  <a:prstClr val="black"/>
                </a:solidFill>
                <a:latin typeface="Gotham Rounded Book" pitchFamily="50" charset="0"/>
              </a:rPr>
              <a:t>It classifies a data point based on how its neighbors are classified</a:t>
            </a:r>
          </a:p>
        </p:txBody>
      </p:sp>
    </p:spTree>
    <p:extLst>
      <p:ext uri="{BB962C8B-B14F-4D97-AF65-F5344CB8AC3E}">
        <p14:creationId xmlns:p14="http://schemas.microsoft.com/office/powerpoint/2010/main" val="157867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 name="Speech Bubble: Rectangle 68">
            <a:extLst>
              <a:ext uri="{FF2B5EF4-FFF2-40B4-BE49-F238E27FC236}">
                <a16:creationId xmlns:a16="http://schemas.microsoft.com/office/drawing/2014/main" id="{EC46874F-0B44-4909-8E4E-89981E68DD93}"/>
              </a:ext>
            </a:extLst>
          </p:cNvPr>
          <p:cNvSpPr/>
          <p:nvPr/>
        </p:nvSpPr>
        <p:spPr>
          <a:xfrm>
            <a:off x="1022690" y="1148862"/>
            <a:ext cx="6822063" cy="1338529"/>
          </a:xfrm>
          <a:prstGeom prst="wedgeRectCallout">
            <a:avLst>
              <a:gd name="adj1" fmla="val -22492"/>
              <a:gd name="adj2" fmla="val 74814"/>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000" dirty="0">
                <a:solidFill>
                  <a:prstClr val="black"/>
                </a:solidFill>
                <a:latin typeface="Gotham Rounded Book" pitchFamily="50" charset="0"/>
              </a:rPr>
              <a:t>KNN stores all available cases and classifies new cases based on a similarity measure</a:t>
            </a:r>
          </a:p>
          <a:p>
            <a:pPr algn="ctr" defTabSz="914400"/>
            <a:endParaRPr lang="en-US" sz="2000" dirty="0">
              <a:solidFill>
                <a:prstClr val="white"/>
              </a:solidFill>
            </a:endParaRPr>
          </a:p>
        </p:txBody>
      </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grpSp>
        <p:nvGrpSpPr>
          <p:cNvPr id="44" name="Group 43">
            <a:extLst>
              <a:ext uri="{FF2B5EF4-FFF2-40B4-BE49-F238E27FC236}">
                <a16:creationId xmlns:a16="http://schemas.microsoft.com/office/drawing/2014/main" id="{FC0B7BBB-E000-43CC-9E06-E01E844A01A1}"/>
              </a:ext>
            </a:extLst>
          </p:cNvPr>
          <p:cNvGrpSpPr/>
          <p:nvPr/>
        </p:nvGrpSpPr>
        <p:grpSpPr>
          <a:xfrm>
            <a:off x="2635793" y="2743200"/>
            <a:ext cx="5372100" cy="3619500"/>
            <a:chOff x="1790700" y="2133600"/>
            <a:chExt cx="7810500" cy="4038600"/>
          </a:xfrm>
        </p:grpSpPr>
        <p:sp>
          <p:nvSpPr>
            <p:cNvPr id="45" name="Rectangle: Rounded Corners 44">
              <a:extLst>
                <a:ext uri="{FF2B5EF4-FFF2-40B4-BE49-F238E27FC236}">
                  <a16:creationId xmlns:a16="http://schemas.microsoft.com/office/drawing/2014/main" id="{C3726E23-F478-427F-BDFA-A09288AEECB0}"/>
                </a:ext>
              </a:extLst>
            </p:cNvPr>
            <p:cNvSpPr/>
            <p:nvPr/>
          </p:nvSpPr>
          <p:spPr>
            <a:xfrm>
              <a:off x="1790700" y="2133600"/>
              <a:ext cx="7810500" cy="4038600"/>
            </a:xfrm>
            <a:prstGeom prst="roundRect">
              <a:avLst/>
            </a:prstGeom>
            <a:solidFill>
              <a:schemeClr val="bg1"/>
            </a:solidFill>
            <a:ln w="28575">
              <a:solidFill>
                <a:srgbClr val="11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46" name="Group 45">
              <a:extLst>
                <a:ext uri="{FF2B5EF4-FFF2-40B4-BE49-F238E27FC236}">
                  <a16:creationId xmlns:a16="http://schemas.microsoft.com/office/drawing/2014/main" id="{D71C0BEA-6D1B-4CC9-AC93-7BD387343716}"/>
                </a:ext>
              </a:extLst>
            </p:cNvPr>
            <p:cNvGrpSpPr/>
            <p:nvPr/>
          </p:nvGrpSpPr>
          <p:grpSpPr>
            <a:xfrm>
              <a:off x="2916948" y="2321039"/>
              <a:ext cx="6375860" cy="3685292"/>
              <a:chOff x="1829328" y="1419035"/>
              <a:chExt cx="8515229" cy="5135393"/>
            </a:xfrm>
          </p:grpSpPr>
          <p:cxnSp>
            <p:nvCxnSpPr>
              <p:cNvPr id="47" name="Straight Arrow Connector 46">
                <a:extLst>
                  <a:ext uri="{FF2B5EF4-FFF2-40B4-BE49-F238E27FC236}">
                    <a16:creationId xmlns:a16="http://schemas.microsoft.com/office/drawing/2014/main" id="{36201590-0EE2-4AA5-A491-47761F011C00}"/>
                  </a:ext>
                </a:extLst>
              </p:cNvPr>
              <p:cNvCxnSpPr>
                <a:cxnSpLocks/>
              </p:cNvCxnSpPr>
              <p:nvPr/>
            </p:nvCxnSpPr>
            <p:spPr>
              <a:xfrm flipV="1">
                <a:off x="2552700" y="1638300"/>
                <a:ext cx="0" cy="377190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BB5AA6D-D67D-4D2F-B809-F2BE12314778}"/>
                  </a:ext>
                </a:extLst>
              </p:cNvPr>
              <p:cNvCxnSpPr>
                <a:cxnSpLocks/>
              </p:cNvCxnSpPr>
              <p:nvPr/>
            </p:nvCxnSpPr>
            <p:spPr>
              <a:xfrm>
                <a:off x="2552700" y="5410200"/>
                <a:ext cx="4419600" cy="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314A966-5407-459C-AADA-AEFF24DBB020}"/>
                  </a:ext>
                </a:extLst>
              </p:cNvPr>
              <p:cNvSpPr txBox="1"/>
              <p:nvPr/>
            </p:nvSpPr>
            <p:spPr>
              <a:xfrm>
                <a:off x="3816296" y="5549491"/>
                <a:ext cx="3224338" cy="1004937"/>
              </a:xfrm>
              <a:prstGeom prst="rect">
                <a:avLst/>
              </a:prstGeom>
              <a:noFill/>
            </p:spPr>
            <p:txBody>
              <a:bodyPr wrap="square" rtlCol="0">
                <a:spAutoFit/>
              </a:bodyPr>
              <a:lstStyle/>
              <a:p>
                <a:pPr defTabSz="914400"/>
                <a:r>
                  <a:rPr lang="en-US" dirty="0">
                    <a:solidFill>
                      <a:prstClr val="black"/>
                    </a:solidFill>
                  </a:rPr>
                  <a:t>Chloride Level </a:t>
                </a:r>
                <a:r>
                  <a:rPr lang="en-US" dirty="0">
                    <a:solidFill>
                      <a:prstClr val="black"/>
                    </a:solidFill>
                    <a:sym typeface="Wingdings" panose="05000000000000000000" pitchFamily="2" charset="2"/>
                  </a:rPr>
                  <a:t></a:t>
                </a:r>
                <a:endParaRPr lang="en-US" dirty="0">
                  <a:solidFill>
                    <a:prstClr val="black"/>
                  </a:solidFill>
                </a:endParaRPr>
              </a:p>
            </p:txBody>
          </p:sp>
          <p:sp>
            <p:nvSpPr>
              <p:cNvPr id="50" name="TextBox 49">
                <a:extLst>
                  <a:ext uri="{FF2B5EF4-FFF2-40B4-BE49-F238E27FC236}">
                    <a16:creationId xmlns:a16="http://schemas.microsoft.com/office/drawing/2014/main" id="{AE8331BC-CA46-4B57-98C5-59BDE3063675}"/>
                  </a:ext>
                </a:extLst>
              </p:cNvPr>
              <p:cNvSpPr txBox="1"/>
              <p:nvPr/>
            </p:nvSpPr>
            <p:spPr>
              <a:xfrm rot="16200000">
                <a:off x="122675" y="3125688"/>
                <a:ext cx="4130455" cy="717149"/>
              </a:xfrm>
              <a:prstGeom prst="rect">
                <a:avLst/>
              </a:prstGeom>
              <a:noFill/>
            </p:spPr>
            <p:txBody>
              <a:bodyPr wrap="square" rtlCol="0">
                <a:spAutoFit/>
              </a:bodyPr>
              <a:lstStyle/>
              <a:p>
                <a:pPr defTabSz="914400"/>
                <a:r>
                  <a:rPr lang="en-US" dirty="0">
                    <a:solidFill>
                      <a:prstClr val="black"/>
                    </a:solidFill>
                  </a:rPr>
                  <a:t>Sulphur Dioxide Level </a:t>
                </a:r>
                <a:r>
                  <a:rPr lang="en-US" dirty="0">
                    <a:solidFill>
                      <a:prstClr val="black"/>
                    </a:solidFill>
                    <a:sym typeface="Wingdings" panose="05000000000000000000" pitchFamily="2" charset="2"/>
                  </a:rPr>
                  <a:t></a:t>
                </a:r>
                <a:endParaRPr lang="en-US" dirty="0">
                  <a:solidFill>
                    <a:prstClr val="black"/>
                  </a:solidFill>
                </a:endParaRPr>
              </a:p>
            </p:txBody>
          </p:sp>
          <p:pic>
            <p:nvPicPr>
              <p:cNvPr id="51" name="Picture 50">
                <a:extLst>
                  <a:ext uri="{FF2B5EF4-FFF2-40B4-BE49-F238E27FC236}">
                    <a16:creationId xmlns:a16="http://schemas.microsoft.com/office/drawing/2014/main" id="{9A78F15B-7ED6-4AF9-895C-F8A75636EE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781301" y="2561685"/>
                <a:ext cx="240227" cy="582549"/>
              </a:xfrm>
              <a:prstGeom prst="rect">
                <a:avLst/>
              </a:prstGeom>
            </p:spPr>
          </p:pic>
          <p:pic>
            <p:nvPicPr>
              <p:cNvPr id="52" name="Picture 51">
                <a:extLst>
                  <a:ext uri="{FF2B5EF4-FFF2-40B4-BE49-F238E27FC236}">
                    <a16:creationId xmlns:a16="http://schemas.microsoft.com/office/drawing/2014/main" id="{08AA6779-DA09-473A-B171-38F1B5CE927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576464" y="2515665"/>
                <a:ext cx="218746" cy="618605"/>
              </a:xfrm>
              <a:prstGeom prst="rect">
                <a:avLst/>
              </a:prstGeom>
            </p:spPr>
          </p:pic>
          <p:pic>
            <p:nvPicPr>
              <p:cNvPr id="53" name="Picture 52">
                <a:extLst>
                  <a:ext uri="{FF2B5EF4-FFF2-40B4-BE49-F238E27FC236}">
                    <a16:creationId xmlns:a16="http://schemas.microsoft.com/office/drawing/2014/main" id="{E2326F92-6101-493D-BB01-1C48169B84E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232147" y="4791595"/>
                <a:ext cx="218746" cy="618605"/>
              </a:xfrm>
              <a:prstGeom prst="rect">
                <a:avLst/>
              </a:prstGeom>
            </p:spPr>
          </p:pic>
          <p:pic>
            <p:nvPicPr>
              <p:cNvPr id="54" name="Picture 53">
                <a:extLst>
                  <a:ext uri="{FF2B5EF4-FFF2-40B4-BE49-F238E27FC236}">
                    <a16:creationId xmlns:a16="http://schemas.microsoft.com/office/drawing/2014/main" id="{B3240768-5F25-4687-B5AB-69EED2B4F63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77474" y="4204584"/>
                <a:ext cx="218746" cy="618605"/>
              </a:xfrm>
              <a:prstGeom prst="rect">
                <a:avLst/>
              </a:prstGeom>
            </p:spPr>
          </p:pic>
          <p:pic>
            <p:nvPicPr>
              <p:cNvPr id="55" name="Picture 54">
                <a:extLst>
                  <a:ext uri="{FF2B5EF4-FFF2-40B4-BE49-F238E27FC236}">
                    <a16:creationId xmlns:a16="http://schemas.microsoft.com/office/drawing/2014/main" id="{9D20C561-1FB6-4C6C-B82B-004E5C141AC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101590" y="3967671"/>
                <a:ext cx="240227" cy="582549"/>
              </a:xfrm>
              <a:prstGeom prst="rect">
                <a:avLst/>
              </a:prstGeom>
            </p:spPr>
          </p:pic>
          <p:pic>
            <p:nvPicPr>
              <p:cNvPr id="56" name="Picture 55">
                <a:extLst>
                  <a:ext uri="{FF2B5EF4-FFF2-40B4-BE49-F238E27FC236}">
                    <a16:creationId xmlns:a16="http://schemas.microsoft.com/office/drawing/2014/main" id="{3D134DBD-FE98-4E9D-8FE1-EBF68BDDE31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849132" y="3583194"/>
                <a:ext cx="240227" cy="582549"/>
              </a:xfrm>
              <a:prstGeom prst="rect">
                <a:avLst/>
              </a:prstGeom>
            </p:spPr>
          </p:pic>
          <p:sp>
            <p:nvSpPr>
              <p:cNvPr id="57" name="TextBox 56">
                <a:extLst>
                  <a:ext uri="{FF2B5EF4-FFF2-40B4-BE49-F238E27FC236}">
                    <a16:creationId xmlns:a16="http://schemas.microsoft.com/office/drawing/2014/main" id="{DABCA353-1D8C-4729-A049-94ACB6D80FDC}"/>
                  </a:ext>
                </a:extLst>
              </p:cNvPr>
              <p:cNvSpPr txBox="1"/>
              <p:nvPr/>
            </p:nvSpPr>
            <p:spPr>
              <a:xfrm>
                <a:off x="7844055" y="3926880"/>
                <a:ext cx="2500502" cy="861375"/>
              </a:xfrm>
              <a:prstGeom prst="rect">
                <a:avLst/>
              </a:prstGeom>
              <a:noFill/>
            </p:spPr>
            <p:txBody>
              <a:bodyPr wrap="square" rtlCol="0">
                <a:spAutoFit/>
              </a:bodyPr>
              <a:lstStyle/>
              <a:p>
                <a:pPr defTabSz="914400"/>
                <a:r>
                  <a:rPr lang="en-US" sz="1500" dirty="0">
                    <a:solidFill>
                      <a:prstClr val="black"/>
                    </a:solidFill>
                    <a:latin typeface="Gotham Rounded Book" pitchFamily="50" charset="0"/>
                  </a:rPr>
                  <a:t>RED or WHITE?</a:t>
                </a:r>
              </a:p>
            </p:txBody>
          </p:sp>
          <p:pic>
            <p:nvPicPr>
              <p:cNvPr id="58" name="Picture 57">
                <a:extLst>
                  <a:ext uri="{FF2B5EF4-FFF2-40B4-BE49-F238E27FC236}">
                    <a16:creationId xmlns:a16="http://schemas.microsoft.com/office/drawing/2014/main" id="{3784AF33-6334-42B4-B440-5F544CFC8EE3}"/>
                  </a:ext>
                </a:extLst>
              </p:cNvPr>
              <p:cNvPicPr>
                <a:picLocks noChangeAspect="1"/>
              </p:cNvPicPr>
              <p:nvPr/>
            </p:nvPicPr>
            <p:blipFill rotWithShape="1">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61111" r="79515" b="555"/>
              <a:stretch/>
            </p:blipFill>
            <p:spPr>
              <a:xfrm>
                <a:off x="4391888" y="3699809"/>
                <a:ext cx="387473" cy="791446"/>
              </a:xfrm>
              <a:prstGeom prst="ellipse">
                <a:avLst/>
              </a:prstGeom>
              <a:ln>
                <a:solidFill>
                  <a:schemeClr val="tx1"/>
                </a:solidFill>
              </a:ln>
            </p:spPr>
          </p:pic>
          <p:pic>
            <p:nvPicPr>
              <p:cNvPr id="59" name="Picture 58">
                <a:extLst>
                  <a:ext uri="{FF2B5EF4-FFF2-40B4-BE49-F238E27FC236}">
                    <a16:creationId xmlns:a16="http://schemas.microsoft.com/office/drawing/2014/main" id="{390D90C9-046D-4DC8-9D3D-7E75661A121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078541" y="3440940"/>
                <a:ext cx="218746" cy="618605"/>
              </a:xfrm>
              <a:prstGeom prst="rect">
                <a:avLst/>
              </a:prstGeom>
            </p:spPr>
          </p:pic>
          <p:pic>
            <p:nvPicPr>
              <p:cNvPr id="60" name="Picture 59">
                <a:extLst>
                  <a:ext uri="{FF2B5EF4-FFF2-40B4-BE49-F238E27FC236}">
                    <a16:creationId xmlns:a16="http://schemas.microsoft.com/office/drawing/2014/main" id="{088C6BF0-2DC5-42FB-AF9B-F0A4DF9E95F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638267" y="3231396"/>
                <a:ext cx="218746" cy="618605"/>
              </a:xfrm>
              <a:prstGeom prst="rect">
                <a:avLst/>
              </a:prstGeom>
            </p:spPr>
          </p:pic>
          <p:pic>
            <p:nvPicPr>
              <p:cNvPr id="61" name="Picture 60">
                <a:extLst>
                  <a:ext uri="{FF2B5EF4-FFF2-40B4-BE49-F238E27FC236}">
                    <a16:creationId xmlns:a16="http://schemas.microsoft.com/office/drawing/2014/main" id="{0501191C-788B-477F-B555-D0A35AE3CC8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338277" y="4644382"/>
                <a:ext cx="218746" cy="618605"/>
              </a:xfrm>
              <a:prstGeom prst="rect">
                <a:avLst/>
              </a:prstGeom>
            </p:spPr>
          </p:pic>
          <p:pic>
            <p:nvPicPr>
              <p:cNvPr id="62" name="Picture 61">
                <a:extLst>
                  <a:ext uri="{FF2B5EF4-FFF2-40B4-BE49-F238E27FC236}">
                    <a16:creationId xmlns:a16="http://schemas.microsoft.com/office/drawing/2014/main" id="{F0445051-F118-49CF-9728-695B126BC7A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847355" y="3617577"/>
                <a:ext cx="218746" cy="618605"/>
              </a:xfrm>
              <a:prstGeom prst="rect">
                <a:avLst/>
              </a:prstGeom>
            </p:spPr>
          </p:pic>
          <p:pic>
            <p:nvPicPr>
              <p:cNvPr id="63" name="Picture 62">
                <a:extLst>
                  <a:ext uri="{FF2B5EF4-FFF2-40B4-BE49-F238E27FC236}">
                    <a16:creationId xmlns:a16="http://schemas.microsoft.com/office/drawing/2014/main" id="{C30A959C-6326-4E5B-91FA-AB7A34A8C03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431899" y="3812970"/>
                <a:ext cx="218746" cy="618605"/>
              </a:xfrm>
              <a:prstGeom prst="rect">
                <a:avLst/>
              </a:prstGeom>
            </p:spPr>
          </p:pic>
          <p:pic>
            <p:nvPicPr>
              <p:cNvPr id="64" name="Picture 63">
                <a:extLst>
                  <a:ext uri="{FF2B5EF4-FFF2-40B4-BE49-F238E27FC236}">
                    <a16:creationId xmlns:a16="http://schemas.microsoft.com/office/drawing/2014/main" id="{889A9959-691D-40DE-9846-C4DDFA2190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92502" y="3223871"/>
                <a:ext cx="240227" cy="582549"/>
              </a:xfrm>
              <a:prstGeom prst="rect">
                <a:avLst/>
              </a:prstGeom>
            </p:spPr>
          </p:pic>
          <p:pic>
            <p:nvPicPr>
              <p:cNvPr id="65" name="Picture 64">
                <a:extLst>
                  <a:ext uri="{FF2B5EF4-FFF2-40B4-BE49-F238E27FC236}">
                    <a16:creationId xmlns:a16="http://schemas.microsoft.com/office/drawing/2014/main" id="{A63681D3-068F-4168-949F-6F1F83FC6B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282414" y="2672804"/>
                <a:ext cx="240227" cy="582549"/>
              </a:xfrm>
              <a:prstGeom prst="rect">
                <a:avLst/>
              </a:prstGeom>
            </p:spPr>
          </p:pic>
          <p:pic>
            <p:nvPicPr>
              <p:cNvPr id="66" name="Picture 65">
                <a:extLst>
                  <a:ext uri="{FF2B5EF4-FFF2-40B4-BE49-F238E27FC236}">
                    <a16:creationId xmlns:a16="http://schemas.microsoft.com/office/drawing/2014/main" id="{FE709F61-88CF-4DCF-8F74-5CA326CE13B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345936" y="3380383"/>
                <a:ext cx="240227" cy="582549"/>
              </a:xfrm>
              <a:prstGeom prst="rect">
                <a:avLst/>
              </a:prstGeom>
            </p:spPr>
          </p:pic>
          <p:pic>
            <p:nvPicPr>
              <p:cNvPr id="67" name="Picture 66">
                <a:extLst>
                  <a:ext uri="{FF2B5EF4-FFF2-40B4-BE49-F238E27FC236}">
                    <a16:creationId xmlns:a16="http://schemas.microsoft.com/office/drawing/2014/main" id="{8CD5F86E-D775-49B1-B3F1-A5B62F97045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69971" y="2461312"/>
                <a:ext cx="240227" cy="582549"/>
              </a:xfrm>
              <a:prstGeom prst="rect">
                <a:avLst/>
              </a:prstGeom>
            </p:spPr>
          </p:pic>
          <p:cxnSp>
            <p:nvCxnSpPr>
              <p:cNvPr id="68" name="Straight Connector 67">
                <a:extLst>
                  <a:ext uri="{FF2B5EF4-FFF2-40B4-BE49-F238E27FC236}">
                    <a16:creationId xmlns:a16="http://schemas.microsoft.com/office/drawing/2014/main" id="{F9B8F6BD-F98D-4FF0-8701-AFAF2BAB64E5}"/>
                  </a:ext>
                </a:extLst>
              </p:cNvPr>
              <p:cNvCxnSpPr>
                <a:cxnSpLocks/>
                <a:stCxn id="58" idx="6"/>
              </p:cNvCxnSpPr>
              <p:nvPr/>
            </p:nvCxnSpPr>
            <p:spPr>
              <a:xfrm>
                <a:off x="4779361" y="4095532"/>
                <a:ext cx="2989431" cy="53062"/>
              </a:xfrm>
              <a:prstGeom prst="line">
                <a:avLst/>
              </a:prstGeom>
              <a:ln w="25400">
                <a:solidFill>
                  <a:srgbClr val="750558"/>
                </a:solidFill>
                <a:prstDash val="sys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151562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 name="Speech Bubble: Rectangle 94">
            <a:extLst>
              <a:ext uri="{FF2B5EF4-FFF2-40B4-BE49-F238E27FC236}">
                <a16:creationId xmlns:a16="http://schemas.microsoft.com/office/drawing/2014/main" id="{E9C91B4D-2A49-4FCA-99DA-DF14E41F4B44}"/>
              </a:ext>
            </a:extLst>
          </p:cNvPr>
          <p:cNvSpPr/>
          <p:nvPr/>
        </p:nvSpPr>
        <p:spPr>
          <a:xfrm>
            <a:off x="3084567" y="1260255"/>
            <a:ext cx="2461272" cy="1060814"/>
          </a:xfrm>
          <a:prstGeom prst="wedgeRectCallout">
            <a:avLst>
              <a:gd name="adj1" fmla="val -22492"/>
              <a:gd name="adj2" fmla="val 74814"/>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dirty="0">
                <a:solidFill>
                  <a:prstClr val="black"/>
                </a:solidFill>
                <a:latin typeface="Gotham Rounded Book" pitchFamily="50" charset="0"/>
              </a:rPr>
              <a:t>But, what is K?</a:t>
            </a:r>
          </a:p>
          <a:p>
            <a:pPr algn="ctr" defTabSz="914400"/>
            <a:endParaRPr lang="en-US" dirty="0">
              <a:solidFill>
                <a:prstClr val="white"/>
              </a:solidFill>
            </a:endParaRPr>
          </a:p>
        </p:txBody>
      </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grpSp>
        <p:nvGrpSpPr>
          <p:cNvPr id="70" name="Group 69">
            <a:extLst>
              <a:ext uri="{FF2B5EF4-FFF2-40B4-BE49-F238E27FC236}">
                <a16:creationId xmlns:a16="http://schemas.microsoft.com/office/drawing/2014/main" id="{0F0F9EB0-AAAB-41A7-9F2C-DC3FD22250D6}"/>
              </a:ext>
            </a:extLst>
          </p:cNvPr>
          <p:cNvGrpSpPr/>
          <p:nvPr/>
        </p:nvGrpSpPr>
        <p:grpSpPr>
          <a:xfrm>
            <a:off x="2635793" y="2743200"/>
            <a:ext cx="5372100" cy="3619500"/>
            <a:chOff x="1790700" y="2133600"/>
            <a:chExt cx="7810500" cy="4038600"/>
          </a:xfrm>
        </p:grpSpPr>
        <p:sp>
          <p:nvSpPr>
            <p:cNvPr id="71" name="Rectangle: Rounded Corners 70">
              <a:extLst>
                <a:ext uri="{FF2B5EF4-FFF2-40B4-BE49-F238E27FC236}">
                  <a16:creationId xmlns:a16="http://schemas.microsoft.com/office/drawing/2014/main" id="{9A030C58-753C-41F6-A0FC-8875D2DF8597}"/>
                </a:ext>
              </a:extLst>
            </p:cNvPr>
            <p:cNvSpPr/>
            <p:nvPr/>
          </p:nvSpPr>
          <p:spPr>
            <a:xfrm>
              <a:off x="1790700" y="2133600"/>
              <a:ext cx="7810500" cy="4038600"/>
            </a:xfrm>
            <a:prstGeom prst="roundRect">
              <a:avLst/>
            </a:prstGeom>
            <a:solidFill>
              <a:schemeClr val="bg1"/>
            </a:solidFill>
            <a:ln w="28575">
              <a:solidFill>
                <a:srgbClr val="11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72" name="Group 71">
              <a:extLst>
                <a:ext uri="{FF2B5EF4-FFF2-40B4-BE49-F238E27FC236}">
                  <a16:creationId xmlns:a16="http://schemas.microsoft.com/office/drawing/2014/main" id="{2C671893-6B42-45A4-8638-85075661CE28}"/>
                </a:ext>
              </a:extLst>
            </p:cNvPr>
            <p:cNvGrpSpPr/>
            <p:nvPr/>
          </p:nvGrpSpPr>
          <p:grpSpPr>
            <a:xfrm>
              <a:off x="2916948" y="2321039"/>
              <a:ext cx="6375860" cy="3685292"/>
              <a:chOff x="1829328" y="1419035"/>
              <a:chExt cx="8515229" cy="5135393"/>
            </a:xfrm>
          </p:grpSpPr>
          <p:cxnSp>
            <p:nvCxnSpPr>
              <p:cNvPr id="73" name="Straight Arrow Connector 72">
                <a:extLst>
                  <a:ext uri="{FF2B5EF4-FFF2-40B4-BE49-F238E27FC236}">
                    <a16:creationId xmlns:a16="http://schemas.microsoft.com/office/drawing/2014/main" id="{F44AEE0B-092D-42CC-B62D-66D5262FFB58}"/>
                  </a:ext>
                </a:extLst>
              </p:cNvPr>
              <p:cNvCxnSpPr>
                <a:cxnSpLocks/>
              </p:cNvCxnSpPr>
              <p:nvPr/>
            </p:nvCxnSpPr>
            <p:spPr>
              <a:xfrm flipV="1">
                <a:off x="2552700" y="1638300"/>
                <a:ext cx="0" cy="377190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33679E5-58CD-4896-BAE0-69A9F2035BEF}"/>
                  </a:ext>
                </a:extLst>
              </p:cNvPr>
              <p:cNvCxnSpPr>
                <a:cxnSpLocks/>
              </p:cNvCxnSpPr>
              <p:nvPr/>
            </p:nvCxnSpPr>
            <p:spPr>
              <a:xfrm>
                <a:off x="2552700" y="5410200"/>
                <a:ext cx="4419600" cy="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AD9299A-2F03-4884-8968-32E9893815EB}"/>
                  </a:ext>
                </a:extLst>
              </p:cNvPr>
              <p:cNvSpPr txBox="1"/>
              <p:nvPr/>
            </p:nvSpPr>
            <p:spPr>
              <a:xfrm>
                <a:off x="3816296" y="5549491"/>
                <a:ext cx="3224338" cy="1004937"/>
              </a:xfrm>
              <a:prstGeom prst="rect">
                <a:avLst/>
              </a:prstGeom>
              <a:noFill/>
            </p:spPr>
            <p:txBody>
              <a:bodyPr wrap="square" rtlCol="0">
                <a:spAutoFit/>
              </a:bodyPr>
              <a:lstStyle/>
              <a:p>
                <a:pPr defTabSz="914400"/>
                <a:r>
                  <a:rPr lang="en-US" dirty="0">
                    <a:solidFill>
                      <a:prstClr val="black"/>
                    </a:solidFill>
                  </a:rPr>
                  <a:t>Chloride Level </a:t>
                </a:r>
                <a:r>
                  <a:rPr lang="en-US" dirty="0">
                    <a:solidFill>
                      <a:prstClr val="black"/>
                    </a:solidFill>
                    <a:sym typeface="Wingdings" panose="05000000000000000000" pitchFamily="2" charset="2"/>
                  </a:rPr>
                  <a:t></a:t>
                </a:r>
                <a:endParaRPr lang="en-US" dirty="0">
                  <a:solidFill>
                    <a:prstClr val="black"/>
                  </a:solidFill>
                </a:endParaRPr>
              </a:p>
            </p:txBody>
          </p:sp>
          <p:sp>
            <p:nvSpPr>
              <p:cNvPr id="76" name="TextBox 75">
                <a:extLst>
                  <a:ext uri="{FF2B5EF4-FFF2-40B4-BE49-F238E27FC236}">
                    <a16:creationId xmlns:a16="http://schemas.microsoft.com/office/drawing/2014/main" id="{59060EDD-3AF3-4FB7-920F-606A1535D085}"/>
                  </a:ext>
                </a:extLst>
              </p:cNvPr>
              <p:cNvSpPr txBox="1"/>
              <p:nvPr/>
            </p:nvSpPr>
            <p:spPr>
              <a:xfrm rot="16200000">
                <a:off x="122675" y="3125688"/>
                <a:ext cx="4130455" cy="717149"/>
              </a:xfrm>
              <a:prstGeom prst="rect">
                <a:avLst/>
              </a:prstGeom>
              <a:noFill/>
            </p:spPr>
            <p:txBody>
              <a:bodyPr wrap="square" rtlCol="0">
                <a:spAutoFit/>
              </a:bodyPr>
              <a:lstStyle/>
              <a:p>
                <a:pPr defTabSz="914400"/>
                <a:r>
                  <a:rPr lang="en-US" dirty="0">
                    <a:solidFill>
                      <a:prstClr val="black"/>
                    </a:solidFill>
                  </a:rPr>
                  <a:t>Sulphur Dioxide Level </a:t>
                </a:r>
                <a:r>
                  <a:rPr lang="en-US" dirty="0">
                    <a:solidFill>
                      <a:prstClr val="black"/>
                    </a:solidFill>
                    <a:sym typeface="Wingdings" panose="05000000000000000000" pitchFamily="2" charset="2"/>
                  </a:rPr>
                  <a:t></a:t>
                </a:r>
                <a:endParaRPr lang="en-US" dirty="0">
                  <a:solidFill>
                    <a:prstClr val="black"/>
                  </a:solidFill>
                </a:endParaRPr>
              </a:p>
            </p:txBody>
          </p:sp>
          <p:pic>
            <p:nvPicPr>
              <p:cNvPr id="77" name="Picture 76">
                <a:extLst>
                  <a:ext uri="{FF2B5EF4-FFF2-40B4-BE49-F238E27FC236}">
                    <a16:creationId xmlns:a16="http://schemas.microsoft.com/office/drawing/2014/main" id="{DD6ECDFC-2223-4669-8CAE-A6CA44BACD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781301" y="2561685"/>
                <a:ext cx="240227" cy="582549"/>
              </a:xfrm>
              <a:prstGeom prst="rect">
                <a:avLst/>
              </a:prstGeom>
            </p:spPr>
          </p:pic>
          <p:pic>
            <p:nvPicPr>
              <p:cNvPr id="78" name="Picture 77">
                <a:extLst>
                  <a:ext uri="{FF2B5EF4-FFF2-40B4-BE49-F238E27FC236}">
                    <a16:creationId xmlns:a16="http://schemas.microsoft.com/office/drawing/2014/main" id="{D4701F67-16F0-42A6-8E80-F4AA856FB28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576464" y="2515665"/>
                <a:ext cx="218746" cy="618605"/>
              </a:xfrm>
              <a:prstGeom prst="rect">
                <a:avLst/>
              </a:prstGeom>
            </p:spPr>
          </p:pic>
          <p:pic>
            <p:nvPicPr>
              <p:cNvPr id="79" name="Picture 78">
                <a:extLst>
                  <a:ext uri="{FF2B5EF4-FFF2-40B4-BE49-F238E27FC236}">
                    <a16:creationId xmlns:a16="http://schemas.microsoft.com/office/drawing/2014/main" id="{D22DABBA-7A3C-4D86-9DD6-0299134BEAC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232147" y="4791595"/>
                <a:ext cx="218746" cy="618605"/>
              </a:xfrm>
              <a:prstGeom prst="rect">
                <a:avLst/>
              </a:prstGeom>
            </p:spPr>
          </p:pic>
          <p:pic>
            <p:nvPicPr>
              <p:cNvPr id="80" name="Picture 79">
                <a:extLst>
                  <a:ext uri="{FF2B5EF4-FFF2-40B4-BE49-F238E27FC236}">
                    <a16:creationId xmlns:a16="http://schemas.microsoft.com/office/drawing/2014/main" id="{248E6085-BAED-4A5E-80B8-E3515314DE1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77474" y="4204584"/>
                <a:ext cx="218746" cy="618605"/>
              </a:xfrm>
              <a:prstGeom prst="rect">
                <a:avLst/>
              </a:prstGeom>
            </p:spPr>
          </p:pic>
          <p:pic>
            <p:nvPicPr>
              <p:cNvPr id="81" name="Picture 80">
                <a:extLst>
                  <a:ext uri="{FF2B5EF4-FFF2-40B4-BE49-F238E27FC236}">
                    <a16:creationId xmlns:a16="http://schemas.microsoft.com/office/drawing/2014/main" id="{0E17E534-78BC-4352-BFC9-35746B6CCEC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101590" y="3967671"/>
                <a:ext cx="240227" cy="582549"/>
              </a:xfrm>
              <a:prstGeom prst="rect">
                <a:avLst/>
              </a:prstGeom>
            </p:spPr>
          </p:pic>
          <p:pic>
            <p:nvPicPr>
              <p:cNvPr id="82" name="Picture 81">
                <a:extLst>
                  <a:ext uri="{FF2B5EF4-FFF2-40B4-BE49-F238E27FC236}">
                    <a16:creationId xmlns:a16="http://schemas.microsoft.com/office/drawing/2014/main" id="{FBE47E17-21A4-45F9-BB3D-F06D8E83CF5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849132" y="3583194"/>
                <a:ext cx="240227" cy="582549"/>
              </a:xfrm>
              <a:prstGeom prst="rect">
                <a:avLst/>
              </a:prstGeom>
            </p:spPr>
          </p:pic>
          <p:sp>
            <p:nvSpPr>
              <p:cNvPr id="83" name="TextBox 82">
                <a:extLst>
                  <a:ext uri="{FF2B5EF4-FFF2-40B4-BE49-F238E27FC236}">
                    <a16:creationId xmlns:a16="http://schemas.microsoft.com/office/drawing/2014/main" id="{D6646DF9-920E-4809-87DB-918861EAAB9B}"/>
                  </a:ext>
                </a:extLst>
              </p:cNvPr>
              <p:cNvSpPr txBox="1"/>
              <p:nvPr/>
            </p:nvSpPr>
            <p:spPr>
              <a:xfrm>
                <a:off x="7844055" y="3926880"/>
                <a:ext cx="2500502" cy="861375"/>
              </a:xfrm>
              <a:prstGeom prst="rect">
                <a:avLst/>
              </a:prstGeom>
              <a:noFill/>
            </p:spPr>
            <p:txBody>
              <a:bodyPr wrap="square" rtlCol="0">
                <a:spAutoFit/>
              </a:bodyPr>
              <a:lstStyle/>
              <a:p>
                <a:pPr defTabSz="914400"/>
                <a:r>
                  <a:rPr lang="en-US" sz="1500" dirty="0">
                    <a:solidFill>
                      <a:prstClr val="black"/>
                    </a:solidFill>
                    <a:latin typeface="Gotham Rounded Book" pitchFamily="50" charset="0"/>
                  </a:rPr>
                  <a:t>RED or WHITE?</a:t>
                </a:r>
              </a:p>
            </p:txBody>
          </p:sp>
          <p:pic>
            <p:nvPicPr>
              <p:cNvPr id="84" name="Picture 83">
                <a:extLst>
                  <a:ext uri="{FF2B5EF4-FFF2-40B4-BE49-F238E27FC236}">
                    <a16:creationId xmlns:a16="http://schemas.microsoft.com/office/drawing/2014/main" id="{BA41E1FC-24D9-4929-B16A-603B1BC9B4B8}"/>
                  </a:ext>
                </a:extLst>
              </p:cNvPr>
              <p:cNvPicPr>
                <a:picLocks noChangeAspect="1"/>
              </p:cNvPicPr>
              <p:nvPr/>
            </p:nvPicPr>
            <p:blipFill rotWithShape="1">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61111" r="79515" b="555"/>
              <a:stretch/>
            </p:blipFill>
            <p:spPr>
              <a:xfrm>
                <a:off x="4391888" y="3699809"/>
                <a:ext cx="387473" cy="791446"/>
              </a:xfrm>
              <a:prstGeom prst="ellipse">
                <a:avLst/>
              </a:prstGeom>
              <a:ln>
                <a:solidFill>
                  <a:schemeClr val="tx1"/>
                </a:solidFill>
              </a:ln>
            </p:spPr>
          </p:pic>
          <p:pic>
            <p:nvPicPr>
              <p:cNvPr id="85" name="Picture 84">
                <a:extLst>
                  <a:ext uri="{FF2B5EF4-FFF2-40B4-BE49-F238E27FC236}">
                    <a16:creationId xmlns:a16="http://schemas.microsoft.com/office/drawing/2014/main" id="{A5F19E6A-FF27-49D7-9562-904F53EBB88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078541" y="3440940"/>
                <a:ext cx="218746" cy="618605"/>
              </a:xfrm>
              <a:prstGeom prst="rect">
                <a:avLst/>
              </a:prstGeom>
            </p:spPr>
          </p:pic>
          <p:pic>
            <p:nvPicPr>
              <p:cNvPr id="86" name="Picture 85">
                <a:extLst>
                  <a:ext uri="{FF2B5EF4-FFF2-40B4-BE49-F238E27FC236}">
                    <a16:creationId xmlns:a16="http://schemas.microsoft.com/office/drawing/2014/main" id="{F6BEF4C5-27C5-43BA-A59B-7ED7AA0A3F9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638267" y="3231396"/>
                <a:ext cx="218746" cy="618605"/>
              </a:xfrm>
              <a:prstGeom prst="rect">
                <a:avLst/>
              </a:prstGeom>
            </p:spPr>
          </p:pic>
          <p:pic>
            <p:nvPicPr>
              <p:cNvPr id="87" name="Picture 86">
                <a:extLst>
                  <a:ext uri="{FF2B5EF4-FFF2-40B4-BE49-F238E27FC236}">
                    <a16:creationId xmlns:a16="http://schemas.microsoft.com/office/drawing/2014/main" id="{270D0BB2-2EAB-4A08-81D7-1E8511895F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338277" y="4644382"/>
                <a:ext cx="218746" cy="618605"/>
              </a:xfrm>
              <a:prstGeom prst="rect">
                <a:avLst/>
              </a:prstGeom>
            </p:spPr>
          </p:pic>
          <p:pic>
            <p:nvPicPr>
              <p:cNvPr id="88" name="Picture 87">
                <a:extLst>
                  <a:ext uri="{FF2B5EF4-FFF2-40B4-BE49-F238E27FC236}">
                    <a16:creationId xmlns:a16="http://schemas.microsoft.com/office/drawing/2014/main" id="{132C2760-5B0C-4049-8A3B-2983CBE5DB2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847355" y="3617577"/>
                <a:ext cx="218746" cy="618605"/>
              </a:xfrm>
              <a:prstGeom prst="rect">
                <a:avLst/>
              </a:prstGeom>
            </p:spPr>
          </p:pic>
          <p:pic>
            <p:nvPicPr>
              <p:cNvPr id="89" name="Picture 88">
                <a:extLst>
                  <a:ext uri="{FF2B5EF4-FFF2-40B4-BE49-F238E27FC236}">
                    <a16:creationId xmlns:a16="http://schemas.microsoft.com/office/drawing/2014/main" id="{60810C9E-6786-4848-983B-589F70A80CD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431899" y="3812970"/>
                <a:ext cx="218746" cy="618605"/>
              </a:xfrm>
              <a:prstGeom prst="rect">
                <a:avLst/>
              </a:prstGeom>
            </p:spPr>
          </p:pic>
          <p:pic>
            <p:nvPicPr>
              <p:cNvPr id="90" name="Picture 89">
                <a:extLst>
                  <a:ext uri="{FF2B5EF4-FFF2-40B4-BE49-F238E27FC236}">
                    <a16:creationId xmlns:a16="http://schemas.microsoft.com/office/drawing/2014/main" id="{098509EB-8954-49AC-B53C-56501A494B6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92502" y="3223871"/>
                <a:ext cx="240227" cy="582549"/>
              </a:xfrm>
              <a:prstGeom prst="rect">
                <a:avLst/>
              </a:prstGeom>
            </p:spPr>
          </p:pic>
          <p:pic>
            <p:nvPicPr>
              <p:cNvPr id="91" name="Picture 90">
                <a:extLst>
                  <a:ext uri="{FF2B5EF4-FFF2-40B4-BE49-F238E27FC236}">
                    <a16:creationId xmlns:a16="http://schemas.microsoft.com/office/drawing/2014/main" id="{C1C420F7-D59C-4578-B33B-A9498C7FBA3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282414" y="2672804"/>
                <a:ext cx="240227" cy="582549"/>
              </a:xfrm>
              <a:prstGeom prst="rect">
                <a:avLst/>
              </a:prstGeom>
            </p:spPr>
          </p:pic>
          <p:pic>
            <p:nvPicPr>
              <p:cNvPr id="92" name="Picture 91">
                <a:extLst>
                  <a:ext uri="{FF2B5EF4-FFF2-40B4-BE49-F238E27FC236}">
                    <a16:creationId xmlns:a16="http://schemas.microsoft.com/office/drawing/2014/main" id="{1143F452-F135-4D97-80C8-12E811CBFD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345936" y="3380383"/>
                <a:ext cx="240227" cy="582549"/>
              </a:xfrm>
              <a:prstGeom prst="rect">
                <a:avLst/>
              </a:prstGeom>
            </p:spPr>
          </p:pic>
          <p:pic>
            <p:nvPicPr>
              <p:cNvPr id="93" name="Picture 92">
                <a:extLst>
                  <a:ext uri="{FF2B5EF4-FFF2-40B4-BE49-F238E27FC236}">
                    <a16:creationId xmlns:a16="http://schemas.microsoft.com/office/drawing/2014/main" id="{9BE6683E-7688-4122-A5D2-7C7C2B5F527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69971" y="2461312"/>
                <a:ext cx="240227" cy="582549"/>
              </a:xfrm>
              <a:prstGeom prst="rect">
                <a:avLst/>
              </a:prstGeom>
            </p:spPr>
          </p:pic>
          <p:cxnSp>
            <p:nvCxnSpPr>
              <p:cNvPr id="94" name="Straight Connector 93">
                <a:extLst>
                  <a:ext uri="{FF2B5EF4-FFF2-40B4-BE49-F238E27FC236}">
                    <a16:creationId xmlns:a16="http://schemas.microsoft.com/office/drawing/2014/main" id="{C9F9504B-D2F2-451F-BFA5-AE01B5D9EAC5}"/>
                  </a:ext>
                </a:extLst>
              </p:cNvPr>
              <p:cNvCxnSpPr>
                <a:cxnSpLocks/>
                <a:stCxn id="84" idx="6"/>
              </p:cNvCxnSpPr>
              <p:nvPr/>
            </p:nvCxnSpPr>
            <p:spPr>
              <a:xfrm>
                <a:off x="4779361" y="4095532"/>
                <a:ext cx="2989431" cy="53062"/>
              </a:xfrm>
              <a:prstGeom prst="line">
                <a:avLst/>
              </a:prstGeom>
              <a:ln w="25400">
                <a:solidFill>
                  <a:srgbClr val="750558"/>
                </a:solidFill>
                <a:prstDash val="sys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912388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 name="Speech Bubble: Rectangle 44">
            <a:extLst>
              <a:ext uri="{FF2B5EF4-FFF2-40B4-BE49-F238E27FC236}">
                <a16:creationId xmlns:a16="http://schemas.microsoft.com/office/drawing/2014/main" id="{1D900614-65EF-43A1-91E2-BF58065B1D89}"/>
              </a:ext>
            </a:extLst>
          </p:cNvPr>
          <p:cNvSpPr/>
          <p:nvPr/>
        </p:nvSpPr>
        <p:spPr>
          <a:xfrm>
            <a:off x="929047" y="1344478"/>
            <a:ext cx="7983940" cy="1060814"/>
          </a:xfrm>
          <a:prstGeom prst="wedgeRectCallout">
            <a:avLst>
              <a:gd name="adj1" fmla="val -22492"/>
              <a:gd name="adj2" fmla="val 74814"/>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i="1" dirty="0">
                <a:solidFill>
                  <a:prstClr val="black"/>
                </a:solidFill>
                <a:latin typeface="Gotham Rounded Book" pitchFamily="50" charset="0"/>
              </a:rPr>
              <a:t>k</a:t>
            </a:r>
            <a:r>
              <a:rPr lang="en-US" sz="2400" dirty="0">
                <a:solidFill>
                  <a:prstClr val="black"/>
                </a:solidFill>
                <a:latin typeface="Gotham Rounded Book" pitchFamily="50" charset="0"/>
              </a:rPr>
              <a:t> in </a:t>
            </a:r>
            <a:r>
              <a:rPr lang="en-US" sz="2400" b="1" dirty="0">
                <a:solidFill>
                  <a:prstClr val="black"/>
                </a:solidFill>
                <a:latin typeface="Gotham Rounded Book" pitchFamily="50" charset="0"/>
              </a:rPr>
              <a:t>KNN</a:t>
            </a:r>
            <a:r>
              <a:rPr lang="en-US" sz="2400" dirty="0">
                <a:solidFill>
                  <a:prstClr val="black"/>
                </a:solidFill>
                <a:latin typeface="Gotham Rounded Book" pitchFamily="50" charset="0"/>
              </a:rPr>
              <a:t> is a parameter that refers to the number of nearest neighbors to include in the majority voting process</a:t>
            </a:r>
            <a:endParaRPr lang="en-US" sz="2400" dirty="0">
              <a:solidFill>
                <a:prstClr val="white"/>
              </a:solidFill>
            </a:endParaRPr>
          </a:p>
        </p:txBody>
      </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grpSp>
        <p:nvGrpSpPr>
          <p:cNvPr id="37" name="Group 36">
            <a:extLst>
              <a:ext uri="{FF2B5EF4-FFF2-40B4-BE49-F238E27FC236}">
                <a16:creationId xmlns:a16="http://schemas.microsoft.com/office/drawing/2014/main" id="{9E7AD70F-CF4C-4000-8A78-A4E464315BD5}"/>
              </a:ext>
            </a:extLst>
          </p:cNvPr>
          <p:cNvGrpSpPr/>
          <p:nvPr/>
        </p:nvGrpSpPr>
        <p:grpSpPr>
          <a:xfrm>
            <a:off x="2635793" y="2743200"/>
            <a:ext cx="5372100" cy="3619500"/>
            <a:chOff x="1790700" y="2133600"/>
            <a:chExt cx="7810500" cy="4038600"/>
          </a:xfrm>
        </p:grpSpPr>
        <p:sp>
          <p:nvSpPr>
            <p:cNvPr id="4" name="Rectangle: Rounded Corners 3">
              <a:extLst>
                <a:ext uri="{FF2B5EF4-FFF2-40B4-BE49-F238E27FC236}">
                  <a16:creationId xmlns:a16="http://schemas.microsoft.com/office/drawing/2014/main" id="{9FC8E77D-8C55-40C7-BC9D-19E346542DAC}"/>
                </a:ext>
              </a:extLst>
            </p:cNvPr>
            <p:cNvSpPr/>
            <p:nvPr/>
          </p:nvSpPr>
          <p:spPr>
            <a:xfrm>
              <a:off x="1790700" y="2133600"/>
              <a:ext cx="7810500" cy="4038600"/>
            </a:xfrm>
            <a:prstGeom prst="roundRect">
              <a:avLst/>
            </a:prstGeom>
            <a:solidFill>
              <a:schemeClr val="bg1"/>
            </a:solidFill>
            <a:ln w="28575">
              <a:solidFill>
                <a:srgbClr val="11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11" name="Group 10">
              <a:extLst>
                <a:ext uri="{FF2B5EF4-FFF2-40B4-BE49-F238E27FC236}">
                  <a16:creationId xmlns:a16="http://schemas.microsoft.com/office/drawing/2014/main" id="{1845A8C1-D1B2-4465-AD2C-F71D1160743A}"/>
                </a:ext>
              </a:extLst>
            </p:cNvPr>
            <p:cNvGrpSpPr/>
            <p:nvPr/>
          </p:nvGrpSpPr>
          <p:grpSpPr>
            <a:xfrm>
              <a:off x="3458580" y="2478389"/>
              <a:ext cx="5834228" cy="2706814"/>
              <a:chOff x="2552700" y="1638300"/>
              <a:chExt cx="7791857" cy="3771900"/>
            </a:xfrm>
          </p:grpSpPr>
          <p:cxnSp>
            <p:nvCxnSpPr>
              <p:cNvPr id="15" name="Straight Arrow Connector 14">
                <a:extLst>
                  <a:ext uri="{FF2B5EF4-FFF2-40B4-BE49-F238E27FC236}">
                    <a16:creationId xmlns:a16="http://schemas.microsoft.com/office/drawing/2014/main" id="{152C0FB8-2A82-4245-907A-6538B6979C60}"/>
                  </a:ext>
                </a:extLst>
              </p:cNvPr>
              <p:cNvCxnSpPr>
                <a:cxnSpLocks/>
              </p:cNvCxnSpPr>
              <p:nvPr/>
            </p:nvCxnSpPr>
            <p:spPr>
              <a:xfrm flipV="1">
                <a:off x="2552700" y="1638300"/>
                <a:ext cx="0" cy="377190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2285BE2-B66F-4148-AEED-B8160E6D0A04}"/>
                  </a:ext>
                </a:extLst>
              </p:cNvPr>
              <p:cNvCxnSpPr>
                <a:cxnSpLocks/>
              </p:cNvCxnSpPr>
              <p:nvPr/>
            </p:nvCxnSpPr>
            <p:spPr>
              <a:xfrm>
                <a:off x="2552700" y="5410200"/>
                <a:ext cx="4419600" cy="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18E113A8-2275-40ED-B7B7-43B91F9AFE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781301" y="2561685"/>
                <a:ext cx="240227" cy="582549"/>
              </a:xfrm>
              <a:prstGeom prst="rect">
                <a:avLst/>
              </a:prstGeom>
            </p:spPr>
          </p:pic>
          <p:pic>
            <p:nvPicPr>
              <p:cNvPr id="21" name="Picture 20">
                <a:extLst>
                  <a:ext uri="{FF2B5EF4-FFF2-40B4-BE49-F238E27FC236}">
                    <a16:creationId xmlns:a16="http://schemas.microsoft.com/office/drawing/2014/main" id="{8705C87F-5618-4289-9AD5-7B185F18A6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576464" y="2515665"/>
                <a:ext cx="218746" cy="618605"/>
              </a:xfrm>
              <a:prstGeom prst="rect">
                <a:avLst/>
              </a:prstGeom>
            </p:spPr>
          </p:pic>
          <p:pic>
            <p:nvPicPr>
              <p:cNvPr id="24" name="Picture 23">
                <a:extLst>
                  <a:ext uri="{FF2B5EF4-FFF2-40B4-BE49-F238E27FC236}">
                    <a16:creationId xmlns:a16="http://schemas.microsoft.com/office/drawing/2014/main" id="{671B8A23-21B1-488B-8975-DF10AC9AC3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232147" y="4791595"/>
                <a:ext cx="218746" cy="618605"/>
              </a:xfrm>
              <a:prstGeom prst="rect">
                <a:avLst/>
              </a:prstGeom>
            </p:spPr>
          </p:pic>
          <p:pic>
            <p:nvPicPr>
              <p:cNvPr id="27" name="Picture 26">
                <a:extLst>
                  <a:ext uri="{FF2B5EF4-FFF2-40B4-BE49-F238E27FC236}">
                    <a16:creationId xmlns:a16="http://schemas.microsoft.com/office/drawing/2014/main" id="{827CA132-F60C-4B13-97C8-C6A3C462126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77474" y="4204584"/>
                <a:ext cx="218746" cy="618605"/>
              </a:xfrm>
              <a:prstGeom prst="rect">
                <a:avLst/>
              </a:prstGeom>
            </p:spPr>
          </p:pic>
          <p:pic>
            <p:nvPicPr>
              <p:cNvPr id="32" name="Picture 31">
                <a:extLst>
                  <a:ext uri="{FF2B5EF4-FFF2-40B4-BE49-F238E27FC236}">
                    <a16:creationId xmlns:a16="http://schemas.microsoft.com/office/drawing/2014/main" id="{0164D7DF-37AB-4CD6-B1E4-41690A593A9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101590" y="3967671"/>
                <a:ext cx="240227" cy="582549"/>
              </a:xfrm>
              <a:prstGeom prst="rect">
                <a:avLst/>
              </a:prstGeom>
            </p:spPr>
          </p:pic>
          <p:pic>
            <p:nvPicPr>
              <p:cNvPr id="33" name="Picture 32">
                <a:extLst>
                  <a:ext uri="{FF2B5EF4-FFF2-40B4-BE49-F238E27FC236}">
                    <a16:creationId xmlns:a16="http://schemas.microsoft.com/office/drawing/2014/main" id="{329E0458-E555-481A-BF78-1E8808BE318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849132" y="3583194"/>
                <a:ext cx="240227" cy="582549"/>
              </a:xfrm>
              <a:prstGeom prst="rect">
                <a:avLst/>
              </a:prstGeom>
            </p:spPr>
          </p:pic>
          <p:sp>
            <p:nvSpPr>
              <p:cNvPr id="36" name="TextBox 35">
                <a:extLst>
                  <a:ext uri="{FF2B5EF4-FFF2-40B4-BE49-F238E27FC236}">
                    <a16:creationId xmlns:a16="http://schemas.microsoft.com/office/drawing/2014/main" id="{594AF1BB-A706-48CA-8082-006268DA54BA}"/>
                  </a:ext>
                </a:extLst>
              </p:cNvPr>
              <p:cNvSpPr txBox="1"/>
              <p:nvPr/>
            </p:nvSpPr>
            <p:spPr>
              <a:xfrm>
                <a:off x="7844054" y="3926879"/>
                <a:ext cx="2500503" cy="861375"/>
              </a:xfrm>
              <a:prstGeom prst="rect">
                <a:avLst/>
              </a:prstGeom>
              <a:noFill/>
            </p:spPr>
            <p:txBody>
              <a:bodyPr wrap="square" rtlCol="0">
                <a:spAutoFit/>
              </a:bodyPr>
              <a:lstStyle/>
              <a:p>
                <a:pPr defTabSz="914400"/>
                <a:r>
                  <a:rPr lang="en-US" sz="1500" dirty="0">
                    <a:solidFill>
                      <a:prstClr val="black"/>
                    </a:solidFill>
                    <a:latin typeface="Gotham Rounded Book" pitchFamily="50" charset="0"/>
                  </a:rPr>
                  <a:t>RED or WHITE?</a:t>
                </a:r>
              </a:p>
            </p:txBody>
          </p:sp>
          <p:pic>
            <p:nvPicPr>
              <p:cNvPr id="20" name="Picture 19">
                <a:extLst>
                  <a:ext uri="{FF2B5EF4-FFF2-40B4-BE49-F238E27FC236}">
                    <a16:creationId xmlns:a16="http://schemas.microsoft.com/office/drawing/2014/main" id="{7CA33A63-9149-42B4-91D6-6CCA63BE7026}"/>
                  </a:ext>
                </a:extLst>
              </p:cNvPr>
              <p:cNvPicPr>
                <a:picLocks noChangeAspect="1"/>
              </p:cNvPicPr>
              <p:nvPr/>
            </p:nvPicPr>
            <p:blipFill rotWithShape="1">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61111" r="79515" b="555"/>
              <a:stretch/>
            </p:blipFill>
            <p:spPr>
              <a:xfrm>
                <a:off x="4391888" y="3699809"/>
                <a:ext cx="387473" cy="791446"/>
              </a:xfrm>
              <a:prstGeom prst="ellipse">
                <a:avLst/>
              </a:prstGeom>
              <a:ln>
                <a:solidFill>
                  <a:schemeClr val="tx1"/>
                </a:solidFill>
              </a:ln>
            </p:spPr>
          </p:pic>
          <p:pic>
            <p:nvPicPr>
              <p:cNvPr id="22" name="Picture 21">
                <a:extLst>
                  <a:ext uri="{FF2B5EF4-FFF2-40B4-BE49-F238E27FC236}">
                    <a16:creationId xmlns:a16="http://schemas.microsoft.com/office/drawing/2014/main" id="{F1EA91D0-530E-4E38-88F4-A13A08F9379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078541" y="3440940"/>
                <a:ext cx="218746" cy="618605"/>
              </a:xfrm>
              <a:prstGeom prst="rect">
                <a:avLst/>
              </a:prstGeom>
            </p:spPr>
          </p:pic>
          <p:pic>
            <p:nvPicPr>
              <p:cNvPr id="23" name="Picture 22">
                <a:extLst>
                  <a:ext uri="{FF2B5EF4-FFF2-40B4-BE49-F238E27FC236}">
                    <a16:creationId xmlns:a16="http://schemas.microsoft.com/office/drawing/2014/main" id="{8EC0B016-D703-46E6-8869-E2312570BA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638267" y="3231396"/>
                <a:ext cx="218746" cy="618605"/>
              </a:xfrm>
              <a:prstGeom prst="rect">
                <a:avLst/>
              </a:prstGeom>
            </p:spPr>
          </p:pic>
          <p:pic>
            <p:nvPicPr>
              <p:cNvPr id="25" name="Picture 24">
                <a:extLst>
                  <a:ext uri="{FF2B5EF4-FFF2-40B4-BE49-F238E27FC236}">
                    <a16:creationId xmlns:a16="http://schemas.microsoft.com/office/drawing/2014/main" id="{DC28C406-317A-4D7B-B2F8-B1A194786C4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338277" y="4644382"/>
                <a:ext cx="218746" cy="618605"/>
              </a:xfrm>
              <a:prstGeom prst="rect">
                <a:avLst/>
              </a:prstGeom>
            </p:spPr>
          </p:pic>
          <p:pic>
            <p:nvPicPr>
              <p:cNvPr id="26" name="Picture 25">
                <a:extLst>
                  <a:ext uri="{FF2B5EF4-FFF2-40B4-BE49-F238E27FC236}">
                    <a16:creationId xmlns:a16="http://schemas.microsoft.com/office/drawing/2014/main" id="{EB3FA920-E611-4237-9ED9-7AE1A0A8150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847355" y="3617577"/>
                <a:ext cx="218746" cy="618605"/>
              </a:xfrm>
              <a:prstGeom prst="rect">
                <a:avLst/>
              </a:prstGeom>
            </p:spPr>
          </p:pic>
          <p:pic>
            <p:nvPicPr>
              <p:cNvPr id="28" name="Picture 27">
                <a:extLst>
                  <a:ext uri="{FF2B5EF4-FFF2-40B4-BE49-F238E27FC236}">
                    <a16:creationId xmlns:a16="http://schemas.microsoft.com/office/drawing/2014/main" id="{E2F7DEBB-7B49-42DE-B854-EA0CEDDDED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431899" y="3812970"/>
                <a:ext cx="218746" cy="618605"/>
              </a:xfrm>
              <a:prstGeom prst="rect">
                <a:avLst/>
              </a:prstGeom>
            </p:spPr>
          </p:pic>
          <p:pic>
            <p:nvPicPr>
              <p:cNvPr id="29" name="Picture 28">
                <a:extLst>
                  <a:ext uri="{FF2B5EF4-FFF2-40B4-BE49-F238E27FC236}">
                    <a16:creationId xmlns:a16="http://schemas.microsoft.com/office/drawing/2014/main" id="{73B933C9-FDB0-49E5-887E-E5862ECD10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92502" y="3223871"/>
                <a:ext cx="240227" cy="582549"/>
              </a:xfrm>
              <a:prstGeom prst="rect">
                <a:avLst/>
              </a:prstGeom>
            </p:spPr>
          </p:pic>
          <p:pic>
            <p:nvPicPr>
              <p:cNvPr id="30" name="Picture 29">
                <a:extLst>
                  <a:ext uri="{FF2B5EF4-FFF2-40B4-BE49-F238E27FC236}">
                    <a16:creationId xmlns:a16="http://schemas.microsoft.com/office/drawing/2014/main" id="{5CE65CE4-AD1A-413E-B459-508CF26AB7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282414" y="2672804"/>
                <a:ext cx="240227" cy="582549"/>
              </a:xfrm>
              <a:prstGeom prst="rect">
                <a:avLst/>
              </a:prstGeom>
            </p:spPr>
          </p:pic>
          <p:pic>
            <p:nvPicPr>
              <p:cNvPr id="31" name="Picture 30">
                <a:extLst>
                  <a:ext uri="{FF2B5EF4-FFF2-40B4-BE49-F238E27FC236}">
                    <a16:creationId xmlns:a16="http://schemas.microsoft.com/office/drawing/2014/main" id="{1E7CB1B9-1596-4621-8DEC-A1B9729AE9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345936" y="3380383"/>
                <a:ext cx="240227" cy="582549"/>
              </a:xfrm>
              <a:prstGeom prst="rect">
                <a:avLst/>
              </a:prstGeom>
            </p:spPr>
          </p:pic>
          <p:pic>
            <p:nvPicPr>
              <p:cNvPr id="34" name="Picture 33">
                <a:extLst>
                  <a:ext uri="{FF2B5EF4-FFF2-40B4-BE49-F238E27FC236}">
                    <a16:creationId xmlns:a16="http://schemas.microsoft.com/office/drawing/2014/main" id="{CF6F2F5D-7BFB-4B6C-969F-C8150FB4FD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69971" y="2461312"/>
                <a:ext cx="240227" cy="582549"/>
              </a:xfrm>
              <a:prstGeom prst="rect">
                <a:avLst/>
              </a:prstGeom>
            </p:spPr>
          </p:pic>
          <p:cxnSp>
            <p:nvCxnSpPr>
              <p:cNvPr id="35" name="Straight Connector 34">
                <a:extLst>
                  <a:ext uri="{FF2B5EF4-FFF2-40B4-BE49-F238E27FC236}">
                    <a16:creationId xmlns:a16="http://schemas.microsoft.com/office/drawing/2014/main" id="{C96D8A85-57C1-4C2E-8833-412A5F5666CC}"/>
                  </a:ext>
                </a:extLst>
              </p:cNvPr>
              <p:cNvCxnSpPr>
                <a:cxnSpLocks/>
                <a:stCxn id="20" idx="6"/>
              </p:cNvCxnSpPr>
              <p:nvPr/>
            </p:nvCxnSpPr>
            <p:spPr>
              <a:xfrm>
                <a:off x="4779361" y="4095532"/>
                <a:ext cx="2989431" cy="53062"/>
              </a:xfrm>
              <a:prstGeom prst="line">
                <a:avLst/>
              </a:prstGeom>
              <a:ln w="25400">
                <a:solidFill>
                  <a:srgbClr val="750558"/>
                </a:solidFill>
                <a:prstDash val="sysDash"/>
              </a:ln>
            </p:spPr>
            <p:style>
              <a:lnRef idx="1">
                <a:schemeClr val="accent1"/>
              </a:lnRef>
              <a:fillRef idx="0">
                <a:schemeClr val="accent1"/>
              </a:fillRef>
              <a:effectRef idx="0">
                <a:schemeClr val="accent1"/>
              </a:effectRef>
              <a:fontRef idx="minor">
                <a:schemeClr val="tx1"/>
              </a:fontRef>
            </p:style>
          </p:cxnSp>
        </p:grpSp>
      </p:grpSp>
      <p:sp>
        <p:nvSpPr>
          <p:cNvPr id="42" name="Rectangle 41">
            <a:extLst>
              <a:ext uri="{FF2B5EF4-FFF2-40B4-BE49-F238E27FC236}">
                <a16:creationId xmlns:a16="http://schemas.microsoft.com/office/drawing/2014/main" id="{0022DB62-48CA-4809-972F-8FAEA1F3E0D7}"/>
              </a:ext>
            </a:extLst>
          </p:cNvPr>
          <p:cNvSpPr/>
          <p:nvPr/>
        </p:nvSpPr>
        <p:spPr>
          <a:xfrm>
            <a:off x="287687" y="1555045"/>
            <a:ext cx="2503422" cy="323165"/>
          </a:xfrm>
          <a:prstGeom prst="rect">
            <a:avLst/>
          </a:prstGeom>
        </p:spPr>
        <p:txBody>
          <a:bodyPr wrap="square">
            <a:spAutoFit/>
          </a:bodyPr>
          <a:lstStyle/>
          <a:p>
            <a:pPr algn="ctr" defTabSz="914400"/>
            <a:r>
              <a:rPr lang="en-US" sz="1500" dirty="0">
                <a:solidFill>
                  <a:prstClr val="black"/>
                </a:solidFill>
                <a:latin typeface="Gotham Rounded Book" pitchFamily="50" charset="0"/>
              </a:rPr>
              <a:t> </a:t>
            </a:r>
          </a:p>
        </p:txBody>
      </p:sp>
      <p:sp>
        <p:nvSpPr>
          <p:cNvPr id="3" name="Oval 2">
            <a:extLst>
              <a:ext uri="{FF2B5EF4-FFF2-40B4-BE49-F238E27FC236}">
                <a16:creationId xmlns:a16="http://schemas.microsoft.com/office/drawing/2014/main" id="{7B52BD98-3BFB-4B00-93A8-58446AB2E5F1}"/>
              </a:ext>
            </a:extLst>
          </p:cNvPr>
          <p:cNvSpPr/>
          <p:nvPr/>
        </p:nvSpPr>
        <p:spPr>
          <a:xfrm>
            <a:off x="4307093" y="3854069"/>
            <a:ext cx="1056834" cy="1272693"/>
          </a:xfrm>
          <a:prstGeom prst="ellipse">
            <a:avLst/>
          </a:prstGeom>
          <a:solidFill>
            <a:schemeClr val="bg1">
              <a:alpha val="0"/>
            </a:schemeClr>
          </a:solid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44" name="Rectangle 43">
            <a:extLst>
              <a:ext uri="{FF2B5EF4-FFF2-40B4-BE49-F238E27FC236}">
                <a16:creationId xmlns:a16="http://schemas.microsoft.com/office/drawing/2014/main" id="{BC481C6E-0067-4AA9-AB96-1A415D179115}"/>
              </a:ext>
            </a:extLst>
          </p:cNvPr>
          <p:cNvSpPr/>
          <p:nvPr/>
        </p:nvSpPr>
        <p:spPr>
          <a:xfrm>
            <a:off x="6886576" y="2933708"/>
            <a:ext cx="666793" cy="483391"/>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dirty="0">
                <a:solidFill>
                  <a:prstClr val="white"/>
                </a:solidFill>
              </a:rPr>
              <a:t>K=5</a:t>
            </a:r>
          </a:p>
        </p:txBody>
      </p:sp>
      <p:sp>
        <p:nvSpPr>
          <p:cNvPr id="38" name="TextBox 37">
            <a:extLst>
              <a:ext uri="{FF2B5EF4-FFF2-40B4-BE49-F238E27FC236}">
                <a16:creationId xmlns:a16="http://schemas.microsoft.com/office/drawing/2014/main" id="{6F1A84AB-E8A4-495C-A235-F2BD4BD16557}"/>
              </a:ext>
            </a:extLst>
          </p:cNvPr>
          <p:cNvSpPr txBox="1"/>
          <p:nvPr/>
        </p:nvSpPr>
        <p:spPr>
          <a:xfrm>
            <a:off x="4433722" y="5567715"/>
            <a:ext cx="1660536" cy="646331"/>
          </a:xfrm>
          <a:prstGeom prst="rect">
            <a:avLst/>
          </a:prstGeom>
          <a:noFill/>
        </p:spPr>
        <p:txBody>
          <a:bodyPr wrap="square" rtlCol="0">
            <a:spAutoFit/>
          </a:bodyPr>
          <a:lstStyle/>
          <a:p>
            <a:pPr defTabSz="914400"/>
            <a:r>
              <a:rPr lang="en-US" dirty="0">
                <a:solidFill>
                  <a:prstClr val="black"/>
                </a:solidFill>
              </a:rPr>
              <a:t>Chloride Level </a:t>
            </a:r>
            <a:r>
              <a:rPr lang="en-US" dirty="0">
                <a:solidFill>
                  <a:prstClr val="black"/>
                </a:solidFill>
                <a:sym typeface="Wingdings" panose="05000000000000000000" pitchFamily="2" charset="2"/>
              </a:rPr>
              <a:t></a:t>
            </a:r>
            <a:endParaRPr lang="en-US" dirty="0">
              <a:solidFill>
                <a:prstClr val="black"/>
              </a:solidFill>
            </a:endParaRPr>
          </a:p>
        </p:txBody>
      </p:sp>
      <p:sp>
        <p:nvSpPr>
          <p:cNvPr id="39" name="TextBox 38">
            <a:extLst>
              <a:ext uri="{FF2B5EF4-FFF2-40B4-BE49-F238E27FC236}">
                <a16:creationId xmlns:a16="http://schemas.microsoft.com/office/drawing/2014/main" id="{8156CC5F-858F-4595-88B3-27A24FC454EB}"/>
              </a:ext>
            </a:extLst>
          </p:cNvPr>
          <p:cNvSpPr txBox="1"/>
          <p:nvPr/>
        </p:nvSpPr>
        <p:spPr>
          <a:xfrm rot="16200000">
            <a:off x="2266837" y="4054785"/>
            <a:ext cx="2656525" cy="369332"/>
          </a:xfrm>
          <a:prstGeom prst="rect">
            <a:avLst/>
          </a:prstGeom>
          <a:noFill/>
        </p:spPr>
        <p:txBody>
          <a:bodyPr wrap="square" rtlCol="0">
            <a:spAutoFit/>
          </a:bodyPr>
          <a:lstStyle/>
          <a:p>
            <a:pPr defTabSz="914400"/>
            <a:r>
              <a:rPr lang="en-US" dirty="0">
                <a:solidFill>
                  <a:prstClr val="black"/>
                </a:solidFill>
              </a:rPr>
              <a:t>Sulphur Dioxide Level </a:t>
            </a:r>
            <a:r>
              <a:rPr lang="en-US" dirty="0">
                <a:solidFill>
                  <a:prstClr val="black"/>
                </a:solidFill>
                <a:sym typeface="Wingdings" panose="05000000000000000000" pitchFamily="2" charset="2"/>
              </a:rPr>
              <a:t></a:t>
            </a:r>
            <a:endParaRPr lang="en-US" dirty="0">
              <a:solidFill>
                <a:prstClr val="black"/>
              </a:solidFill>
            </a:endParaRPr>
          </a:p>
        </p:txBody>
      </p:sp>
    </p:spTree>
    <p:extLst>
      <p:ext uri="{BB962C8B-B14F-4D97-AF65-F5344CB8AC3E}">
        <p14:creationId xmlns:p14="http://schemas.microsoft.com/office/powerpoint/2010/main" val="2236054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 name="Speech Bubble: Rectangle 44">
            <a:extLst>
              <a:ext uri="{FF2B5EF4-FFF2-40B4-BE49-F238E27FC236}">
                <a16:creationId xmlns:a16="http://schemas.microsoft.com/office/drawing/2014/main" id="{1B8DD8BD-270D-4860-8C72-7B37EA0D9C05}"/>
              </a:ext>
            </a:extLst>
          </p:cNvPr>
          <p:cNvSpPr/>
          <p:nvPr/>
        </p:nvSpPr>
        <p:spPr>
          <a:xfrm>
            <a:off x="752925" y="1446346"/>
            <a:ext cx="8159070" cy="1060814"/>
          </a:xfrm>
          <a:prstGeom prst="wedgeRectCallout">
            <a:avLst>
              <a:gd name="adj1" fmla="val -22492"/>
              <a:gd name="adj2" fmla="val 74814"/>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dirty="0">
                <a:solidFill>
                  <a:prstClr val="black"/>
                </a:solidFill>
                <a:latin typeface="Gotham Rounded Book" pitchFamily="50" charset="0"/>
              </a:rPr>
              <a:t>A data point is classified by majority votes from its 5 nearest neighbors</a:t>
            </a:r>
          </a:p>
          <a:p>
            <a:pPr algn="ctr" defTabSz="914400"/>
            <a:endParaRPr lang="en-US" sz="2400" dirty="0">
              <a:solidFill>
                <a:prstClr val="white"/>
              </a:solidFill>
              <a:latin typeface="Gotham Rounded Book" pitchFamily="50" charset="0"/>
            </a:endParaRPr>
          </a:p>
        </p:txBody>
      </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grpSp>
        <p:nvGrpSpPr>
          <p:cNvPr id="37" name="Group 36">
            <a:extLst>
              <a:ext uri="{FF2B5EF4-FFF2-40B4-BE49-F238E27FC236}">
                <a16:creationId xmlns:a16="http://schemas.microsoft.com/office/drawing/2014/main" id="{9E7AD70F-CF4C-4000-8A78-A4E464315BD5}"/>
              </a:ext>
            </a:extLst>
          </p:cNvPr>
          <p:cNvGrpSpPr/>
          <p:nvPr/>
        </p:nvGrpSpPr>
        <p:grpSpPr>
          <a:xfrm>
            <a:off x="2635793" y="2743200"/>
            <a:ext cx="5372100" cy="3619500"/>
            <a:chOff x="1790700" y="2133600"/>
            <a:chExt cx="7810500" cy="4038600"/>
          </a:xfrm>
        </p:grpSpPr>
        <p:sp>
          <p:nvSpPr>
            <p:cNvPr id="4" name="Rectangle: Rounded Corners 3">
              <a:extLst>
                <a:ext uri="{FF2B5EF4-FFF2-40B4-BE49-F238E27FC236}">
                  <a16:creationId xmlns:a16="http://schemas.microsoft.com/office/drawing/2014/main" id="{9FC8E77D-8C55-40C7-BC9D-19E346542DAC}"/>
                </a:ext>
              </a:extLst>
            </p:cNvPr>
            <p:cNvSpPr/>
            <p:nvPr/>
          </p:nvSpPr>
          <p:spPr>
            <a:xfrm>
              <a:off x="1790700" y="2133600"/>
              <a:ext cx="7810500" cy="4038600"/>
            </a:xfrm>
            <a:prstGeom prst="roundRect">
              <a:avLst/>
            </a:prstGeom>
            <a:solidFill>
              <a:schemeClr val="bg1"/>
            </a:solidFill>
            <a:ln w="28575">
              <a:solidFill>
                <a:srgbClr val="11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500">
                <a:solidFill>
                  <a:prstClr val="white"/>
                </a:solidFill>
                <a:latin typeface="Gotham Rounded Book" pitchFamily="50" charset="0"/>
              </a:endParaRPr>
            </a:p>
          </p:txBody>
        </p:sp>
        <p:grpSp>
          <p:nvGrpSpPr>
            <p:cNvPr id="11" name="Group 10">
              <a:extLst>
                <a:ext uri="{FF2B5EF4-FFF2-40B4-BE49-F238E27FC236}">
                  <a16:creationId xmlns:a16="http://schemas.microsoft.com/office/drawing/2014/main" id="{1845A8C1-D1B2-4465-AD2C-F71D1160743A}"/>
                </a:ext>
              </a:extLst>
            </p:cNvPr>
            <p:cNvGrpSpPr/>
            <p:nvPr/>
          </p:nvGrpSpPr>
          <p:grpSpPr>
            <a:xfrm>
              <a:off x="3458580" y="2478389"/>
              <a:ext cx="5834228" cy="2706813"/>
              <a:chOff x="2552700" y="1638300"/>
              <a:chExt cx="7791857" cy="3771900"/>
            </a:xfrm>
          </p:grpSpPr>
          <p:cxnSp>
            <p:nvCxnSpPr>
              <p:cNvPr id="15" name="Straight Arrow Connector 14">
                <a:extLst>
                  <a:ext uri="{FF2B5EF4-FFF2-40B4-BE49-F238E27FC236}">
                    <a16:creationId xmlns:a16="http://schemas.microsoft.com/office/drawing/2014/main" id="{152C0FB8-2A82-4245-907A-6538B6979C60}"/>
                  </a:ext>
                </a:extLst>
              </p:cNvPr>
              <p:cNvCxnSpPr>
                <a:cxnSpLocks/>
              </p:cNvCxnSpPr>
              <p:nvPr/>
            </p:nvCxnSpPr>
            <p:spPr>
              <a:xfrm flipV="1">
                <a:off x="2552700" y="1638300"/>
                <a:ext cx="0" cy="377190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2285BE2-B66F-4148-AEED-B8160E6D0A04}"/>
                  </a:ext>
                </a:extLst>
              </p:cNvPr>
              <p:cNvCxnSpPr>
                <a:cxnSpLocks/>
              </p:cNvCxnSpPr>
              <p:nvPr/>
            </p:nvCxnSpPr>
            <p:spPr>
              <a:xfrm>
                <a:off x="2552700" y="5410200"/>
                <a:ext cx="4419600" cy="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18E113A8-2275-40ED-B7B7-43B91F9AFE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781301" y="2561685"/>
                <a:ext cx="240227" cy="582549"/>
              </a:xfrm>
              <a:prstGeom prst="rect">
                <a:avLst/>
              </a:prstGeom>
            </p:spPr>
          </p:pic>
          <p:pic>
            <p:nvPicPr>
              <p:cNvPr id="21" name="Picture 20">
                <a:extLst>
                  <a:ext uri="{FF2B5EF4-FFF2-40B4-BE49-F238E27FC236}">
                    <a16:creationId xmlns:a16="http://schemas.microsoft.com/office/drawing/2014/main" id="{8705C87F-5618-4289-9AD5-7B185F18A6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576464" y="2515665"/>
                <a:ext cx="218746" cy="618605"/>
              </a:xfrm>
              <a:prstGeom prst="rect">
                <a:avLst/>
              </a:prstGeom>
            </p:spPr>
          </p:pic>
          <p:pic>
            <p:nvPicPr>
              <p:cNvPr id="24" name="Picture 23">
                <a:extLst>
                  <a:ext uri="{FF2B5EF4-FFF2-40B4-BE49-F238E27FC236}">
                    <a16:creationId xmlns:a16="http://schemas.microsoft.com/office/drawing/2014/main" id="{671B8A23-21B1-488B-8975-DF10AC9AC3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232147" y="4791595"/>
                <a:ext cx="218746" cy="618605"/>
              </a:xfrm>
              <a:prstGeom prst="rect">
                <a:avLst/>
              </a:prstGeom>
            </p:spPr>
          </p:pic>
          <p:pic>
            <p:nvPicPr>
              <p:cNvPr id="27" name="Picture 26">
                <a:extLst>
                  <a:ext uri="{FF2B5EF4-FFF2-40B4-BE49-F238E27FC236}">
                    <a16:creationId xmlns:a16="http://schemas.microsoft.com/office/drawing/2014/main" id="{827CA132-F60C-4B13-97C8-C6A3C462126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77474" y="4204584"/>
                <a:ext cx="218746" cy="618605"/>
              </a:xfrm>
              <a:prstGeom prst="rect">
                <a:avLst/>
              </a:prstGeom>
            </p:spPr>
          </p:pic>
          <p:pic>
            <p:nvPicPr>
              <p:cNvPr id="32" name="Picture 31">
                <a:extLst>
                  <a:ext uri="{FF2B5EF4-FFF2-40B4-BE49-F238E27FC236}">
                    <a16:creationId xmlns:a16="http://schemas.microsoft.com/office/drawing/2014/main" id="{0164D7DF-37AB-4CD6-B1E4-41690A593A9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101590" y="3967671"/>
                <a:ext cx="240227" cy="582549"/>
              </a:xfrm>
              <a:prstGeom prst="rect">
                <a:avLst/>
              </a:prstGeom>
            </p:spPr>
          </p:pic>
          <p:pic>
            <p:nvPicPr>
              <p:cNvPr id="33" name="Picture 32">
                <a:extLst>
                  <a:ext uri="{FF2B5EF4-FFF2-40B4-BE49-F238E27FC236}">
                    <a16:creationId xmlns:a16="http://schemas.microsoft.com/office/drawing/2014/main" id="{329E0458-E555-481A-BF78-1E8808BE318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849132" y="3583194"/>
                <a:ext cx="240227" cy="582549"/>
              </a:xfrm>
              <a:prstGeom prst="rect">
                <a:avLst/>
              </a:prstGeom>
            </p:spPr>
          </p:pic>
          <p:sp>
            <p:nvSpPr>
              <p:cNvPr id="36" name="TextBox 35">
                <a:extLst>
                  <a:ext uri="{FF2B5EF4-FFF2-40B4-BE49-F238E27FC236}">
                    <a16:creationId xmlns:a16="http://schemas.microsoft.com/office/drawing/2014/main" id="{594AF1BB-A706-48CA-8082-006268DA54BA}"/>
                  </a:ext>
                </a:extLst>
              </p:cNvPr>
              <p:cNvSpPr txBox="1"/>
              <p:nvPr/>
            </p:nvSpPr>
            <p:spPr>
              <a:xfrm>
                <a:off x="7844054" y="3926878"/>
                <a:ext cx="2500503" cy="861375"/>
              </a:xfrm>
              <a:prstGeom prst="rect">
                <a:avLst/>
              </a:prstGeom>
              <a:noFill/>
            </p:spPr>
            <p:txBody>
              <a:bodyPr wrap="square" rtlCol="0">
                <a:spAutoFit/>
              </a:bodyPr>
              <a:lstStyle/>
              <a:p>
                <a:pPr defTabSz="914400"/>
                <a:r>
                  <a:rPr lang="en-US" sz="1500" dirty="0">
                    <a:solidFill>
                      <a:prstClr val="black"/>
                    </a:solidFill>
                    <a:latin typeface="Gotham Rounded Book" pitchFamily="50" charset="0"/>
                  </a:rPr>
                  <a:t>RED or WHITE?</a:t>
                </a:r>
              </a:p>
            </p:txBody>
          </p:sp>
          <p:pic>
            <p:nvPicPr>
              <p:cNvPr id="20" name="Picture 19">
                <a:extLst>
                  <a:ext uri="{FF2B5EF4-FFF2-40B4-BE49-F238E27FC236}">
                    <a16:creationId xmlns:a16="http://schemas.microsoft.com/office/drawing/2014/main" id="{7CA33A63-9149-42B4-91D6-6CCA63BE7026}"/>
                  </a:ext>
                </a:extLst>
              </p:cNvPr>
              <p:cNvPicPr>
                <a:picLocks noChangeAspect="1"/>
              </p:cNvPicPr>
              <p:nvPr/>
            </p:nvPicPr>
            <p:blipFill rotWithShape="1">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61111" r="79515" b="555"/>
              <a:stretch/>
            </p:blipFill>
            <p:spPr>
              <a:xfrm>
                <a:off x="4391888" y="3699809"/>
                <a:ext cx="387473" cy="791446"/>
              </a:xfrm>
              <a:prstGeom prst="ellipse">
                <a:avLst/>
              </a:prstGeom>
              <a:ln>
                <a:solidFill>
                  <a:schemeClr val="tx1"/>
                </a:solidFill>
              </a:ln>
            </p:spPr>
          </p:pic>
          <p:pic>
            <p:nvPicPr>
              <p:cNvPr id="22" name="Picture 21">
                <a:extLst>
                  <a:ext uri="{FF2B5EF4-FFF2-40B4-BE49-F238E27FC236}">
                    <a16:creationId xmlns:a16="http://schemas.microsoft.com/office/drawing/2014/main" id="{F1EA91D0-530E-4E38-88F4-A13A08F9379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078541" y="3440940"/>
                <a:ext cx="218746" cy="618605"/>
              </a:xfrm>
              <a:prstGeom prst="rect">
                <a:avLst/>
              </a:prstGeom>
            </p:spPr>
          </p:pic>
          <p:pic>
            <p:nvPicPr>
              <p:cNvPr id="23" name="Picture 22">
                <a:extLst>
                  <a:ext uri="{FF2B5EF4-FFF2-40B4-BE49-F238E27FC236}">
                    <a16:creationId xmlns:a16="http://schemas.microsoft.com/office/drawing/2014/main" id="{8EC0B016-D703-46E6-8869-E2312570BA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638267" y="3231396"/>
                <a:ext cx="218746" cy="618605"/>
              </a:xfrm>
              <a:prstGeom prst="rect">
                <a:avLst/>
              </a:prstGeom>
            </p:spPr>
          </p:pic>
          <p:pic>
            <p:nvPicPr>
              <p:cNvPr id="25" name="Picture 24">
                <a:extLst>
                  <a:ext uri="{FF2B5EF4-FFF2-40B4-BE49-F238E27FC236}">
                    <a16:creationId xmlns:a16="http://schemas.microsoft.com/office/drawing/2014/main" id="{DC28C406-317A-4D7B-B2F8-B1A194786C4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338277" y="4644382"/>
                <a:ext cx="218746" cy="618605"/>
              </a:xfrm>
              <a:prstGeom prst="rect">
                <a:avLst/>
              </a:prstGeom>
            </p:spPr>
          </p:pic>
          <p:pic>
            <p:nvPicPr>
              <p:cNvPr id="26" name="Picture 25">
                <a:extLst>
                  <a:ext uri="{FF2B5EF4-FFF2-40B4-BE49-F238E27FC236}">
                    <a16:creationId xmlns:a16="http://schemas.microsoft.com/office/drawing/2014/main" id="{EB3FA920-E611-4237-9ED9-7AE1A0A8150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847355" y="3617577"/>
                <a:ext cx="218746" cy="618605"/>
              </a:xfrm>
              <a:prstGeom prst="rect">
                <a:avLst/>
              </a:prstGeom>
            </p:spPr>
          </p:pic>
          <p:pic>
            <p:nvPicPr>
              <p:cNvPr id="28" name="Picture 27">
                <a:extLst>
                  <a:ext uri="{FF2B5EF4-FFF2-40B4-BE49-F238E27FC236}">
                    <a16:creationId xmlns:a16="http://schemas.microsoft.com/office/drawing/2014/main" id="{E2F7DEBB-7B49-42DE-B854-EA0CEDDDED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431899" y="3812970"/>
                <a:ext cx="218746" cy="618605"/>
              </a:xfrm>
              <a:prstGeom prst="rect">
                <a:avLst/>
              </a:prstGeom>
            </p:spPr>
          </p:pic>
          <p:pic>
            <p:nvPicPr>
              <p:cNvPr id="29" name="Picture 28">
                <a:extLst>
                  <a:ext uri="{FF2B5EF4-FFF2-40B4-BE49-F238E27FC236}">
                    <a16:creationId xmlns:a16="http://schemas.microsoft.com/office/drawing/2014/main" id="{73B933C9-FDB0-49E5-887E-E5862ECD10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92502" y="3223871"/>
                <a:ext cx="240227" cy="582549"/>
              </a:xfrm>
              <a:prstGeom prst="rect">
                <a:avLst/>
              </a:prstGeom>
            </p:spPr>
          </p:pic>
          <p:pic>
            <p:nvPicPr>
              <p:cNvPr id="30" name="Picture 29">
                <a:extLst>
                  <a:ext uri="{FF2B5EF4-FFF2-40B4-BE49-F238E27FC236}">
                    <a16:creationId xmlns:a16="http://schemas.microsoft.com/office/drawing/2014/main" id="{5CE65CE4-AD1A-413E-B459-508CF26AB7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282414" y="2672804"/>
                <a:ext cx="240227" cy="582549"/>
              </a:xfrm>
              <a:prstGeom prst="rect">
                <a:avLst/>
              </a:prstGeom>
            </p:spPr>
          </p:pic>
          <p:pic>
            <p:nvPicPr>
              <p:cNvPr id="31" name="Picture 30">
                <a:extLst>
                  <a:ext uri="{FF2B5EF4-FFF2-40B4-BE49-F238E27FC236}">
                    <a16:creationId xmlns:a16="http://schemas.microsoft.com/office/drawing/2014/main" id="{1E7CB1B9-1596-4621-8DEC-A1B9729AE9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345936" y="3380383"/>
                <a:ext cx="240227" cy="582549"/>
              </a:xfrm>
              <a:prstGeom prst="rect">
                <a:avLst/>
              </a:prstGeom>
            </p:spPr>
          </p:pic>
          <p:pic>
            <p:nvPicPr>
              <p:cNvPr id="34" name="Picture 33">
                <a:extLst>
                  <a:ext uri="{FF2B5EF4-FFF2-40B4-BE49-F238E27FC236}">
                    <a16:creationId xmlns:a16="http://schemas.microsoft.com/office/drawing/2014/main" id="{CF6F2F5D-7BFB-4B6C-969F-C8150FB4FD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69971" y="2461312"/>
                <a:ext cx="240227" cy="582549"/>
              </a:xfrm>
              <a:prstGeom prst="rect">
                <a:avLst/>
              </a:prstGeom>
            </p:spPr>
          </p:pic>
          <p:cxnSp>
            <p:nvCxnSpPr>
              <p:cNvPr id="35" name="Straight Connector 34">
                <a:extLst>
                  <a:ext uri="{FF2B5EF4-FFF2-40B4-BE49-F238E27FC236}">
                    <a16:creationId xmlns:a16="http://schemas.microsoft.com/office/drawing/2014/main" id="{C96D8A85-57C1-4C2E-8833-412A5F5666CC}"/>
                  </a:ext>
                </a:extLst>
              </p:cNvPr>
              <p:cNvCxnSpPr>
                <a:cxnSpLocks/>
                <a:stCxn id="20" idx="6"/>
              </p:cNvCxnSpPr>
              <p:nvPr/>
            </p:nvCxnSpPr>
            <p:spPr>
              <a:xfrm>
                <a:off x="4779361" y="4095532"/>
                <a:ext cx="2989431" cy="53062"/>
              </a:xfrm>
              <a:prstGeom prst="line">
                <a:avLst/>
              </a:prstGeom>
              <a:ln w="25400">
                <a:solidFill>
                  <a:srgbClr val="750558"/>
                </a:solidFill>
                <a:prstDash val="sysDash"/>
              </a:ln>
            </p:spPr>
            <p:style>
              <a:lnRef idx="1">
                <a:schemeClr val="accent1"/>
              </a:lnRef>
              <a:fillRef idx="0">
                <a:schemeClr val="accent1"/>
              </a:fillRef>
              <a:effectRef idx="0">
                <a:schemeClr val="accent1"/>
              </a:effectRef>
              <a:fontRef idx="minor">
                <a:schemeClr val="tx1"/>
              </a:fontRef>
            </p:style>
          </p:cxnSp>
        </p:grpSp>
      </p:grpSp>
      <p:sp>
        <p:nvSpPr>
          <p:cNvPr id="3" name="Oval 2">
            <a:extLst>
              <a:ext uri="{FF2B5EF4-FFF2-40B4-BE49-F238E27FC236}">
                <a16:creationId xmlns:a16="http://schemas.microsoft.com/office/drawing/2014/main" id="{7B52BD98-3BFB-4B00-93A8-58446AB2E5F1}"/>
              </a:ext>
            </a:extLst>
          </p:cNvPr>
          <p:cNvSpPr/>
          <p:nvPr/>
        </p:nvSpPr>
        <p:spPr>
          <a:xfrm>
            <a:off x="4307093" y="3854069"/>
            <a:ext cx="1056834" cy="1272693"/>
          </a:xfrm>
          <a:prstGeom prst="ellipse">
            <a:avLst/>
          </a:prstGeom>
          <a:solidFill>
            <a:schemeClr val="bg1">
              <a:alpha val="0"/>
            </a:schemeClr>
          </a:solid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500">
              <a:solidFill>
                <a:prstClr val="white"/>
              </a:solidFill>
              <a:latin typeface="Gotham Rounded Book" pitchFamily="50" charset="0"/>
            </a:endParaRPr>
          </a:p>
        </p:txBody>
      </p:sp>
      <p:sp>
        <p:nvSpPr>
          <p:cNvPr id="44" name="Rectangle 43">
            <a:extLst>
              <a:ext uri="{FF2B5EF4-FFF2-40B4-BE49-F238E27FC236}">
                <a16:creationId xmlns:a16="http://schemas.microsoft.com/office/drawing/2014/main" id="{BC481C6E-0067-4AA9-AB96-1A415D179115}"/>
              </a:ext>
            </a:extLst>
          </p:cNvPr>
          <p:cNvSpPr/>
          <p:nvPr/>
        </p:nvSpPr>
        <p:spPr>
          <a:xfrm>
            <a:off x="6886576" y="2933708"/>
            <a:ext cx="666793" cy="483391"/>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500" dirty="0">
                <a:solidFill>
                  <a:prstClr val="white"/>
                </a:solidFill>
                <a:latin typeface="Gotham Rounded Book" pitchFamily="50" charset="0"/>
              </a:rPr>
              <a:t>K=5</a:t>
            </a:r>
          </a:p>
        </p:txBody>
      </p:sp>
      <p:sp>
        <p:nvSpPr>
          <p:cNvPr id="38" name="TextBox 37">
            <a:extLst>
              <a:ext uri="{FF2B5EF4-FFF2-40B4-BE49-F238E27FC236}">
                <a16:creationId xmlns:a16="http://schemas.microsoft.com/office/drawing/2014/main" id="{8C1281EB-2754-4D29-82D6-E8BCF1788C5B}"/>
              </a:ext>
            </a:extLst>
          </p:cNvPr>
          <p:cNvSpPr txBox="1"/>
          <p:nvPr/>
        </p:nvSpPr>
        <p:spPr>
          <a:xfrm>
            <a:off x="4433722" y="5567715"/>
            <a:ext cx="1660536" cy="646331"/>
          </a:xfrm>
          <a:prstGeom prst="rect">
            <a:avLst/>
          </a:prstGeom>
          <a:noFill/>
        </p:spPr>
        <p:txBody>
          <a:bodyPr wrap="square" rtlCol="0">
            <a:spAutoFit/>
          </a:bodyPr>
          <a:lstStyle/>
          <a:p>
            <a:pPr defTabSz="914400"/>
            <a:r>
              <a:rPr lang="en-US" dirty="0">
                <a:solidFill>
                  <a:prstClr val="black"/>
                </a:solidFill>
              </a:rPr>
              <a:t>Chloride Level </a:t>
            </a:r>
            <a:r>
              <a:rPr lang="en-US" dirty="0">
                <a:solidFill>
                  <a:prstClr val="black"/>
                </a:solidFill>
                <a:sym typeface="Wingdings" panose="05000000000000000000" pitchFamily="2" charset="2"/>
              </a:rPr>
              <a:t></a:t>
            </a:r>
            <a:endParaRPr lang="en-US" dirty="0">
              <a:solidFill>
                <a:prstClr val="black"/>
              </a:solidFill>
            </a:endParaRPr>
          </a:p>
        </p:txBody>
      </p:sp>
      <p:sp>
        <p:nvSpPr>
          <p:cNvPr id="39" name="TextBox 38">
            <a:extLst>
              <a:ext uri="{FF2B5EF4-FFF2-40B4-BE49-F238E27FC236}">
                <a16:creationId xmlns:a16="http://schemas.microsoft.com/office/drawing/2014/main" id="{A42AEAFA-EA55-490D-A6EF-C387A9E57A43}"/>
              </a:ext>
            </a:extLst>
          </p:cNvPr>
          <p:cNvSpPr txBox="1"/>
          <p:nvPr/>
        </p:nvSpPr>
        <p:spPr>
          <a:xfrm rot="16200000">
            <a:off x="2266837" y="4054785"/>
            <a:ext cx="2656525" cy="369332"/>
          </a:xfrm>
          <a:prstGeom prst="rect">
            <a:avLst/>
          </a:prstGeom>
          <a:noFill/>
        </p:spPr>
        <p:txBody>
          <a:bodyPr wrap="square" rtlCol="0">
            <a:spAutoFit/>
          </a:bodyPr>
          <a:lstStyle/>
          <a:p>
            <a:pPr defTabSz="914400"/>
            <a:r>
              <a:rPr lang="en-US" dirty="0">
                <a:solidFill>
                  <a:prstClr val="black"/>
                </a:solidFill>
              </a:rPr>
              <a:t>Sulphur Dioxide Level </a:t>
            </a:r>
            <a:r>
              <a:rPr lang="en-US" dirty="0">
                <a:solidFill>
                  <a:prstClr val="black"/>
                </a:solidFill>
                <a:sym typeface="Wingdings" panose="05000000000000000000" pitchFamily="2" charset="2"/>
              </a:rPr>
              <a:t></a:t>
            </a:r>
            <a:endParaRPr lang="en-US" dirty="0">
              <a:solidFill>
                <a:prstClr val="black"/>
              </a:solidFill>
            </a:endParaRPr>
          </a:p>
        </p:txBody>
      </p:sp>
    </p:spTree>
    <p:extLst>
      <p:ext uri="{BB962C8B-B14F-4D97-AF65-F5344CB8AC3E}">
        <p14:creationId xmlns:p14="http://schemas.microsoft.com/office/powerpoint/2010/main" val="3469353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Speech Bubble: Rectangle 43">
            <a:extLst>
              <a:ext uri="{FF2B5EF4-FFF2-40B4-BE49-F238E27FC236}">
                <a16:creationId xmlns:a16="http://schemas.microsoft.com/office/drawing/2014/main" id="{77847C86-E86F-41FC-9B8F-9E29B4BCACB0}"/>
              </a:ext>
            </a:extLst>
          </p:cNvPr>
          <p:cNvSpPr/>
          <p:nvPr/>
        </p:nvSpPr>
        <p:spPr>
          <a:xfrm>
            <a:off x="916701" y="1350810"/>
            <a:ext cx="8077184" cy="1060814"/>
          </a:xfrm>
          <a:prstGeom prst="wedgeRectCallout">
            <a:avLst>
              <a:gd name="adj1" fmla="val -22492"/>
              <a:gd name="adj2" fmla="val 74814"/>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000" dirty="0">
                <a:solidFill>
                  <a:prstClr val="black"/>
                </a:solidFill>
                <a:latin typeface="Gotham Rounded Book" pitchFamily="50" charset="0"/>
              </a:rPr>
              <a:t>Here, the unknown point would be classified as red, since 4 out of 5 neighbors are red</a:t>
            </a:r>
            <a:endParaRPr lang="en-US" sz="2000" dirty="0">
              <a:solidFill>
                <a:prstClr val="white"/>
              </a:solidFill>
            </a:endParaRPr>
          </a:p>
        </p:txBody>
      </p:sp>
      <p:sp>
        <p:nvSpPr>
          <p:cNvPr id="2" name="Title 1">
            <a:extLst>
              <a:ext uri="{FF2B5EF4-FFF2-40B4-BE49-F238E27FC236}">
                <a16:creationId xmlns:a16="http://schemas.microsoft.com/office/drawing/2014/main" id="{E15D3CA2-C816-4551-AA19-DEFC86773C21}"/>
              </a:ext>
            </a:extLst>
          </p:cNvPr>
          <p:cNvSpPr>
            <a:spLocks noGrp="1"/>
          </p:cNvSpPr>
          <p:nvPr>
            <p:ph type="title"/>
          </p:nvPr>
        </p:nvSpPr>
        <p:spPr/>
        <p:txBody>
          <a:bodyPr/>
          <a:lstStyle/>
          <a:p>
            <a:r>
              <a:rPr lang="en-US" dirty="0"/>
              <a:t>What is KNN Algorithm?</a:t>
            </a:r>
          </a:p>
        </p:txBody>
      </p:sp>
      <p:grpSp>
        <p:nvGrpSpPr>
          <p:cNvPr id="37" name="Group 36">
            <a:extLst>
              <a:ext uri="{FF2B5EF4-FFF2-40B4-BE49-F238E27FC236}">
                <a16:creationId xmlns:a16="http://schemas.microsoft.com/office/drawing/2014/main" id="{9E7AD70F-CF4C-4000-8A78-A4E464315BD5}"/>
              </a:ext>
            </a:extLst>
          </p:cNvPr>
          <p:cNvGrpSpPr/>
          <p:nvPr/>
        </p:nvGrpSpPr>
        <p:grpSpPr>
          <a:xfrm>
            <a:off x="2635793" y="2743200"/>
            <a:ext cx="5372100" cy="3619500"/>
            <a:chOff x="1790700" y="2133600"/>
            <a:chExt cx="7810500" cy="4038600"/>
          </a:xfrm>
        </p:grpSpPr>
        <p:sp>
          <p:nvSpPr>
            <p:cNvPr id="4" name="Rectangle: Rounded Corners 3">
              <a:extLst>
                <a:ext uri="{FF2B5EF4-FFF2-40B4-BE49-F238E27FC236}">
                  <a16:creationId xmlns:a16="http://schemas.microsoft.com/office/drawing/2014/main" id="{9FC8E77D-8C55-40C7-BC9D-19E346542DAC}"/>
                </a:ext>
              </a:extLst>
            </p:cNvPr>
            <p:cNvSpPr/>
            <p:nvPr/>
          </p:nvSpPr>
          <p:spPr>
            <a:xfrm>
              <a:off x="1790700" y="2133600"/>
              <a:ext cx="7810500" cy="4038600"/>
            </a:xfrm>
            <a:prstGeom prst="roundRect">
              <a:avLst/>
            </a:prstGeom>
            <a:solidFill>
              <a:schemeClr val="bg1"/>
            </a:solidFill>
            <a:ln w="28575">
              <a:solidFill>
                <a:srgbClr val="11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grpSp>
          <p:nvGrpSpPr>
            <p:cNvPr id="11" name="Group 10">
              <a:extLst>
                <a:ext uri="{FF2B5EF4-FFF2-40B4-BE49-F238E27FC236}">
                  <a16:creationId xmlns:a16="http://schemas.microsoft.com/office/drawing/2014/main" id="{1845A8C1-D1B2-4465-AD2C-F71D1160743A}"/>
                </a:ext>
              </a:extLst>
            </p:cNvPr>
            <p:cNvGrpSpPr/>
            <p:nvPr/>
          </p:nvGrpSpPr>
          <p:grpSpPr>
            <a:xfrm>
              <a:off x="2916948" y="2321039"/>
              <a:ext cx="6375860" cy="3685292"/>
              <a:chOff x="1829328" y="1419035"/>
              <a:chExt cx="8515229" cy="5135393"/>
            </a:xfrm>
          </p:grpSpPr>
          <p:cxnSp>
            <p:nvCxnSpPr>
              <p:cNvPr id="15" name="Straight Arrow Connector 14">
                <a:extLst>
                  <a:ext uri="{FF2B5EF4-FFF2-40B4-BE49-F238E27FC236}">
                    <a16:creationId xmlns:a16="http://schemas.microsoft.com/office/drawing/2014/main" id="{152C0FB8-2A82-4245-907A-6538B6979C60}"/>
                  </a:ext>
                </a:extLst>
              </p:cNvPr>
              <p:cNvCxnSpPr>
                <a:cxnSpLocks/>
              </p:cNvCxnSpPr>
              <p:nvPr/>
            </p:nvCxnSpPr>
            <p:spPr>
              <a:xfrm flipV="1">
                <a:off x="2552700" y="1638300"/>
                <a:ext cx="0" cy="377190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2285BE2-B66F-4148-AEED-B8160E6D0A04}"/>
                  </a:ext>
                </a:extLst>
              </p:cNvPr>
              <p:cNvCxnSpPr>
                <a:cxnSpLocks/>
              </p:cNvCxnSpPr>
              <p:nvPr/>
            </p:nvCxnSpPr>
            <p:spPr>
              <a:xfrm>
                <a:off x="2552700" y="5410200"/>
                <a:ext cx="4419600" cy="0"/>
              </a:xfrm>
              <a:prstGeom prst="straightConnector1">
                <a:avLst/>
              </a:prstGeom>
              <a:ln w="222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C672C70-8A9F-4CC0-87F9-DA62EC63038E}"/>
                  </a:ext>
                </a:extLst>
              </p:cNvPr>
              <p:cNvSpPr txBox="1"/>
              <p:nvPr/>
            </p:nvSpPr>
            <p:spPr>
              <a:xfrm>
                <a:off x="3816296" y="5549491"/>
                <a:ext cx="3224338" cy="1004937"/>
              </a:xfrm>
              <a:prstGeom prst="rect">
                <a:avLst/>
              </a:prstGeom>
              <a:noFill/>
            </p:spPr>
            <p:txBody>
              <a:bodyPr wrap="square" rtlCol="0">
                <a:spAutoFit/>
              </a:bodyPr>
              <a:lstStyle/>
              <a:p>
                <a:pPr defTabSz="914400"/>
                <a:r>
                  <a:rPr lang="en-US" dirty="0">
                    <a:solidFill>
                      <a:prstClr val="black"/>
                    </a:solidFill>
                  </a:rPr>
                  <a:t>Chloride Level </a:t>
                </a:r>
                <a:r>
                  <a:rPr lang="en-US" dirty="0">
                    <a:solidFill>
                      <a:prstClr val="black"/>
                    </a:solidFill>
                    <a:sym typeface="Wingdings" panose="05000000000000000000" pitchFamily="2" charset="2"/>
                  </a:rPr>
                  <a:t></a:t>
                </a:r>
                <a:endParaRPr lang="en-US" dirty="0">
                  <a:solidFill>
                    <a:prstClr val="black"/>
                  </a:solidFill>
                </a:endParaRPr>
              </a:p>
            </p:txBody>
          </p:sp>
          <p:sp>
            <p:nvSpPr>
              <p:cNvPr id="18" name="TextBox 17">
                <a:extLst>
                  <a:ext uri="{FF2B5EF4-FFF2-40B4-BE49-F238E27FC236}">
                    <a16:creationId xmlns:a16="http://schemas.microsoft.com/office/drawing/2014/main" id="{D2C0E3D8-F6A4-45B3-A54B-43832E0BB04D}"/>
                  </a:ext>
                </a:extLst>
              </p:cNvPr>
              <p:cNvSpPr txBox="1"/>
              <p:nvPr/>
            </p:nvSpPr>
            <p:spPr>
              <a:xfrm rot="16200000">
                <a:off x="122675" y="3125688"/>
                <a:ext cx="4130455" cy="717149"/>
              </a:xfrm>
              <a:prstGeom prst="rect">
                <a:avLst/>
              </a:prstGeom>
              <a:noFill/>
            </p:spPr>
            <p:txBody>
              <a:bodyPr wrap="square" rtlCol="0">
                <a:spAutoFit/>
              </a:bodyPr>
              <a:lstStyle/>
              <a:p>
                <a:pPr defTabSz="914400"/>
                <a:r>
                  <a:rPr lang="en-US" dirty="0">
                    <a:solidFill>
                      <a:prstClr val="black"/>
                    </a:solidFill>
                  </a:rPr>
                  <a:t>Sulphur Dioxide Level </a:t>
                </a:r>
                <a:r>
                  <a:rPr lang="en-US" dirty="0">
                    <a:solidFill>
                      <a:prstClr val="black"/>
                    </a:solidFill>
                    <a:sym typeface="Wingdings" panose="05000000000000000000" pitchFamily="2" charset="2"/>
                  </a:rPr>
                  <a:t></a:t>
                </a:r>
                <a:endParaRPr lang="en-US" dirty="0">
                  <a:solidFill>
                    <a:prstClr val="black"/>
                  </a:solidFill>
                </a:endParaRPr>
              </a:p>
            </p:txBody>
          </p:sp>
          <p:pic>
            <p:nvPicPr>
              <p:cNvPr id="19" name="Picture 18">
                <a:extLst>
                  <a:ext uri="{FF2B5EF4-FFF2-40B4-BE49-F238E27FC236}">
                    <a16:creationId xmlns:a16="http://schemas.microsoft.com/office/drawing/2014/main" id="{18E113A8-2275-40ED-B7B7-43B91F9AFE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781301" y="2561685"/>
                <a:ext cx="240227" cy="582549"/>
              </a:xfrm>
              <a:prstGeom prst="rect">
                <a:avLst/>
              </a:prstGeom>
            </p:spPr>
          </p:pic>
          <p:pic>
            <p:nvPicPr>
              <p:cNvPr id="21" name="Picture 20">
                <a:extLst>
                  <a:ext uri="{FF2B5EF4-FFF2-40B4-BE49-F238E27FC236}">
                    <a16:creationId xmlns:a16="http://schemas.microsoft.com/office/drawing/2014/main" id="{8705C87F-5618-4289-9AD5-7B185F18A6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576464" y="2515665"/>
                <a:ext cx="218746" cy="618605"/>
              </a:xfrm>
              <a:prstGeom prst="rect">
                <a:avLst/>
              </a:prstGeom>
            </p:spPr>
          </p:pic>
          <p:pic>
            <p:nvPicPr>
              <p:cNvPr id="24" name="Picture 23">
                <a:extLst>
                  <a:ext uri="{FF2B5EF4-FFF2-40B4-BE49-F238E27FC236}">
                    <a16:creationId xmlns:a16="http://schemas.microsoft.com/office/drawing/2014/main" id="{671B8A23-21B1-488B-8975-DF10AC9AC3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232147" y="4791595"/>
                <a:ext cx="218746" cy="618605"/>
              </a:xfrm>
              <a:prstGeom prst="rect">
                <a:avLst/>
              </a:prstGeom>
            </p:spPr>
          </p:pic>
          <p:pic>
            <p:nvPicPr>
              <p:cNvPr id="27" name="Picture 26">
                <a:extLst>
                  <a:ext uri="{FF2B5EF4-FFF2-40B4-BE49-F238E27FC236}">
                    <a16:creationId xmlns:a16="http://schemas.microsoft.com/office/drawing/2014/main" id="{827CA132-F60C-4B13-97C8-C6A3C462126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77474" y="4204584"/>
                <a:ext cx="218746" cy="618605"/>
              </a:xfrm>
              <a:prstGeom prst="rect">
                <a:avLst/>
              </a:prstGeom>
            </p:spPr>
          </p:pic>
          <p:pic>
            <p:nvPicPr>
              <p:cNvPr id="32" name="Picture 31">
                <a:extLst>
                  <a:ext uri="{FF2B5EF4-FFF2-40B4-BE49-F238E27FC236}">
                    <a16:creationId xmlns:a16="http://schemas.microsoft.com/office/drawing/2014/main" id="{0164D7DF-37AB-4CD6-B1E4-41690A593A9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101590" y="3967671"/>
                <a:ext cx="240227" cy="582549"/>
              </a:xfrm>
              <a:prstGeom prst="rect">
                <a:avLst/>
              </a:prstGeom>
            </p:spPr>
          </p:pic>
          <p:pic>
            <p:nvPicPr>
              <p:cNvPr id="33" name="Picture 32">
                <a:extLst>
                  <a:ext uri="{FF2B5EF4-FFF2-40B4-BE49-F238E27FC236}">
                    <a16:creationId xmlns:a16="http://schemas.microsoft.com/office/drawing/2014/main" id="{329E0458-E555-481A-BF78-1E8808BE318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2849132" y="3583194"/>
                <a:ext cx="240227" cy="582549"/>
              </a:xfrm>
              <a:prstGeom prst="rect">
                <a:avLst/>
              </a:prstGeom>
            </p:spPr>
          </p:pic>
          <p:sp>
            <p:nvSpPr>
              <p:cNvPr id="36" name="TextBox 35">
                <a:extLst>
                  <a:ext uri="{FF2B5EF4-FFF2-40B4-BE49-F238E27FC236}">
                    <a16:creationId xmlns:a16="http://schemas.microsoft.com/office/drawing/2014/main" id="{594AF1BB-A706-48CA-8082-006268DA54BA}"/>
                  </a:ext>
                </a:extLst>
              </p:cNvPr>
              <p:cNvSpPr txBox="1"/>
              <p:nvPr/>
            </p:nvSpPr>
            <p:spPr>
              <a:xfrm>
                <a:off x="7844055" y="3926879"/>
                <a:ext cx="2500502" cy="574250"/>
              </a:xfrm>
              <a:prstGeom prst="rect">
                <a:avLst/>
              </a:prstGeom>
              <a:noFill/>
            </p:spPr>
            <p:txBody>
              <a:bodyPr wrap="square" rtlCol="0">
                <a:spAutoFit/>
              </a:bodyPr>
              <a:lstStyle/>
              <a:p>
                <a:pPr defTabSz="914400"/>
                <a:r>
                  <a:rPr lang="en-US" b="1" dirty="0">
                    <a:solidFill>
                      <a:prstClr val="black"/>
                    </a:solidFill>
                    <a:latin typeface="Gotham Rounded Book" pitchFamily="50" charset="0"/>
                  </a:rPr>
                  <a:t>RED</a:t>
                </a:r>
              </a:p>
            </p:txBody>
          </p:sp>
          <p:pic>
            <p:nvPicPr>
              <p:cNvPr id="22" name="Picture 21">
                <a:extLst>
                  <a:ext uri="{FF2B5EF4-FFF2-40B4-BE49-F238E27FC236}">
                    <a16:creationId xmlns:a16="http://schemas.microsoft.com/office/drawing/2014/main" id="{F1EA91D0-530E-4E38-88F4-A13A08F9379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078541" y="3440940"/>
                <a:ext cx="218746" cy="618605"/>
              </a:xfrm>
              <a:prstGeom prst="rect">
                <a:avLst/>
              </a:prstGeom>
            </p:spPr>
          </p:pic>
          <p:pic>
            <p:nvPicPr>
              <p:cNvPr id="23" name="Picture 22">
                <a:extLst>
                  <a:ext uri="{FF2B5EF4-FFF2-40B4-BE49-F238E27FC236}">
                    <a16:creationId xmlns:a16="http://schemas.microsoft.com/office/drawing/2014/main" id="{8EC0B016-D703-46E6-8869-E2312570BA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638267" y="3231396"/>
                <a:ext cx="218746" cy="618605"/>
              </a:xfrm>
              <a:prstGeom prst="rect">
                <a:avLst/>
              </a:prstGeom>
            </p:spPr>
          </p:pic>
          <p:pic>
            <p:nvPicPr>
              <p:cNvPr id="25" name="Picture 24">
                <a:extLst>
                  <a:ext uri="{FF2B5EF4-FFF2-40B4-BE49-F238E27FC236}">
                    <a16:creationId xmlns:a16="http://schemas.microsoft.com/office/drawing/2014/main" id="{DC28C406-317A-4D7B-B2F8-B1A194786C4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338277" y="4644382"/>
                <a:ext cx="218746" cy="618605"/>
              </a:xfrm>
              <a:prstGeom prst="rect">
                <a:avLst/>
              </a:prstGeom>
            </p:spPr>
          </p:pic>
          <p:pic>
            <p:nvPicPr>
              <p:cNvPr id="26" name="Picture 25">
                <a:extLst>
                  <a:ext uri="{FF2B5EF4-FFF2-40B4-BE49-F238E27FC236}">
                    <a16:creationId xmlns:a16="http://schemas.microsoft.com/office/drawing/2014/main" id="{EB3FA920-E611-4237-9ED9-7AE1A0A8150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847355" y="3617577"/>
                <a:ext cx="218746" cy="618605"/>
              </a:xfrm>
              <a:prstGeom prst="rect">
                <a:avLst/>
              </a:prstGeom>
            </p:spPr>
          </p:pic>
          <p:pic>
            <p:nvPicPr>
              <p:cNvPr id="28" name="Picture 27">
                <a:extLst>
                  <a:ext uri="{FF2B5EF4-FFF2-40B4-BE49-F238E27FC236}">
                    <a16:creationId xmlns:a16="http://schemas.microsoft.com/office/drawing/2014/main" id="{E2F7DEBB-7B49-42DE-B854-EA0CEDDDED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5431899" y="3812970"/>
                <a:ext cx="218746" cy="618605"/>
              </a:xfrm>
              <a:prstGeom prst="rect">
                <a:avLst/>
              </a:prstGeom>
            </p:spPr>
          </p:pic>
          <p:pic>
            <p:nvPicPr>
              <p:cNvPr id="29" name="Picture 28">
                <a:extLst>
                  <a:ext uri="{FF2B5EF4-FFF2-40B4-BE49-F238E27FC236}">
                    <a16:creationId xmlns:a16="http://schemas.microsoft.com/office/drawing/2014/main" id="{73B933C9-FDB0-49E5-887E-E5862ECD10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92502" y="3223871"/>
                <a:ext cx="240227" cy="582549"/>
              </a:xfrm>
              <a:prstGeom prst="rect">
                <a:avLst/>
              </a:prstGeom>
            </p:spPr>
          </p:pic>
          <p:pic>
            <p:nvPicPr>
              <p:cNvPr id="30" name="Picture 29">
                <a:extLst>
                  <a:ext uri="{FF2B5EF4-FFF2-40B4-BE49-F238E27FC236}">
                    <a16:creationId xmlns:a16="http://schemas.microsoft.com/office/drawing/2014/main" id="{5CE65CE4-AD1A-413E-B459-508CF26AB7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282414" y="2672804"/>
                <a:ext cx="240227" cy="582549"/>
              </a:xfrm>
              <a:prstGeom prst="rect">
                <a:avLst/>
              </a:prstGeom>
            </p:spPr>
          </p:pic>
          <p:pic>
            <p:nvPicPr>
              <p:cNvPr id="31" name="Picture 30">
                <a:extLst>
                  <a:ext uri="{FF2B5EF4-FFF2-40B4-BE49-F238E27FC236}">
                    <a16:creationId xmlns:a16="http://schemas.microsoft.com/office/drawing/2014/main" id="{1E7CB1B9-1596-4621-8DEC-A1B9729AE9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345936" y="3380383"/>
                <a:ext cx="240227" cy="582549"/>
              </a:xfrm>
              <a:prstGeom prst="rect">
                <a:avLst/>
              </a:prstGeom>
            </p:spPr>
          </p:pic>
          <p:pic>
            <p:nvPicPr>
              <p:cNvPr id="34" name="Picture 33">
                <a:extLst>
                  <a:ext uri="{FF2B5EF4-FFF2-40B4-BE49-F238E27FC236}">
                    <a16:creationId xmlns:a16="http://schemas.microsoft.com/office/drawing/2014/main" id="{CF6F2F5D-7BFB-4B6C-969F-C8150FB4FD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387" t="-1111" r="2356" b="47223"/>
              <a:stretch/>
            </p:blipFill>
            <p:spPr>
              <a:xfrm>
                <a:off x="3869971" y="2461312"/>
                <a:ext cx="240227" cy="582549"/>
              </a:xfrm>
              <a:prstGeom prst="rect">
                <a:avLst/>
              </a:prstGeom>
            </p:spPr>
          </p:pic>
          <p:cxnSp>
            <p:nvCxnSpPr>
              <p:cNvPr id="35" name="Straight Connector 34">
                <a:extLst>
                  <a:ext uri="{FF2B5EF4-FFF2-40B4-BE49-F238E27FC236}">
                    <a16:creationId xmlns:a16="http://schemas.microsoft.com/office/drawing/2014/main" id="{C96D8A85-57C1-4C2E-8833-412A5F5666CC}"/>
                  </a:ext>
                </a:extLst>
              </p:cNvPr>
              <p:cNvCxnSpPr>
                <a:cxnSpLocks/>
              </p:cNvCxnSpPr>
              <p:nvPr/>
            </p:nvCxnSpPr>
            <p:spPr>
              <a:xfrm>
                <a:off x="4779361" y="4095532"/>
                <a:ext cx="2989431" cy="53062"/>
              </a:xfrm>
              <a:prstGeom prst="line">
                <a:avLst/>
              </a:prstGeom>
              <a:ln w="25400">
                <a:solidFill>
                  <a:srgbClr val="750558"/>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45" name="Picture 44">
            <a:extLst>
              <a:ext uri="{FF2B5EF4-FFF2-40B4-BE49-F238E27FC236}">
                <a16:creationId xmlns:a16="http://schemas.microsoft.com/office/drawing/2014/main" id="{5B23560E-BC9D-4619-BF44-2E0A973AD01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9" t="-1944" r="77176" b="39444"/>
          <a:stretch/>
        </p:blipFill>
        <p:spPr>
          <a:xfrm>
            <a:off x="4750900" y="4496854"/>
            <a:ext cx="112655" cy="397859"/>
          </a:xfrm>
          <a:prstGeom prst="rect">
            <a:avLst/>
          </a:prstGeom>
        </p:spPr>
      </p:pic>
      <p:sp>
        <p:nvSpPr>
          <p:cNvPr id="46" name="Oval 45">
            <a:extLst>
              <a:ext uri="{FF2B5EF4-FFF2-40B4-BE49-F238E27FC236}">
                <a16:creationId xmlns:a16="http://schemas.microsoft.com/office/drawing/2014/main" id="{5A23089E-259F-4F7B-9B86-F4A27614A070}"/>
              </a:ext>
            </a:extLst>
          </p:cNvPr>
          <p:cNvSpPr/>
          <p:nvPr/>
        </p:nvSpPr>
        <p:spPr>
          <a:xfrm>
            <a:off x="4307093" y="3854069"/>
            <a:ext cx="1056834" cy="1272693"/>
          </a:xfrm>
          <a:prstGeom prst="ellipse">
            <a:avLst/>
          </a:prstGeom>
          <a:solidFill>
            <a:schemeClr val="bg1">
              <a:alpha val="0"/>
            </a:schemeClr>
          </a:solid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5" name="Rectangle 4">
            <a:extLst>
              <a:ext uri="{FF2B5EF4-FFF2-40B4-BE49-F238E27FC236}">
                <a16:creationId xmlns:a16="http://schemas.microsoft.com/office/drawing/2014/main" id="{C99F26CF-B025-421C-8CE3-7DADA9699A20}"/>
              </a:ext>
            </a:extLst>
          </p:cNvPr>
          <p:cNvSpPr/>
          <p:nvPr/>
        </p:nvSpPr>
        <p:spPr>
          <a:xfrm>
            <a:off x="6886576" y="2933708"/>
            <a:ext cx="666793" cy="483391"/>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dirty="0">
                <a:solidFill>
                  <a:prstClr val="white"/>
                </a:solidFill>
              </a:rPr>
              <a:t>K=5</a:t>
            </a:r>
          </a:p>
        </p:txBody>
      </p:sp>
    </p:spTree>
    <p:extLst>
      <p:ext uri="{BB962C8B-B14F-4D97-AF65-F5344CB8AC3E}">
        <p14:creationId xmlns:p14="http://schemas.microsoft.com/office/powerpoint/2010/main" val="324733723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F691500596E74FB73816A9613B166B" ma:contentTypeVersion="4" ma:contentTypeDescription="Create a new document." ma:contentTypeScope="" ma:versionID="ca0bf9981c2870c46a35ade00c03d5c5">
  <xsd:schema xmlns:xsd="http://www.w3.org/2001/XMLSchema" xmlns:xs="http://www.w3.org/2001/XMLSchema" xmlns:p="http://schemas.microsoft.com/office/2006/metadata/properties" xmlns:ns2="82238926-1cba-41a3-b548-99160683d3e1" targetNamespace="http://schemas.microsoft.com/office/2006/metadata/properties" ma:root="true" ma:fieldsID="2b313bd287df041a2b0200b6d02cbc57" ns2:_="">
    <xsd:import namespace="82238926-1cba-41a3-b548-99160683d3e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238926-1cba-41a3-b548-99160683d3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1CE852A-3D90-4EEC-B1BD-3AC8270E6A8E}">
  <ds:schemaRefs>
    <ds:schemaRef ds:uri="http://schemas.microsoft.com/sharepoint/v3/contenttype/forms"/>
  </ds:schemaRefs>
</ds:datastoreItem>
</file>

<file path=customXml/itemProps2.xml><?xml version="1.0" encoding="utf-8"?>
<ds:datastoreItem xmlns:ds="http://schemas.openxmlformats.org/officeDocument/2006/customXml" ds:itemID="{E3025DDA-B2CF-4C77-ABF3-76B148A1E1E7}">
  <ds:schemaRefs>
    <ds:schemaRef ds:uri="82238926-1cba-41a3-b548-99160683d3e1"/>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DF2431E-BC78-4136-9D50-37DA2BFF72C6}">
  <ds:schemaRefs>
    <ds:schemaRef ds:uri="http://purl.org/dc/terms/"/>
    <ds:schemaRef ds:uri="http://schemas.microsoft.com/office/2006/documentManagement/types"/>
    <ds:schemaRef ds:uri="http://purl.org/dc/dcmitype/"/>
    <ds:schemaRef ds:uri="http://purl.org/dc/elements/1.1/"/>
    <ds:schemaRef ds:uri="http://www.w3.org/XML/1998/namespace"/>
    <ds:schemaRef ds:uri="http://schemas.openxmlformats.org/package/2006/metadata/core-properties"/>
    <ds:schemaRef ds:uri="http://schemas.microsoft.com/office/2006/metadata/properties"/>
    <ds:schemaRef ds:uri="http://schemas.microsoft.com/office/infopath/2007/PartnerControls"/>
    <ds:schemaRef ds:uri="82238926-1cba-41a3-b548-99160683d3e1"/>
  </ds:schemaRefs>
</ds:datastoreItem>
</file>

<file path=docProps/app.xml><?xml version="1.0" encoding="utf-8"?>
<Properties xmlns="http://schemas.openxmlformats.org/officeDocument/2006/extended-properties" xmlns:vt="http://schemas.openxmlformats.org/officeDocument/2006/docPropsVTypes">
  <Template/>
  <TotalTime>2001</TotalTime>
  <Words>2051</Words>
  <Application>Microsoft Office PowerPoint</Application>
  <PresentationFormat>On-screen Show (4:3)</PresentationFormat>
  <Paragraphs>268</Paragraphs>
  <Slides>49</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49</vt:i4>
      </vt:variant>
    </vt:vector>
  </HeadingPairs>
  <TitlesOfParts>
    <vt:vector size="61" baseType="lpstr">
      <vt:lpstr>Arial</vt:lpstr>
      <vt:lpstr>Calibri</vt:lpstr>
      <vt:lpstr>Carlito</vt:lpstr>
      <vt:lpstr>charter</vt:lpstr>
      <vt:lpstr>Courier New</vt:lpstr>
      <vt:lpstr>Garamond</vt:lpstr>
      <vt:lpstr>Gotham Rounded Bold</vt:lpstr>
      <vt:lpstr>Gotham Rounded Book</vt:lpstr>
      <vt:lpstr>Tahoma</vt:lpstr>
      <vt:lpstr>Wingdings</vt:lpstr>
      <vt:lpstr>Organic</vt:lpstr>
      <vt:lpstr>Office Theme</vt:lpstr>
      <vt:lpstr>PowerPoint Presentation</vt:lpstr>
      <vt:lpstr>Last Lecture..</vt:lpstr>
      <vt:lpstr>Machine Learning: Overview Dataset Types</vt:lpstr>
      <vt:lpstr>PowerPoint Presentation</vt:lpstr>
      <vt:lpstr>Machine Learning: Overview Data Types</vt:lpstr>
      <vt:lpstr>Machine Learning:Let machine learning handle the task !</vt:lpstr>
      <vt:lpstr>PowerPoint Presentation</vt:lpstr>
      <vt:lpstr>Machine Learning: Overview Data Types</vt:lpstr>
      <vt:lpstr>Batch and Online Learning</vt:lpstr>
      <vt:lpstr>Batch learning</vt:lpstr>
      <vt:lpstr>Batch learning</vt:lpstr>
      <vt:lpstr>Online learning</vt:lpstr>
      <vt:lpstr>Online learning</vt:lpstr>
      <vt:lpstr>Components Training Data</vt:lpstr>
      <vt:lpstr>Training Data</vt:lpstr>
      <vt:lpstr>Feature Types</vt:lpstr>
      <vt:lpstr>Feature Types</vt:lpstr>
      <vt:lpstr>PowerPoint Presentation</vt:lpstr>
      <vt:lpstr>PowerPoint Presentation</vt:lpstr>
      <vt:lpstr>PowerPoint Presentation</vt:lpstr>
      <vt:lpstr>PowerPoint Presentation</vt:lpstr>
      <vt:lpstr>Main Challenges of Machine Learning</vt:lpstr>
      <vt:lpstr>Insufficient Quantity of Training Data</vt:lpstr>
      <vt:lpstr>Non-representative Training Data</vt:lpstr>
      <vt:lpstr>Poor-Quality Data</vt:lpstr>
      <vt:lpstr>Irrelevant Features</vt:lpstr>
      <vt:lpstr>Overfitting the Training Data</vt:lpstr>
      <vt:lpstr>Overfitting the Training Data</vt:lpstr>
      <vt:lpstr>Overfitting the Training Data</vt:lpstr>
      <vt:lpstr>Underfitting the Training Data</vt:lpstr>
      <vt:lpstr>Underfitting the Training Data</vt:lpstr>
      <vt:lpstr>Supervised  Machine  Learning</vt:lpstr>
      <vt:lpstr>Inductive Machine Learning Process …</vt:lpstr>
      <vt:lpstr>Deployed Model…</vt:lpstr>
      <vt:lpstr>Supervised Machine Learning Types</vt:lpstr>
      <vt:lpstr>Supervised Machine Learning Types</vt:lpstr>
      <vt:lpstr>Classification Learning</vt:lpstr>
      <vt:lpstr>Classification Learning</vt:lpstr>
      <vt:lpstr>Contact Lens Problem (Classification )</vt:lpstr>
      <vt:lpstr>Regression \ Numeric Prediction</vt:lpstr>
      <vt:lpstr>Numeric Prediction</vt:lpstr>
      <vt:lpstr>Classification Algorithms</vt:lpstr>
      <vt:lpstr>K-Nearest Neighbor Algorithm  (K-NN)</vt:lpstr>
      <vt:lpstr>What is KNN Algorithm?</vt:lpstr>
      <vt:lpstr>What is KNN Algorithm?</vt:lpstr>
      <vt:lpstr>What is KNN Algorithm?</vt:lpstr>
      <vt:lpstr>What is KNN Algorithm?</vt:lpstr>
      <vt:lpstr>What is KNN Algorithm?</vt:lpstr>
      <vt:lpstr>What is KNN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admin</dc:creator>
  <cp:lastModifiedBy>Waqar Ahmad</cp:lastModifiedBy>
  <cp:revision>94</cp:revision>
  <dcterms:created xsi:type="dcterms:W3CDTF">2006-08-16T00:00:00Z</dcterms:created>
  <dcterms:modified xsi:type="dcterms:W3CDTF">2022-10-27T07:21:39Z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0x01010019F691500596E74FB73816A9613B166B</vt:lpwstr>
  </property>
</Properties>
</file>