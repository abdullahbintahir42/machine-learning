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77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6600" y="438565"/>
            <a:ext cx="6890384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2243328"/>
            <a:ext cx="1170432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69117" y="9251836"/>
            <a:ext cx="273050" cy="21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971" y="3166606"/>
            <a:ext cx="47866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75" dirty="0"/>
              <a:t>Machine</a:t>
            </a:r>
            <a:r>
              <a:rPr sz="5000" spc="-265" dirty="0"/>
              <a:t> </a:t>
            </a:r>
            <a:r>
              <a:rPr sz="5000" spc="-315" dirty="0"/>
              <a:t>Learning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736600" y="4332469"/>
            <a:ext cx="11082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85" dirty="0">
                <a:latin typeface="Trebuchet MS"/>
                <a:cs typeface="Trebuchet MS"/>
              </a:rPr>
              <a:t>Lecture</a:t>
            </a:r>
            <a:r>
              <a:rPr sz="3500" b="1" spc="-85" dirty="0">
                <a:latin typeface="Trebuchet MS"/>
                <a:cs typeface="Trebuchet MS"/>
              </a:rPr>
              <a:t> </a:t>
            </a:r>
            <a:r>
              <a:rPr sz="3500" b="1" spc="-225" dirty="0">
                <a:latin typeface="Trebuchet MS"/>
                <a:cs typeface="Trebuchet MS"/>
              </a:rPr>
              <a:t>2:</a:t>
            </a:r>
            <a:r>
              <a:rPr sz="3500" b="1" spc="-85" dirty="0">
                <a:latin typeface="Trebuchet MS"/>
                <a:cs typeface="Trebuchet MS"/>
              </a:rPr>
              <a:t> </a:t>
            </a:r>
            <a:r>
              <a:rPr sz="3500" b="1" spc="-135" dirty="0">
                <a:latin typeface="Trebuchet MS"/>
                <a:cs typeface="Trebuchet MS"/>
              </a:rPr>
              <a:t>Review</a:t>
            </a:r>
            <a:r>
              <a:rPr sz="3500" b="1" spc="-130" dirty="0">
                <a:latin typeface="Trebuchet MS"/>
                <a:cs typeface="Trebuchet MS"/>
              </a:rPr>
              <a:t> </a:t>
            </a:r>
            <a:r>
              <a:rPr sz="3500" b="1" spc="-55" dirty="0">
                <a:latin typeface="Trebuchet MS"/>
                <a:cs typeface="Trebuchet MS"/>
              </a:rPr>
              <a:t>of</a:t>
            </a:r>
            <a:r>
              <a:rPr sz="3500" b="1" spc="-140" dirty="0">
                <a:latin typeface="Trebuchet MS"/>
                <a:cs typeface="Trebuchet MS"/>
              </a:rPr>
              <a:t> </a:t>
            </a:r>
            <a:r>
              <a:rPr sz="3500" b="1" spc="-165" dirty="0">
                <a:latin typeface="Trebuchet MS"/>
                <a:cs typeface="Trebuchet MS"/>
              </a:rPr>
              <a:t>Linear</a:t>
            </a:r>
            <a:r>
              <a:rPr sz="3500" b="1" spc="-215" dirty="0">
                <a:latin typeface="Trebuchet MS"/>
                <a:cs typeface="Trebuchet MS"/>
              </a:rPr>
              <a:t> </a:t>
            </a:r>
            <a:r>
              <a:rPr sz="3500" b="1" spc="-95" dirty="0">
                <a:latin typeface="Trebuchet MS"/>
                <a:cs typeface="Trebuchet MS"/>
              </a:rPr>
              <a:t>Algebra</a:t>
            </a:r>
            <a:r>
              <a:rPr sz="3500" b="1" spc="-105" dirty="0">
                <a:latin typeface="Trebuchet MS"/>
                <a:cs typeface="Trebuchet MS"/>
              </a:rPr>
              <a:t> </a:t>
            </a:r>
            <a:r>
              <a:rPr sz="3500" b="1" spc="-100" dirty="0">
                <a:latin typeface="Trebuchet MS"/>
                <a:cs typeface="Trebuchet MS"/>
              </a:rPr>
              <a:t>and</a:t>
            </a:r>
            <a:r>
              <a:rPr sz="3500" b="1" spc="-105" dirty="0">
                <a:latin typeface="Trebuchet MS"/>
                <a:cs typeface="Trebuchet MS"/>
              </a:rPr>
              <a:t> </a:t>
            </a:r>
            <a:r>
              <a:rPr sz="3500" b="1" spc="-130" dirty="0">
                <a:latin typeface="Trebuchet MS"/>
                <a:cs typeface="Trebuchet MS"/>
              </a:rPr>
              <a:t>Python</a:t>
            </a:r>
            <a:r>
              <a:rPr sz="3500" b="1" spc="-105" dirty="0">
                <a:latin typeface="Trebuchet MS"/>
                <a:cs typeface="Trebuchet MS"/>
              </a:rPr>
              <a:t> </a:t>
            </a:r>
            <a:r>
              <a:rPr sz="3500" b="1" spc="-85" dirty="0">
                <a:latin typeface="Trebuchet MS"/>
                <a:cs typeface="Trebuchet MS"/>
              </a:rPr>
              <a:t>Libraries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2001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35" dirty="0">
                <a:latin typeface="Trebuchet MS"/>
                <a:cs typeface="Trebuchet MS"/>
              </a:rPr>
              <a:t>Norm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6390533"/>
            <a:ext cx="43770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50" dirty="0">
                <a:latin typeface="Trebuchet MS"/>
                <a:cs typeface="Trebuchet MS"/>
              </a:rPr>
              <a:t>Dot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product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inner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product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Norm</a:t>
            </a:r>
            <a:r>
              <a:rPr spc="-229" dirty="0"/>
              <a:t> </a:t>
            </a:r>
            <a:r>
              <a:rPr spc="-190" dirty="0"/>
              <a:t>and</a:t>
            </a:r>
            <a:r>
              <a:rPr spc="-225" dirty="0"/>
              <a:t> </a:t>
            </a:r>
            <a:r>
              <a:rPr spc="-200" dirty="0"/>
              <a:t>dot</a:t>
            </a:r>
            <a:r>
              <a:rPr spc="-229" dirty="0"/>
              <a:t> </a:t>
            </a:r>
            <a:r>
              <a:rPr spc="-190" dirty="0"/>
              <a:t>product</a:t>
            </a:r>
            <a:r>
              <a:rPr spc="-225" dirty="0"/>
              <a:t> </a:t>
            </a:r>
            <a:r>
              <a:rPr spc="-200" dirty="0"/>
              <a:t>for</a:t>
            </a:r>
            <a:r>
              <a:rPr spc="-229" dirty="0"/>
              <a:t> </a:t>
            </a:r>
            <a:r>
              <a:rPr spc="-195" dirty="0"/>
              <a:t>vectors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09677" y="2589238"/>
            <a:ext cx="5829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x</a:t>
            </a:r>
            <a:r>
              <a:rPr sz="3000" b="1" spc="70" dirty="0">
                <a:latin typeface="Times New Roman"/>
                <a:cs typeface="Times New Roman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97825" y="1974849"/>
            <a:ext cx="139065" cy="1823720"/>
          </a:xfrm>
          <a:custGeom>
            <a:avLst/>
            <a:gdLst/>
            <a:ahLst/>
            <a:cxnLst/>
            <a:rect l="l" t="t" r="r" b="b"/>
            <a:pathLst>
              <a:path w="139065" h="1823720">
                <a:moveTo>
                  <a:pt x="139052" y="0"/>
                </a:moveTo>
                <a:lnTo>
                  <a:pt x="0" y="0"/>
                </a:lnTo>
                <a:lnTo>
                  <a:pt x="0" y="19050"/>
                </a:lnTo>
                <a:lnTo>
                  <a:pt x="0" y="1804670"/>
                </a:lnTo>
                <a:lnTo>
                  <a:pt x="0" y="1823720"/>
                </a:lnTo>
                <a:lnTo>
                  <a:pt x="139052" y="1823720"/>
                </a:lnTo>
                <a:lnTo>
                  <a:pt x="139052" y="1804670"/>
                </a:lnTo>
                <a:lnTo>
                  <a:pt x="38100" y="1804670"/>
                </a:lnTo>
                <a:lnTo>
                  <a:pt x="38100" y="19050"/>
                </a:lnTo>
                <a:lnTo>
                  <a:pt x="139052" y="19050"/>
                </a:lnTo>
                <a:lnTo>
                  <a:pt x="139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63076" y="1843823"/>
            <a:ext cx="374650" cy="9366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 marR="30480" indent="3175">
              <a:lnSpc>
                <a:spcPts val="3570"/>
              </a:lnSpc>
              <a:spcBef>
                <a:spcPts val="229"/>
              </a:spcBef>
            </a:pPr>
            <a:r>
              <a:rPr sz="3000" i="1" spc="-114" dirty="0">
                <a:latin typeface="Times New Roman"/>
                <a:cs typeface="Times New Roman"/>
              </a:rPr>
              <a:t>x</a:t>
            </a:r>
            <a:r>
              <a:rPr sz="3150" spc="-172" baseline="-19841" dirty="0">
                <a:latin typeface="Cambria"/>
                <a:cs typeface="Cambria"/>
              </a:rPr>
              <a:t>1 </a:t>
            </a:r>
            <a:r>
              <a:rPr sz="3000" i="1" spc="-95" dirty="0">
                <a:latin typeface="Times New Roman"/>
                <a:cs typeface="Times New Roman"/>
              </a:rPr>
              <a:t>x</a:t>
            </a:r>
            <a:r>
              <a:rPr sz="3150" spc="-142" baseline="-19841" dirty="0">
                <a:latin typeface="Cambria"/>
                <a:cs typeface="Cambria"/>
              </a:rPr>
              <a:t>2</a:t>
            </a:r>
            <a:endParaRPr sz="3150" baseline="-19841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40292" y="2814118"/>
            <a:ext cx="220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66727" y="3307457"/>
            <a:ext cx="5746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i="1" baseline="13888" dirty="0">
                <a:latin typeface="Times New Roman"/>
                <a:cs typeface="Times New Roman"/>
              </a:rPr>
              <a:t>x</a:t>
            </a:r>
            <a:r>
              <a:rPr sz="2100" i="1" dirty="0">
                <a:latin typeface="Times New Roman"/>
                <a:cs typeface="Times New Roman"/>
              </a:rPr>
              <a:t>n 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63762" y="1974849"/>
            <a:ext cx="139065" cy="1804670"/>
          </a:xfrm>
          <a:custGeom>
            <a:avLst/>
            <a:gdLst/>
            <a:ahLst/>
            <a:cxnLst/>
            <a:rect l="l" t="t" r="r" b="b"/>
            <a:pathLst>
              <a:path w="139065" h="1804670">
                <a:moveTo>
                  <a:pt x="139052" y="0"/>
                </a:moveTo>
                <a:lnTo>
                  <a:pt x="0" y="0"/>
                </a:lnTo>
                <a:lnTo>
                  <a:pt x="0" y="19050"/>
                </a:lnTo>
                <a:lnTo>
                  <a:pt x="100952" y="19050"/>
                </a:lnTo>
                <a:lnTo>
                  <a:pt x="100952" y="1804670"/>
                </a:lnTo>
                <a:lnTo>
                  <a:pt x="139052" y="1804670"/>
                </a:lnTo>
                <a:lnTo>
                  <a:pt x="139052" y="19050"/>
                </a:lnTo>
                <a:lnTo>
                  <a:pt x="139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77984" y="2351592"/>
            <a:ext cx="1303020" cy="1171575"/>
          </a:xfrm>
          <a:custGeom>
            <a:avLst/>
            <a:gdLst/>
            <a:ahLst/>
            <a:cxnLst/>
            <a:rect l="l" t="t" r="r" b="b"/>
            <a:pathLst>
              <a:path w="1303020" h="1171575">
                <a:moveTo>
                  <a:pt x="108162" y="642292"/>
                </a:moveTo>
                <a:lnTo>
                  <a:pt x="39239" y="642292"/>
                </a:lnTo>
                <a:lnTo>
                  <a:pt x="49465" y="645607"/>
                </a:lnTo>
                <a:lnTo>
                  <a:pt x="56763" y="655102"/>
                </a:lnTo>
                <a:lnTo>
                  <a:pt x="62061" y="670096"/>
                </a:lnTo>
                <a:lnTo>
                  <a:pt x="66287" y="689912"/>
                </a:lnTo>
                <a:lnTo>
                  <a:pt x="152002" y="1171441"/>
                </a:lnTo>
                <a:lnTo>
                  <a:pt x="173716" y="1171441"/>
                </a:lnTo>
                <a:lnTo>
                  <a:pt x="201314" y="1014868"/>
                </a:lnTo>
                <a:lnTo>
                  <a:pt x="174478" y="1014868"/>
                </a:lnTo>
                <a:lnTo>
                  <a:pt x="108162" y="642292"/>
                </a:lnTo>
                <a:close/>
              </a:path>
              <a:path w="1303020" h="1171575">
                <a:moveTo>
                  <a:pt x="354671" y="0"/>
                </a:moveTo>
                <a:lnTo>
                  <a:pt x="176002" y="1014868"/>
                </a:lnTo>
                <a:lnTo>
                  <a:pt x="201314" y="1014868"/>
                </a:lnTo>
                <a:lnTo>
                  <a:pt x="375763" y="25143"/>
                </a:lnTo>
                <a:lnTo>
                  <a:pt x="354671" y="25143"/>
                </a:lnTo>
                <a:lnTo>
                  <a:pt x="354671" y="0"/>
                </a:lnTo>
                <a:close/>
              </a:path>
              <a:path w="1303020" h="1171575">
                <a:moveTo>
                  <a:pt x="98668" y="588958"/>
                </a:moveTo>
                <a:lnTo>
                  <a:pt x="83811" y="588958"/>
                </a:lnTo>
                <a:lnTo>
                  <a:pt x="0" y="641911"/>
                </a:lnTo>
                <a:lnTo>
                  <a:pt x="6857" y="654864"/>
                </a:lnTo>
                <a:lnTo>
                  <a:pt x="12774" y="650328"/>
                </a:lnTo>
                <a:lnTo>
                  <a:pt x="19905" y="646292"/>
                </a:lnTo>
                <a:lnTo>
                  <a:pt x="28607" y="643399"/>
                </a:lnTo>
                <a:lnTo>
                  <a:pt x="39239" y="642292"/>
                </a:lnTo>
                <a:lnTo>
                  <a:pt x="108162" y="642292"/>
                </a:lnTo>
                <a:lnTo>
                  <a:pt x="98668" y="588958"/>
                </a:lnTo>
                <a:close/>
              </a:path>
              <a:path w="1303020" h="1171575">
                <a:moveTo>
                  <a:pt x="380194" y="0"/>
                </a:moveTo>
                <a:lnTo>
                  <a:pt x="354671" y="0"/>
                </a:lnTo>
                <a:lnTo>
                  <a:pt x="354671" y="25143"/>
                </a:lnTo>
                <a:lnTo>
                  <a:pt x="375763" y="25143"/>
                </a:lnTo>
                <a:lnTo>
                  <a:pt x="380194" y="0"/>
                </a:lnTo>
                <a:close/>
              </a:path>
              <a:path w="1303020" h="1171575">
                <a:moveTo>
                  <a:pt x="1302406" y="0"/>
                </a:moveTo>
                <a:lnTo>
                  <a:pt x="380194" y="0"/>
                </a:lnTo>
                <a:lnTo>
                  <a:pt x="375763" y="25143"/>
                </a:lnTo>
                <a:lnTo>
                  <a:pt x="1302406" y="25143"/>
                </a:lnTo>
                <a:lnTo>
                  <a:pt x="1302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766287" y="2265616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36050" y="3165245"/>
            <a:ext cx="42164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32451" y="2558762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Cambria"/>
                <a:cs typeface="Cambria"/>
              </a:rPr>
              <a:t>2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77099" y="2589238"/>
            <a:ext cx="25590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22755" algn="l"/>
              </a:tabLst>
            </a:pPr>
            <a:r>
              <a:rPr sz="3000" spc="130" dirty="0">
                <a:latin typeface="Cambria"/>
                <a:cs typeface="Cambria"/>
              </a:rPr>
              <a:t>,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spc="120" dirty="0">
                <a:latin typeface="Cambria"/>
                <a:cs typeface="Cambria"/>
              </a:rPr>
              <a:t>∥</a:t>
            </a:r>
            <a:r>
              <a:rPr sz="3000" b="1" spc="120" dirty="0">
                <a:latin typeface="Times New Roman"/>
                <a:cs typeface="Times New Roman"/>
              </a:rPr>
              <a:t>x</a:t>
            </a:r>
            <a:r>
              <a:rPr sz="3000" spc="120" dirty="0">
                <a:latin typeface="Cambria"/>
                <a:cs typeface="Cambria"/>
              </a:rPr>
              <a:t>∥</a:t>
            </a:r>
            <a:r>
              <a:rPr sz="3000" spc="175" dirty="0">
                <a:latin typeface="Cambria"/>
                <a:cs typeface="Cambria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4500" spc="2595" baseline="-28703" dirty="0">
                <a:latin typeface="Arial MT"/>
                <a:cs typeface="Arial MT"/>
              </a:rPr>
              <a:t>∑</a:t>
            </a:r>
            <a:r>
              <a:rPr sz="4500" spc="-502" baseline="-28703" dirty="0">
                <a:latin typeface="Arial MT"/>
                <a:cs typeface="Arial MT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i="1" spc="-37" baseline="-23809" dirty="0">
                <a:latin typeface="Times New Roman"/>
                <a:cs typeface="Times New Roman"/>
              </a:rPr>
              <a:t>i</a:t>
            </a:r>
            <a:endParaRPr sz="3150" baseline="-23809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6600" y="1765300"/>
            <a:ext cx="5944870" cy="4258945"/>
            <a:chOff x="736600" y="1765300"/>
            <a:chExt cx="5944870" cy="425894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600" y="4953000"/>
              <a:ext cx="3564803" cy="10710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700" y="1765300"/>
              <a:ext cx="5906171" cy="319328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185460" y="6141941"/>
            <a:ext cx="2430145" cy="1250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33525">
              <a:lnSpc>
                <a:spcPct val="100000"/>
              </a:lnSpc>
              <a:spcBef>
                <a:spcPts val="13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3000" spc="80" dirty="0">
                <a:latin typeface="Cambria"/>
                <a:cs typeface="Cambria"/>
              </a:rPr>
              <a:t>⟨</a:t>
            </a:r>
            <a:r>
              <a:rPr sz="3000" b="1" spc="80" dirty="0">
                <a:latin typeface="Times New Roman"/>
                <a:cs typeface="Times New Roman"/>
              </a:rPr>
              <a:t>x</a:t>
            </a:r>
            <a:r>
              <a:rPr sz="3000" spc="80" dirty="0">
                <a:latin typeface="Cambria"/>
                <a:cs typeface="Cambria"/>
              </a:rPr>
              <a:t>,</a:t>
            </a:r>
            <a:r>
              <a:rPr sz="3000" spc="-165" dirty="0">
                <a:latin typeface="Cambria"/>
                <a:cs typeface="Cambria"/>
              </a:rPr>
              <a:t> </a:t>
            </a:r>
            <a:r>
              <a:rPr sz="3000" b="1" spc="55" dirty="0">
                <a:latin typeface="Times New Roman"/>
                <a:cs typeface="Times New Roman"/>
              </a:rPr>
              <a:t>y</a:t>
            </a:r>
            <a:r>
              <a:rPr sz="3000" spc="55" dirty="0">
                <a:latin typeface="Cambria"/>
                <a:cs typeface="Cambria"/>
              </a:rPr>
              <a:t>⟩</a:t>
            </a:r>
            <a:r>
              <a:rPr sz="3000" spc="180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80" dirty="0">
                <a:latin typeface="Cambria"/>
                <a:cs typeface="Cambria"/>
              </a:rPr>
              <a:t> </a:t>
            </a:r>
            <a:r>
              <a:rPr sz="4500" spc="2595" baseline="-28703" dirty="0">
                <a:latin typeface="Arial MT"/>
                <a:cs typeface="Arial MT"/>
              </a:rPr>
              <a:t>∑</a:t>
            </a:r>
            <a:r>
              <a:rPr sz="4500" spc="-494" baseline="-28703" dirty="0">
                <a:latin typeface="Arial MT"/>
                <a:cs typeface="Arial MT"/>
              </a:rPr>
              <a:t> </a:t>
            </a:r>
            <a:r>
              <a:rPr sz="3000" i="1" spc="-20" dirty="0">
                <a:latin typeface="Times New Roman"/>
                <a:cs typeface="Times New Roman"/>
              </a:rPr>
              <a:t>x</a:t>
            </a:r>
            <a:r>
              <a:rPr sz="3150" i="1" spc="-30" baseline="-19841" dirty="0">
                <a:latin typeface="Times New Roman"/>
                <a:cs typeface="Times New Roman"/>
              </a:rPr>
              <a:t>i</a:t>
            </a:r>
            <a:r>
              <a:rPr sz="3000" i="1" spc="-20" dirty="0">
                <a:latin typeface="Times New Roman"/>
                <a:cs typeface="Times New Roman"/>
              </a:rPr>
              <a:t>y</a:t>
            </a:r>
            <a:r>
              <a:rPr sz="3150" i="1" spc="-30" baseline="-19841" dirty="0">
                <a:latin typeface="Times New Roman"/>
                <a:cs typeface="Times New Roman"/>
              </a:rPr>
              <a:t>i</a:t>
            </a:r>
            <a:endParaRPr sz="3150" baseline="-19841">
              <a:latin typeface="Times New Roman"/>
              <a:cs typeface="Times New Roman"/>
            </a:endParaRPr>
          </a:p>
          <a:p>
            <a:pPr marL="1403350">
              <a:lnSpc>
                <a:spcPct val="100000"/>
              </a:lnSpc>
              <a:spcBef>
                <a:spcPts val="965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10" y="6802476"/>
            <a:ext cx="3165955" cy="282182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50615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45" dirty="0">
                <a:latin typeface="Trebuchet MS"/>
                <a:cs typeface="Trebuchet MS"/>
              </a:rPr>
              <a:t>Let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consider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following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form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Matrix</a:t>
            </a:r>
            <a:r>
              <a:rPr spc="-235" dirty="0"/>
              <a:t> </a:t>
            </a:r>
            <a:r>
              <a:rPr spc="-185" dirty="0"/>
              <a:t>multiplication</a:t>
            </a:r>
          </a:p>
        </p:txBody>
      </p:sp>
      <p:sp>
        <p:nvSpPr>
          <p:cNvPr id="5" name="object 5"/>
          <p:cNvSpPr/>
          <p:nvPr/>
        </p:nvSpPr>
        <p:spPr>
          <a:xfrm>
            <a:off x="3026765" y="1684019"/>
            <a:ext cx="139065" cy="1370330"/>
          </a:xfrm>
          <a:custGeom>
            <a:avLst/>
            <a:gdLst/>
            <a:ahLst/>
            <a:cxnLst/>
            <a:rect l="l" t="t" r="r" b="b"/>
            <a:pathLst>
              <a:path w="139064" h="1370330">
                <a:moveTo>
                  <a:pt x="139014" y="0"/>
                </a:moveTo>
                <a:lnTo>
                  <a:pt x="0" y="0"/>
                </a:lnTo>
                <a:lnTo>
                  <a:pt x="0" y="19050"/>
                </a:lnTo>
                <a:lnTo>
                  <a:pt x="0" y="1351280"/>
                </a:lnTo>
                <a:lnTo>
                  <a:pt x="0" y="1370330"/>
                </a:lnTo>
                <a:lnTo>
                  <a:pt x="139014" y="1370330"/>
                </a:lnTo>
                <a:lnTo>
                  <a:pt x="139014" y="1351280"/>
                </a:lnTo>
                <a:lnTo>
                  <a:pt x="38087" y="1351280"/>
                </a:lnTo>
                <a:lnTo>
                  <a:pt x="38087" y="19050"/>
                </a:lnTo>
                <a:lnTo>
                  <a:pt x="139014" y="19050"/>
                </a:lnTo>
                <a:lnTo>
                  <a:pt x="139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67986" y="1648378"/>
            <a:ext cx="52451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Cambria"/>
                <a:cs typeface="Cambria"/>
              </a:rPr>
              <a:t>11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7970" y="2562852"/>
            <a:ext cx="73342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i="1" spc="-25" dirty="0">
                <a:latin typeface="Times New Roman"/>
                <a:cs typeface="Times New Roman"/>
              </a:rPr>
              <a:t>m</a:t>
            </a:r>
            <a:r>
              <a:rPr sz="2100" spc="-25" dirty="0">
                <a:latin typeface="Cambria"/>
                <a:cs typeface="Cambria"/>
              </a:rPr>
              <a:t>1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4239" y="1684019"/>
            <a:ext cx="139065" cy="1351280"/>
          </a:xfrm>
          <a:custGeom>
            <a:avLst/>
            <a:gdLst/>
            <a:ahLst/>
            <a:cxnLst/>
            <a:rect l="l" t="t" r="r" b="b"/>
            <a:pathLst>
              <a:path w="139064" h="1351280">
                <a:moveTo>
                  <a:pt x="139014" y="0"/>
                </a:moveTo>
                <a:lnTo>
                  <a:pt x="0" y="0"/>
                </a:lnTo>
                <a:lnTo>
                  <a:pt x="0" y="19050"/>
                </a:lnTo>
                <a:lnTo>
                  <a:pt x="100926" y="19050"/>
                </a:lnTo>
                <a:lnTo>
                  <a:pt x="100926" y="1351280"/>
                </a:lnTo>
                <a:lnTo>
                  <a:pt x="139014" y="1351280"/>
                </a:lnTo>
                <a:lnTo>
                  <a:pt x="139014" y="19050"/>
                </a:lnTo>
                <a:lnTo>
                  <a:pt x="139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53722" y="1682749"/>
            <a:ext cx="139065" cy="1372870"/>
          </a:xfrm>
          <a:custGeom>
            <a:avLst/>
            <a:gdLst/>
            <a:ahLst/>
            <a:cxnLst/>
            <a:rect l="l" t="t" r="r" b="b"/>
            <a:pathLst>
              <a:path w="139064" h="1372870">
                <a:moveTo>
                  <a:pt x="139014" y="0"/>
                </a:moveTo>
                <a:lnTo>
                  <a:pt x="0" y="0"/>
                </a:lnTo>
                <a:lnTo>
                  <a:pt x="0" y="19050"/>
                </a:lnTo>
                <a:lnTo>
                  <a:pt x="0" y="1353820"/>
                </a:lnTo>
                <a:lnTo>
                  <a:pt x="0" y="1372870"/>
                </a:lnTo>
                <a:lnTo>
                  <a:pt x="139014" y="1372870"/>
                </a:lnTo>
                <a:lnTo>
                  <a:pt x="139014" y="1353820"/>
                </a:lnTo>
                <a:lnTo>
                  <a:pt x="38087" y="1353820"/>
                </a:lnTo>
                <a:lnTo>
                  <a:pt x="38087" y="19050"/>
                </a:lnTo>
                <a:lnTo>
                  <a:pt x="139014" y="19050"/>
                </a:lnTo>
                <a:lnTo>
                  <a:pt x="139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94948" y="1647162"/>
            <a:ext cx="52451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Cambria"/>
                <a:cs typeface="Cambria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64932" y="2564068"/>
            <a:ext cx="73342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i="1" spc="-25" dirty="0">
                <a:latin typeface="Times New Roman"/>
                <a:cs typeface="Times New Roman"/>
              </a:rPr>
              <a:t>mn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21196" y="1682749"/>
            <a:ext cx="139065" cy="1353820"/>
          </a:xfrm>
          <a:custGeom>
            <a:avLst/>
            <a:gdLst/>
            <a:ahLst/>
            <a:cxnLst/>
            <a:rect l="l" t="t" r="r" b="b"/>
            <a:pathLst>
              <a:path w="139064" h="1353820">
                <a:moveTo>
                  <a:pt x="139014" y="0"/>
                </a:moveTo>
                <a:lnTo>
                  <a:pt x="0" y="0"/>
                </a:lnTo>
                <a:lnTo>
                  <a:pt x="0" y="19050"/>
                </a:lnTo>
                <a:lnTo>
                  <a:pt x="100926" y="19050"/>
                </a:lnTo>
                <a:lnTo>
                  <a:pt x="100926" y="1353820"/>
                </a:lnTo>
                <a:lnTo>
                  <a:pt x="139014" y="1353820"/>
                </a:lnTo>
                <a:lnTo>
                  <a:pt x="139014" y="19050"/>
                </a:lnTo>
                <a:lnTo>
                  <a:pt x="139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57415" y="1682749"/>
            <a:ext cx="139065" cy="1372870"/>
          </a:xfrm>
          <a:custGeom>
            <a:avLst/>
            <a:gdLst/>
            <a:ahLst/>
            <a:cxnLst/>
            <a:rect l="l" t="t" r="r" b="b"/>
            <a:pathLst>
              <a:path w="139065" h="1372870">
                <a:moveTo>
                  <a:pt x="139026" y="0"/>
                </a:moveTo>
                <a:lnTo>
                  <a:pt x="0" y="0"/>
                </a:lnTo>
                <a:lnTo>
                  <a:pt x="0" y="19050"/>
                </a:lnTo>
                <a:lnTo>
                  <a:pt x="0" y="1353820"/>
                </a:lnTo>
                <a:lnTo>
                  <a:pt x="0" y="1372870"/>
                </a:lnTo>
                <a:lnTo>
                  <a:pt x="139026" y="1372870"/>
                </a:lnTo>
                <a:lnTo>
                  <a:pt x="139026" y="1353820"/>
                </a:lnTo>
                <a:lnTo>
                  <a:pt x="38087" y="1353820"/>
                </a:lnTo>
                <a:lnTo>
                  <a:pt x="38087" y="19050"/>
                </a:lnTo>
                <a:lnTo>
                  <a:pt x="139026" y="19050"/>
                </a:lnTo>
                <a:lnTo>
                  <a:pt x="1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83671" y="1647162"/>
            <a:ext cx="5407660" cy="13995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76200" marR="98425" indent="4776470">
              <a:lnSpc>
                <a:spcPts val="3340"/>
              </a:lnSpc>
              <a:spcBef>
                <a:spcPts val="425"/>
              </a:spcBef>
              <a:tabLst>
                <a:tab pos="848360" algn="l"/>
                <a:tab pos="1546225" algn="l"/>
                <a:tab pos="3475354" algn="l"/>
                <a:tab pos="4194175" algn="l"/>
                <a:tab pos="4979035" algn="l"/>
              </a:tabLst>
            </a:pPr>
            <a:r>
              <a:rPr sz="4500" i="1" spc="-165" baseline="13888" dirty="0">
                <a:latin typeface="Times New Roman"/>
                <a:cs typeface="Times New Roman"/>
              </a:rPr>
              <a:t>a</a:t>
            </a:r>
            <a:r>
              <a:rPr sz="2100" spc="-110" dirty="0">
                <a:latin typeface="Cambria"/>
                <a:cs typeface="Cambria"/>
              </a:rPr>
              <a:t>11 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1</a:t>
            </a:r>
            <a:r>
              <a:rPr sz="3150" baseline="-19841" dirty="0">
                <a:latin typeface="Cambria"/>
                <a:cs typeface="Cambria"/>
              </a:rPr>
              <a:t>	</a:t>
            </a:r>
            <a:r>
              <a:rPr sz="3000" spc="530" dirty="0">
                <a:latin typeface="Cambria"/>
                <a:cs typeface="Cambria"/>
              </a:rPr>
              <a:t>⋮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5" dirty="0">
                <a:latin typeface="Cambria"/>
                <a:cs typeface="Cambria"/>
              </a:rPr>
              <a:t> </a:t>
            </a:r>
            <a:r>
              <a:rPr sz="3000" spc="740" dirty="0">
                <a:latin typeface="Cambria"/>
                <a:cs typeface="Cambria"/>
              </a:rPr>
              <a:t>…</a:t>
            </a:r>
            <a:r>
              <a:rPr sz="3000" spc="5" dirty="0">
                <a:latin typeface="Cambria"/>
                <a:cs typeface="Cambria"/>
              </a:rPr>
              <a:t> </a:t>
            </a:r>
            <a:r>
              <a:rPr sz="3000" spc="380" dirty="0">
                <a:latin typeface="Cambria"/>
                <a:cs typeface="Cambria"/>
              </a:rPr>
              <a:t>+</a:t>
            </a:r>
            <a:r>
              <a:rPr sz="3000" spc="10" dirty="0">
                <a:latin typeface="Cambria"/>
                <a:cs typeface="Cambria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i="1" spc="-37" baseline="-19841" dirty="0">
                <a:latin typeface="Times New Roman"/>
                <a:cs typeface="Times New Roman"/>
              </a:rPr>
              <a:t>n</a:t>
            </a:r>
            <a:r>
              <a:rPr sz="3150" i="1" baseline="-19841" dirty="0">
                <a:latin typeface="Times New Roman"/>
                <a:cs typeface="Times New Roman"/>
              </a:rPr>
              <a:t>	</a:t>
            </a:r>
            <a:r>
              <a:rPr sz="3000" spc="540" dirty="0">
                <a:latin typeface="Cambria"/>
                <a:cs typeface="Cambria"/>
              </a:rPr>
              <a:t>⋮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330" dirty="0">
                <a:latin typeface="Cambria"/>
                <a:cs typeface="Cambria"/>
              </a:rPr>
              <a:t>=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  <a:p>
            <a:pPr marR="68580" algn="r">
              <a:lnSpc>
                <a:spcPct val="100000"/>
              </a:lnSpc>
              <a:spcBef>
                <a:spcPts val="210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i="1" spc="-25" dirty="0">
                <a:latin typeface="Times New Roman"/>
                <a:cs typeface="Times New Roman"/>
              </a:rPr>
              <a:t>m</a:t>
            </a:r>
            <a:r>
              <a:rPr sz="2100" spc="-25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06612" y="1551944"/>
            <a:ext cx="40640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690" dirty="0">
                <a:latin typeface="Cambria"/>
                <a:cs typeface="Cambria"/>
              </a:rPr>
              <a:t>…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96797" y="1647162"/>
            <a:ext cx="52451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Cambria"/>
                <a:cs typeface="Cambria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48811" y="2070839"/>
            <a:ext cx="22034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06612" y="2468850"/>
            <a:ext cx="40640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690" dirty="0">
                <a:latin typeface="Cambria"/>
                <a:cs typeface="Cambria"/>
              </a:rPr>
              <a:t>…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323044" y="1682749"/>
            <a:ext cx="139065" cy="1353820"/>
          </a:xfrm>
          <a:custGeom>
            <a:avLst/>
            <a:gdLst/>
            <a:ahLst/>
            <a:cxnLst/>
            <a:rect l="l" t="t" r="r" b="b"/>
            <a:pathLst>
              <a:path w="139065" h="1353820">
                <a:moveTo>
                  <a:pt x="139014" y="0"/>
                </a:moveTo>
                <a:lnTo>
                  <a:pt x="0" y="0"/>
                </a:lnTo>
                <a:lnTo>
                  <a:pt x="0" y="19050"/>
                </a:lnTo>
                <a:lnTo>
                  <a:pt x="100926" y="19050"/>
                </a:lnTo>
                <a:lnTo>
                  <a:pt x="100926" y="1353820"/>
                </a:lnTo>
                <a:lnTo>
                  <a:pt x="139014" y="1353820"/>
                </a:lnTo>
                <a:lnTo>
                  <a:pt x="139014" y="19050"/>
                </a:lnTo>
                <a:lnTo>
                  <a:pt x="139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50387" y="1684019"/>
            <a:ext cx="139065" cy="1370330"/>
          </a:xfrm>
          <a:custGeom>
            <a:avLst/>
            <a:gdLst/>
            <a:ahLst/>
            <a:cxnLst/>
            <a:rect l="l" t="t" r="r" b="b"/>
            <a:pathLst>
              <a:path w="139065" h="1370330">
                <a:moveTo>
                  <a:pt x="139014" y="0"/>
                </a:moveTo>
                <a:lnTo>
                  <a:pt x="0" y="0"/>
                </a:lnTo>
                <a:lnTo>
                  <a:pt x="0" y="19050"/>
                </a:lnTo>
                <a:lnTo>
                  <a:pt x="0" y="1351280"/>
                </a:lnTo>
                <a:lnTo>
                  <a:pt x="0" y="1370330"/>
                </a:lnTo>
                <a:lnTo>
                  <a:pt x="139014" y="1370330"/>
                </a:lnTo>
                <a:lnTo>
                  <a:pt x="139014" y="1351280"/>
                </a:lnTo>
                <a:lnTo>
                  <a:pt x="38087" y="1351280"/>
                </a:lnTo>
                <a:lnTo>
                  <a:pt x="38087" y="19050"/>
                </a:lnTo>
                <a:lnTo>
                  <a:pt x="139014" y="19050"/>
                </a:lnTo>
                <a:lnTo>
                  <a:pt x="139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754081" y="2564068"/>
            <a:ext cx="1751964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202690" algn="l"/>
              </a:tabLst>
            </a:pPr>
            <a:r>
              <a:rPr sz="4500" i="1" baseline="13888" dirty="0">
                <a:latin typeface="Times New Roman"/>
                <a:cs typeface="Times New Roman"/>
              </a:rPr>
              <a:t>a</a:t>
            </a:r>
            <a:r>
              <a:rPr sz="2100" i="1" dirty="0">
                <a:latin typeface="Times New Roman"/>
                <a:cs typeface="Times New Roman"/>
              </a:rPr>
              <a:t>mn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4500" i="1" baseline="13888" dirty="0">
                <a:latin typeface="Times New Roman"/>
                <a:cs typeface="Times New Roman"/>
              </a:rPr>
              <a:t>x</a:t>
            </a:r>
            <a:r>
              <a:rPr sz="2100" i="1" dirty="0">
                <a:latin typeface="Times New Roman"/>
                <a:cs typeface="Times New Roman"/>
              </a:rPr>
              <a:t>n 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19233" y="1553160"/>
            <a:ext cx="36766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1</a:t>
            </a:r>
            <a:endParaRPr sz="3150" baseline="-19841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92786" y="2069623"/>
            <a:ext cx="22034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316185" y="1684019"/>
            <a:ext cx="139065" cy="1351280"/>
          </a:xfrm>
          <a:custGeom>
            <a:avLst/>
            <a:gdLst/>
            <a:ahLst/>
            <a:cxnLst/>
            <a:rect l="l" t="t" r="r" b="b"/>
            <a:pathLst>
              <a:path w="139065" h="1351280">
                <a:moveTo>
                  <a:pt x="139026" y="0"/>
                </a:moveTo>
                <a:lnTo>
                  <a:pt x="0" y="0"/>
                </a:lnTo>
                <a:lnTo>
                  <a:pt x="0" y="19050"/>
                </a:lnTo>
                <a:lnTo>
                  <a:pt x="100939" y="19050"/>
                </a:lnTo>
                <a:lnTo>
                  <a:pt x="100939" y="1351280"/>
                </a:lnTo>
                <a:lnTo>
                  <a:pt x="139026" y="1351280"/>
                </a:lnTo>
                <a:lnTo>
                  <a:pt x="139026" y="19050"/>
                </a:lnTo>
                <a:lnTo>
                  <a:pt x="1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001" y="3572988"/>
            <a:ext cx="5124898" cy="5711483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26473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5" dirty="0">
                <a:latin typeface="Trebuchet MS"/>
                <a:cs typeface="Trebuchet MS"/>
              </a:rPr>
              <a:t>Another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formula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Matrix</a:t>
            </a:r>
            <a:r>
              <a:rPr spc="-235" dirty="0"/>
              <a:t> </a:t>
            </a:r>
            <a:r>
              <a:rPr spc="-185" dirty="0"/>
              <a:t>multiplication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80" y="3220931"/>
            <a:ext cx="4964435" cy="614773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581692" y="1729739"/>
            <a:ext cx="139065" cy="1372870"/>
          </a:xfrm>
          <a:custGeom>
            <a:avLst/>
            <a:gdLst/>
            <a:ahLst/>
            <a:cxnLst/>
            <a:rect l="l" t="t" r="r" b="b"/>
            <a:pathLst>
              <a:path w="139064" h="1372870">
                <a:moveTo>
                  <a:pt x="139014" y="0"/>
                </a:moveTo>
                <a:lnTo>
                  <a:pt x="0" y="0"/>
                </a:lnTo>
                <a:lnTo>
                  <a:pt x="0" y="19050"/>
                </a:lnTo>
                <a:lnTo>
                  <a:pt x="0" y="1353820"/>
                </a:lnTo>
                <a:lnTo>
                  <a:pt x="0" y="1372870"/>
                </a:lnTo>
                <a:lnTo>
                  <a:pt x="139014" y="1372870"/>
                </a:lnTo>
                <a:lnTo>
                  <a:pt x="139014" y="1353820"/>
                </a:lnTo>
                <a:lnTo>
                  <a:pt x="38087" y="1353820"/>
                </a:lnTo>
                <a:lnTo>
                  <a:pt x="38087" y="19050"/>
                </a:lnTo>
                <a:lnTo>
                  <a:pt x="139014" y="19050"/>
                </a:lnTo>
                <a:lnTo>
                  <a:pt x="139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25765" y="1804593"/>
            <a:ext cx="29591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80" dirty="0">
                <a:latin typeface="Cambria"/>
                <a:cs typeface="Cambria"/>
              </a:rPr>
              <a:t>11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8320" y="1598910"/>
            <a:ext cx="11893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5020" algn="l"/>
              </a:tabLst>
            </a:pPr>
            <a:r>
              <a:rPr sz="3000" i="1" spc="-50" dirty="0">
                <a:latin typeface="Times New Roman"/>
                <a:cs typeface="Times New Roman"/>
              </a:rPr>
              <a:t>a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spc="690" dirty="0">
                <a:latin typeface="Cambria"/>
                <a:cs typeface="Cambria"/>
              </a:rPr>
              <a:t>…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1158" y="1694134"/>
            <a:ext cx="5245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Cambria"/>
                <a:cs typeface="Cambria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92902" y="2081653"/>
            <a:ext cx="584200" cy="101219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4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i="1" spc="-25" dirty="0">
                <a:latin typeface="Times New Roman"/>
                <a:cs typeface="Times New Roman"/>
              </a:rPr>
              <a:t>m</a:t>
            </a:r>
            <a:r>
              <a:rPr sz="2100" spc="-25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73180" y="2117837"/>
            <a:ext cx="220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30933" y="2515870"/>
            <a:ext cx="406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690" dirty="0">
                <a:latin typeface="Cambria"/>
                <a:cs typeface="Cambria"/>
              </a:rPr>
              <a:t>…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47436" y="1729739"/>
            <a:ext cx="139065" cy="1353820"/>
          </a:xfrm>
          <a:custGeom>
            <a:avLst/>
            <a:gdLst/>
            <a:ahLst/>
            <a:cxnLst/>
            <a:rect l="l" t="t" r="r" b="b"/>
            <a:pathLst>
              <a:path w="139064" h="1353820">
                <a:moveTo>
                  <a:pt x="139026" y="0"/>
                </a:moveTo>
                <a:lnTo>
                  <a:pt x="0" y="0"/>
                </a:lnTo>
                <a:lnTo>
                  <a:pt x="0" y="19050"/>
                </a:lnTo>
                <a:lnTo>
                  <a:pt x="100939" y="19050"/>
                </a:lnTo>
                <a:lnTo>
                  <a:pt x="100939" y="1353820"/>
                </a:lnTo>
                <a:lnTo>
                  <a:pt x="139026" y="1353820"/>
                </a:lnTo>
                <a:lnTo>
                  <a:pt x="139026" y="19050"/>
                </a:lnTo>
                <a:lnTo>
                  <a:pt x="1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74790" y="1731009"/>
            <a:ext cx="139065" cy="1370330"/>
          </a:xfrm>
          <a:custGeom>
            <a:avLst/>
            <a:gdLst/>
            <a:ahLst/>
            <a:cxnLst/>
            <a:rect l="l" t="t" r="r" b="b"/>
            <a:pathLst>
              <a:path w="139064" h="1370330">
                <a:moveTo>
                  <a:pt x="139026" y="0"/>
                </a:moveTo>
                <a:lnTo>
                  <a:pt x="0" y="0"/>
                </a:lnTo>
                <a:lnTo>
                  <a:pt x="0" y="19050"/>
                </a:lnTo>
                <a:lnTo>
                  <a:pt x="0" y="1351280"/>
                </a:lnTo>
                <a:lnTo>
                  <a:pt x="0" y="1370330"/>
                </a:lnTo>
                <a:lnTo>
                  <a:pt x="139026" y="1370330"/>
                </a:lnTo>
                <a:lnTo>
                  <a:pt x="139026" y="1351280"/>
                </a:lnTo>
                <a:lnTo>
                  <a:pt x="38100" y="1351280"/>
                </a:lnTo>
                <a:lnTo>
                  <a:pt x="38100" y="19050"/>
                </a:lnTo>
                <a:lnTo>
                  <a:pt x="139026" y="19050"/>
                </a:lnTo>
                <a:lnTo>
                  <a:pt x="1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78440" y="2611092"/>
            <a:ext cx="1752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02690" algn="l"/>
              </a:tabLst>
            </a:pPr>
            <a:r>
              <a:rPr sz="4500" i="1" baseline="13888" dirty="0">
                <a:latin typeface="Times New Roman"/>
                <a:cs typeface="Times New Roman"/>
              </a:rPr>
              <a:t>a</a:t>
            </a:r>
            <a:r>
              <a:rPr sz="2100" i="1" dirty="0">
                <a:latin typeface="Times New Roman"/>
                <a:cs typeface="Times New Roman"/>
              </a:rPr>
              <a:t>mn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4500" i="1" baseline="13888" dirty="0">
                <a:latin typeface="Times New Roman"/>
                <a:cs typeface="Times New Roman"/>
              </a:rPr>
              <a:t>x</a:t>
            </a:r>
            <a:r>
              <a:rPr sz="2100" i="1" dirty="0">
                <a:latin typeface="Times New Roman"/>
                <a:cs typeface="Times New Roman"/>
              </a:rPr>
              <a:t>n 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3659" y="1600128"/>
            <a:ext cx="3676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150" spc="-37" baseline="-19841" dirty="0">
                <a:latin typeface="Cambria"/>
                <a:cs typeface="Cambria"/>
              </a:rPr>
              <a:t>1</a:t>
            </a:r>
            <a:endParaRPr sz="3150" baseline="-19841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40639" y="1731009"/>
            <a:ext cx="139065" cy="1351280"/>
          </a:xfrm>
          <a:custGeom>
            <a:avLst/>
            <a:gdLst/>
            <a:ahLst/>
            <a:cxnLst/>
            <a:rect l="l" t="t" r="r" b="b"/>
            <a:pathLst>
              <a:path w="139065" h="1351280">
                <a:moveTo>
                  <a:pt x="139026" y="0"/>
                </a:moveTo>
                <a:lnTo>
                  <a:pt x="0" y="0"/>
                </a:lnTo>
                <a:lnTo>
                  <a:pt x="0" y="19050"/>
                </a:lnTo>
                <a:lnTo>
                  <a:pt x="100926" y="19050"/>
                </a:lnTo>
                <a:lnTo>
                  <a:pt x="100926" y="1351280"/>
                </a:lnTo>
                <a:lnTo>
                  <a:pt x="139026" y="1351280"/>
                </a:lnTo>
                <a:lnTo>
                  <a:pt x="139026" y="19050"/>
                </a:lnTo>
                <a:lnTo>
                  <a:pt x="1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17217" y="2118598"/>
            <a:ext cx="9544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0085" algn="l"/>
              </a:tabLst>
            </a:pPr>
            <a:r>
              <a:rPr sz="3000" spc="540" dirty="0">
                <a:latin typeface="Cambria"/>
                <a:cs typeface="Cambria"/>
              </a:rPr>
              <a:t>⋮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76909" y="1517649"/>
            <a:ext cx="139065" cy="1797050"/>
          </a:xfrm>
          <a:custGeom>
            <a:avLst/>
            <a:gdLst/>
            <a:ahLst/>
            <a:cxnLst/>
            <a:rect l="l" t="t" r="r" b="b"/>
            <a:pathLst>
              <a:path w="139065" h="1797050">
                <a:moveTo>
                  <a:pt x="139026" y="0"/>
                </a:moveTo>
                <a:lnTo>
                  <a:pt x="0" y="0"/>
                </a:lnTo>
                <a:lnTo>
                  <a:pt x="0" y="19050"/>
                </a:lnTo>
                <a:lnTo>
                  <a:pt x="0" y="1778000"/>
                </a:lnTo>
                <a:lnTo>
                  <a:pt x="0" y="1797050"/>
                </a:lnTo>
                <a:lnTo>
                  <a:pt x="139026" y="1797050"/>
                </a:lnTo>
                <a:lnTo>
                  <a:pt x="139026" y="1778000"/>
                </a:lnTo>
                <a:lnTo>
                  <a:pt x="38087" y="1778000"/>
                </a:lnTo>
                <a:lnTo>
                  <a:pt x="38087" y="19050"/>
                </a:lnTo>
                <a:lnTo>
                  <a:pt x="139026" y="19050"/>
                </a:lnTo>
                <a:lnTo>
                  <a:pt x="1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60465" y="1338124"/>
            <a:ext cx="560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spc="427" baseline="-28703" dirty="0">
                <a:latin typeface="Cambria"/>
                <a:cs typeface="Cambria"/>
              </a:rPr>
              <a:t>∑</a:t>
            </a:r>
            <a:r>
              <a:rPr sz="2100" i="1" spc="28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34001" y="1804053"/>
            <a:ext cx="42164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93128" y="1534475"/>
            <a:ext cx="6019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9100" algn="l"/>
              </a:tabLst>
            </a:pPr>
            <a:r>
              <a:rPr sz="3000" i="1" spc="-50" dirty="0">
                <a:latin typeface="Times New Roman"/>
                <a:cs typeface="Times New Roman"/>
              </a:rPr>
              <a:t>a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i="1" spc="-50" dirty="0">
                <a:latin typeface="Times New Roman"/>
                <a:cs typeface="Times New Roman"/>
              </a:rPr>
              <a:t>x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70573" y="1740158"/>
            <a:ext cx="486409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97510" algn="l"/>
              </a:tabLst>
            </a:pPr>
            <a:r>
              <a:rPr sz="2100" spc="-25" dirty="0">
                <a:latin typeface="Cambria"/>
                <a:cs typeface="Cambria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i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i="1" spc="-50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89993" y="2117837"/>
            <a:ext cx="220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30446" y="2467158"/>
            <a:ext cx="560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spc="427" baseline="-28703" dirty="0">
                <a:latin typeface="Cambria"/>
                <a:cs typeface="Cambria"/>
              </a:rPr>
              <a:t>∑</a:t>
            </a:r>
            <a:r>
              <a:rPr sz="2100" i="1" spc="28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03983" y="2933085"/>
            <a:ext cx="42164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35" dirty="0">
                <a:latin typeface="Times New Roman"/>
                <a:cs typeface="Times New Roman"/>
              </a:rPr>
              <a:t>i</a:t>
            </a:r>
            <a:r>
              <a:rPr sz="2100" spc="35" dirty="0">
                <a:latin typeface="Cambria"/>
                <a:cs typeface="Cambria"/>
              </a:rPr>
              <a:t>=1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37710" y="2758731"/>
            <a:ext cx="7747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i="1" spc="-15" baseline="13888" dirty="0">
                <a:latin typeface="Times New Roman"/>
                <a:cs typeface="Times New Roman"/>
              </a:rPr>
              <a:t>a</a:t>
            </a:r>
            <a:r>
              <a:rPr sz="2100" i="1" spc="-10" dirty="0">
                <a:latin typeface="Times New Roman"/>
                <a:cs typeface="Times New Roman"/>
              </a:rPr>
              <a:t>mi</a:t>
            </a:r>
            <a:r>
              <a:rPr sz="4500" i="1" spc="-15" baseline="13888" dirty="0">
                <a:latin typeface="Times New Roman"/>
                <a:cs typeface="Times New Roman"/>
              </a:rPr>
              <a:t>x</a:t>
            </a:r>
            <a:r>
              <a:rPr sz="2100" i="1" spc="-10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284081" y="1517649"/>
            <a:ext cx="139065" cy="1797050"/>
          </a:xfrm>
          <a:custGeom>
            <a:avLst/>
            <a:gdLst/>
            <a:ahLst/>
            <a:cxnLst/>
            <a:rect l="l" t="t" r="r" b="b"/>
            <a:pathLst>
              <a:path w="139065" h="1797050">
                <a:moveTo>
                  <a:pt x="139026" y="0"/>
                </a:moveTo>
                <a:lnTo>
                  <a:pt x="0" y="0"/>
                </a:lnTo>
                <a:lnTo>
                  <a:pt x="0" y="19050"/>
                </a:lnTo>
                <a:lnTo>
                  <a:pt x="100926" y="19050"/>
                </a:lnTo>
                <a:lnTo>
                  <a:pt x="100926" y="1778000"/>
                </a:lnTo>
                <a:lnTo>
                  <a:pt x="0" y="1778000"/>
                </a:lnTo>
                <a:lnTo>
                  <a:pt x="0" y="1797050"/>
                </a:lnTo>
                <a:lnTo>
                  <a:pt x="139026" y="1797050"/>
                </a:lnTo>
                <a:lnTo>
                  <a:pt x="139026" y="1778000"/>
                </a:lnTo>
                <a:lnTo>
                  <a:pt x="139026" y="19050"/>
                </a:lnTo>
                <a:lnTo>
                  <a:pt x="1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47231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NumPy</a:t>
            </a:r>
            <a:r>
              <a:rPr spc="-240" dirty="0"/>
              <a:t> </a:t>
            </a:r>
            <a:r>
              <a:rPr spc="-195" dirty="0"/>
              <a:t>documentation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352" y="2103508"/>
            <a:ext cx="12096362" cy="31783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Matrix</a:t>
            </a:r>
            <a:r>
              <a:rPr spc="-235" dirty="0"/>
              <a:t> </a:t>
            </a:r>
            <a:r>
              <a:rPr spc="-185" dirty="0"/>
              <a:t>multiplication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654" y="3023662"/>
            <a:ext cx="8590556" cy="38243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61374" y="2271929"/>
            <a:ext cx="4210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1755" dirty="0">
                <a:latin typeface="Cambria"/>
                <a:cs typeface="Cambria"/>
              </a:rPr>
              <a:t>⏟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6261832" y="2289010"/>
            <a:ext cx="29654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765" dirty="0">
                <a:latin typeface="Cambria"/>
                <a:cs typeface="Cambria"/>
              </a:rPr>
              <a:t>⏟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4599" y="2557737"/>
            <a:ext cx="112395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19125" algn="l"/>
              </a:tabLst>
            </a:pPr>
            <a:r>
              <a:rPr sz="2100" i="1" spc="40" dirty="0">
                <a:latin typeface="Times New Roman"/>
                <a:cs typeface="Times New Roman"/>
              </a:rPr>
              <a:t>n</a:t>
            </a:r>
            <a:r>
              <a:rPr sz="2100" spc="40" dirty="0">
                <a:latin typeface="Cambria"/>
                <a:cs typeface="Cambria"/>
              </a:rPr>
              <a:t>×</a:t>
            </a:r>
            <a:r>
              <a:rPr sz="2100" i="1" spc="40" dirty="0">
                <a:latin typeface="Times New Roman"/>
                <a:cs typeface="Times New Roman"/>
              </a:rPr>
              <a:t>k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3150" i="1" spc="75" baseline="-3968" dirty="0">
                <a:latin typeface="Times New Roman"/>
                <a:cs typeface="Times New Roman"/>
              </a:rPr>
              <a:t>k</a:t>
            </a:r>
            <a:r>
              <a:rPr sz="3150" spc="75" baseline="-3968" dirty="0">
                <a:latin typeface="Cambria"/>
                <a:cs typeface="Cambria"/>
              </a:rPr>
              <a:t>×</a:t>
            </a:r>
            <a:r>
              <a:rPr sz="3150" i="1" spc="75" baseline="-3968" dirty="0">
                <a:latin typeface="Times New Roman"/>
                <a:cs typeface="Times New Roman"/>
              </a:rPr>
              <a:t>m</a:t>
            </a:r>
            <a:endParaRPr sz="3150" baseline="-396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600" y="1197313"/>
            <a:ext cx="9329420" cy="1161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5" dirty="0">
                <a:latin typeface="Trebuchet MS"/>
                <a:cs typeface="Trebuchet MS"/>
              </a:rPr>
              <a:t>Matrices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1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multiplied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if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their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neighboring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dimensions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match</a:t>
            </a:r>
            <a:endParaRPr sz="2500">
              <a:latin typeface="Trebuchet MS"/>
              <a:cs typeface="Trebuchet MS"/>
            </a:endParaRPr>
          </a:p>
          <a:p>
            <a:pPr marL="4897120">
              <a:lnSpc>
                <a:spcPct val="100000"/>
              </a:lnSpc>
              <a:spcBef>
                <a:spcPts val="2340"/>
              </a:spcBef>
              <a:tabLst>
                <a:tab pos="5545455" algn="l"/>
                <a:tab pos="6082030" algn="l"/>
              </a:tabLst>
            </a:pPr>
            <a:r>
              <a:rPr sz="3000" b="1" spc="-50" dirty="0">
                <a:latin typeface="Times New Roman"/>
                <a:cs typeface="Times New Roman"/>
              </a:rPr>
              <a:t>A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50" dirty="0">
                <a:latin typeface="Times New Roman"/>
                <a:cs typeface="Times New Roman"/>
              </a:rPr>
              <a:t>B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380" dirty="0">
                <a:latin typeface="Cambria"/>
                <a:cs typeface="Cambria"/>
              </a:rPr>
              <a:t>=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b="1" spc="-50" dirty="0">
                <a:latin typeface="Times New Roman"/>
                <a:cs typeface="Times New Roman"/>
              </a:rPr>
              <a:t>C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Matrix</a:t>
            </a:r>
            <a:r>
              <a:rPr spc="-235" dirty="0"/>
              <a:t> </a:t>
            </a:r>
            <a:r>
              <a:rPr spc="-185" dirty="0"/>
              <a:t>multiplication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960" y="1253577"/>
            <a:ext cx="5308379" cy="77989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26612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Matrix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transpose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4243407"/>
            <a:ext cx="23393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Matrix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inverse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4861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Other</a:t>
            </a:r>
            <a:r>
              <a:rPr spc="-200" dirty="0"/>
              <a:t> operations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9829" y="1301338"/>
            <a:ext cx="3490340" cy="29341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536" y="4726367"/>
            <a:ext cx="4507579" cy="473371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017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Identity</a:t>
            </a:r>
            <a:r>
              <a:rPr spc="-245" dirty="0"/>
              <a:t> </a:t>
            </a:r>
            <a:r>
              <a:rPr spc="-200" dirty="0"/>
              <a:t>matrix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183" y="1359755"/>
            <a:ext cx="3570375" cy="41059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600" y="4043045"/>
            <a:ext cx="18446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0" spc="-625" dirty="0">
                <a:latin typeface="Trebuchet MS"/>
                <a:cs typeface="Trebuchet MS"/>
              </a:rPr>
              <a:t>P</a:t>
            </a:r>
            <a:r>
              <a:rPr sz="5000" b="0" spc="-150" dirty="0">
                <a:latin typeface="Trebuchet MS"/>
                <a:cs typeface="Trebuchet MS"/>
              </a:rPr>
              <a:t>a</a:t>
            </a:r>
            <a:r>
              <a:rPr sz="5000" b="0" spc="-145" dirty="0">
                <a:latin typeface="Trebuchet MS"/>
                <a:cs typeface="Trebuchet MS"/>
              </a:rPr>
              <a:t>n</a:t>
            </a:r>
            <a:r>
              <a:rPr sz="5000" b="0" spc="-150" dirty="0">
                <a:latin typeface="Trebuchet MS"/>
                <a:cs typeface="Trebuchet MS"/>
              </a:rPr>
              <a:t>d</a:t>
            </a:r>
            <a:r>
              <a:rPr sz="5000" b="0" spc="-155" dirty="0">
                <a:latin typeface="Trebuchet MS"/>
                <a:cs typeface="Trebuchet MS"/>
              </a:rPr>
              <a:t>a</a:t>
            </a:r>
            <a:r>
              <a:rPr sz="5000" b="0" spc="-45" dirty="0">
                <a:latin typeface="Trebuchet MS"/>
                <a:cs typeface="Trebuchet MS"/>
              </a:rPr>
              <a:t>s</a:t>
            </a:r>
            <a:endParaRPr sz="5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11037570" cy="270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82550" indent="-381000" algn="r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81000" algn="l"/>
              </a:tabLst>
            </a:pPr>
            <a:r>
              <a:rPr sz="2500" spc="-85" dirty="0">
                <a:latin typeface="Trebuchet MS"/>
                <a:cs typeface="Trebuchet MS"/>
              </a:rPr>
              <a:t>The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Pandas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library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provides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high-performance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easy-</a:t>
            </a:r>
            <a:r>
              <a:rPr sz="2500" spc="-70" dirty="0">
                <a:latin typeface="Trebuchet MS"/>
                <a:cs typeface="Trebuchet MS"/>
              </a:rPr>
              <a:t>to-</a:t>
            </a:r>
            <a:r>
              <a:rPr sz="2500" spc="-50" dirty="0">
                <a:latin typeface="Trebuchet MS"/>
                <a:cs typeface="Trebuchet MS"/>
              </a:rPr>
              <a:t>use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structures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81000" marR="5080" lvl="1" indent="-381000" algn="r">
              <a:lnSpc>
                <a:spcPct val="100000"/>
              </a:lnSpc>
              <a:buSzPct val="122000"/>
              <a:buChar char="•"/>
              <a:tabLst>
                <a:tab pos="381000" algn="l"/>
              </a:tabLst>
            </a:pPr>
            <a:r>
              <a:rPr sz="2500" spc="-75" dirty="0">
                <a:latin typeface="Trebuchet MS"/>
                <a:cs typeface="Trebuchet MS"/>
              </a:rPr>
              <a:t>DataFrame: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240" dirty="0">
                <a:latin typeface="Trebuchet MS"/>
                <a:cs typeface="Trebuchet MS"/>
              </a:rPr>
              <a:t>2D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table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like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90" dirty="0">
                <a:latin typeface="Trebuchet MS"/>
                <a:cs typeface="Trebuchet MS"/>
              </a:rPr>
              <a:t> spreadsheet </a:t>
            </a:r>
            <a:r>
              <a:rPr sz="2500" spc="-45" dirty="0">
                <a:latin typeface="Trebuchet MS"/>
                <a:cs typeface="Trebuchet MS"/>
              </a:rPr>
              <a:t>with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column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names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row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labels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https://github.com/ageron/handson-</a:t>
            </a:r>
            <a:r>
              <a:rPr sz="25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ml2/blob/master/tools_pandas.ipynb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85" dirty="0">
                <a:latin typeface="Trebuchet MS"/>
                <a:cs typeface="Trebuchet MS"/>
              </a:rPr>
              <a:t>Series: </a:t>
            </a:r>
            <a:r>
              <a:rPr sz="2500" spc="240" dirty="0">
                <a:latin typeface="Trebuchet MS"/>
                <a:cs typeface="Trebuchet MS"/>
              </a:rPr>
              <a:t>1D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array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column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spreadsheet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6527978"/>
            <a:ext cx="19240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Index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label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Pandas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181" y="4053763"/>
            <a:ext cx="4133518" cy="20971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704" y="6908827"/>
            <a:ext cx="10855391" cy="24069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27298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Finding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elements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6527978"/>
            <a:ext cx="46056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00" dirty="0">
                <a:latin typeface="Trebuchet MS"/>
                <a:cs typeface="Trebuchet MS"/>
              </a:rPr>
              <a:t>Create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Series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from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dictionary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Series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821" y="1714500"/>
            <a:ext cx="5455420" cy="45032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570" y="7050488"/>
            <a:ext cx="7789529" cy="217671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22574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Time</a:t>
            </a:r>
            <a:r>
              <a:rPr spc="-245" dirty="0"/>
              <a:t> </a:t>
            </a:r>
            <a:r>
              <a:rPr spc="-195" dirty="0"/>
              <a:t>range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2000" y="1361888"/>
            <a:ext cx="11452860" cy="8240395"/>
            <a:chOff x="762000" y="1361888"/>
            <a:chExt cx="11452860" cy="8240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1361888"/>
              <a:ext cx="7688846" cy="41412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8417" y="4521645"/>
              <a:ext cx="5346151" cy="5080321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900" y="5802552"/>
            <a:ext cx="5482142" cy="6998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9300" y="6801829"/>
            <a:ext cx="4985518" cy="144927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DataFrame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1683835"/>
            <a:ext cx="10763756" cy="181944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783995" y="3796956"/>
            <a:ext cx="7122795" cy="2143125"/>
            <a:chOff x="2783995" y="3796956"/>
            <a:chExt cx="7122795" cy="2143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3995" y="3796956"/>
              <a:ext cx="6526694" cy="20451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319922" y="5670648"/>
              <a:ext cx="574675" cy="256540"/>
            </a:xfrm>
            <a:custGeom>
              <a:avLst/>
              <a:gdLst/>
              <a:ahLst/>
              <a:cxnLst/>
              <a:rect l="l" t="t" r="r" b="b"/>
              <a:pathLst>
                <a:path w="574675" h="256539">
                  <a:moveTo>
                    <a:pt x="574170" y="256494"/>
                  </a:moveTo>
                  <a:lnTo>
                    <a:pt x="11595" y="5179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20200" y="5620169"/>
              <a:ext cx="136525" cy="111760"/>
            </a:xfrm>
            <a:custGeom>
              <a:avLst/>
              <a:gdLst/>
              <a:ahLst/>
              <a:cxnLst/>
              <a:rect l="l" t="t" r="r" b="b"/>
              <a:pathLst>
                <a:path w="136525" h="111760">
                  <a:moveTo>
                    <a:pt x="136182" y="0"/>
                  </a:moveTo>
                  <a:lnTo>
                    <a:pt x="0" y="5930"/>
                  </a:lnTo>
                  <a:lnTo>
                    <a:pt x="86453" y="111318"/>
                  </a:lnTo>
                  <a:lnTo>
                    <a:pt x="136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42830" y="5815782"/>
            <a:ext cx="16789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Trebuchet MS"/>
                <a:cs typeface="Trebuchet MS"/>
              </a:rPr>
              <a:t>missing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values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273" y="6406989"/>
            <a:ext cx="33921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30" dirty="0">
                <a:latin typeface="Trebuchet MS"/>
                <a:cs typeface="Trebuchet MS"/>
              </a:rPr>
              <a:t>How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access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columns?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84467" y="6437302"/>
            <a:ext cx="4635865" cy="277179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Another</a:t>
            </a:r>
            <a:r>
              <a:rPr spc="-229" dirty="0"/>
              <a:t> </a:t>
            </a:r>
            <a:r>
              <a:rPr spc="-225" dirty="0"/>
              <a:t>way </a:t>
            </a:r>
            <a:r>
              <a:rPr spc="-195" dirty="0"/>
              <a:t>to</a:t>
            </a:r>
            <a:r>
              <a:rPr spc="-225" dirty="0"/>
              <a:t> </a:t>
            </a:r>
            <a:r>
              <a:rPr spc="-260" dirty="0"/>
              <a:t>create</a:t>
            </a:r>
            <a:r>
              <a:rPr spc="-225" dirty="0"/>
              <a:t> </a:t>
            </a:r>
            <a:r>
              <a:rPr spc="-190" dirty="0"/>
              <a:t>DataFrame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8768" y="1610597"/>
            <a:ext cx="8227263" cy="48404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Another</a:t>
            </a:r>
            <a:r>
              <a:rPr spc="-229" dirty="0"/>
              <a:t> </a:t>
            </a:r>
            <a:r>
              <a:rPr spc="-225" dirty="0"/>
              <a:t>way </a:t>
            </a:r>
            <a:r>
              <a:rPr spc="-195" dirty="0"/>
              <a:t>to</a:t>
            </a:r>
            <a:r>
              <a:rPr spc="-225" dirty="0"/>
              <a:t> </a:t>
            </a:r>
            <a:r>
              <a:rPr spc="-260" dirty="0"/>
              <a:t>create</a:t>
            </a:r>
            <a:r>
              <a:rPr spc="-225" dirty="0"/>
              <a:t> </a:t>
            </a:r>
            <a:r>
              <a:rPr spc="-190" dirty="0"/>
              <a:t>DataFrame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264" y="1760861"/>
            <a:ext cx="9488271" cy="465337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10324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Accessing</a:t>
            </a:r>
            <a:r>
              <a:rPr spc="-210" dirty="0"/>
              <a:t> </a:t>
            </a:r>
            <a:r>
              <a:rPr spc="-150" dirty="0"/>
              <a:t>rows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6361" y="1612900"/>
            <a:ext cx="6752076" cy="51422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25241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Adding</a:t>
            </a:r>
            <a:r>
              <a:rPr sz="2500" spc="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column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5766455"/>
            <a:ext cx="29083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Removing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column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Adding/removing</a:t>
            </a:r>
            <a:r>
              <a:rPr spc="-140" dirty="0"/>
              <a:t> </a:t>
            </a:r>
            <a:r>
              <a:rPr spc="-150" dirty="0"/>
              <a:t>columns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578" y="2044597"/>
            <a:ext cx="8305642" cy="351020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4490" y="6117942"/>
            <a:ext cx="4975820" cy="30565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46043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5" dirty="0">
                <a:latin typeface="Trebuchet MS"/>
                <a:cs typeface="Trebuchet MS"/>
              </a:rPr>
              <a:t>Replace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all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135" dirty="0">
                <a:latin typeface="Trebuchet MS"/>
                <a:cs typeface="Trebuchet MS"/>
              </a:rPr>
              <a:t>NaNs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any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value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44894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Handling</a:t>
            </a:r>
            <a:r>
              <a:rPr spc="-240" dirty="0"/>
              <a:t> </a:t>
            </a:r>
            <a:r>
              <a:rPr spc="-180" dirty="0"/>
              <a:t>missing</a:t>
            </a:r>
            <a:r>
              <a:rPr spc="-240" dirty="0"/>
              <a:t> </a:t>
            </a:r>
            <a:r>
              <a:rPr spc="-180" dirty="0"/>
              <a:t>data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5306" y="1784804"/>
            <a:ext cx="9534187" cy="715832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67995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65" dirty="0">
                <a:latin typeface="Trebuchet MS"/>
                <a:cs typeface="Trebuchet MS"/>
              </a:rPr>
              <a:t>Interpolation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technique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fill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missing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values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44894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Handling</a:t>
            </a:r>
            <a:r>
              <a:rPr spc="-240" dirty="0"/>
              <a:t> </a:t>
            </a:r>
            <a:r>
              <a:rPr spc="-180" dirty="0"/>
              <a:t>missing</a:t>
            </a:r>
            <a:r>
              <a:rPr spc="-240" dirty="0"/>
              <a:t> </a:t>
            </a:r>
            <a:r>
              <a:rPr spc="-180" dirty="0"/>
              <a:t>data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9023" y="2218317"/>
            <a:ext cx="3286753" cy="26723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5961" y="5527823"/>
            <a:ext cx="4447205" cy="27686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4161" y="5540537"/>
            <a:ext cx="4447205" cy="288911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84613"/>
            <a:ext cx="52000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70" dirty="0">
                <a:latin typeface="Trebuchet MS"/>
                <a:cs typeface="Trebuchet MS"/>
              </a:rPr>
              <a:t>We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usually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save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DataFrame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110" dirty="0">
                <a:latin typeface="Trebuchet MS"/>
                <a:cs typeface="Trebuchet MS"/>
              </a:rPr>
              <a:t>CSV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Saving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296" y="1765614"/>
            <a:ext cx="7974765" cy="31711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704" y="5381233"/>
            <a:ext cx="4416972" cy="16730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3704" y="7474391"/>
            <a:ext cx="4530665" cy="126009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31337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50" dirty="0">
                <a:latin typeface="Trebuchet MS"/>
                <a:cs typeface="Trebuchet MS"/>
              </a:rPr>
              <a:t>From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saved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135" dirty="0">
                <a:latin typeface="Trebuchet MS"/>
                <a:cs typeface="Trebuchet MS"/>
              </a:rPr>
              <a:t>CSV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file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1947761"/>
            <a:ext cx="1047750" cy="4635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4575" spc="382" baseline="-2732" dirty="0">
                <a:latin typeface="Trebuchet MS"/>
                <a:cs typeface="Trebuchet MS"/>
              </a:rPr>
              <a:t>•</a:t>
            </a:r>
            <a:r>
              <a:rPr sz="4575" spc="322" baseline="-2732" dirty="0">
                <a:latin typeface="Trebuchet MS"/>
                <a:cs typeface="Trebuchet MS"/>
              </a:rPr>
              <a:t> </a:t>
            </a:r>
            <a:r>
              <a:rPr sz="2500" spc="85" dirty="0">
                <a:latin typeface="Trebuchet MS"/>
                <a:cs typeface="Trebuchet MS"/>
              </a:rPr>
              <a:t>How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0" y="4243407"/>
            <a:ext cx="52971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130" dirty="0">
                <a:latin typeface="Trebuchet MS"/>
                <a:cs typeface="Trebuchet MS"/>
              </a:rPr>
              <a:t>How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you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upload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your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135" dirty="0">
                <a:latin typeface="Trebuchet MS"/>
                <a:cs typeface="Trebuchet MS"/>
              </a:rPr>
              <a:t>CSV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file?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162115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Loading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214" y="1812716"/>
            <a:ext cx="7119528" cy="21242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214" y="5180450"/>
            <a:ext cx="5688905" cy="12348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600" y="4195445"/>
            <a:ext cx="27222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0" spc="-160" dirty="0">
                <a:latin typeface="Trebuchet MS"/>
                <a:cs typeface="Trebuchet MS"/>
              </a:rPr>
              <a:t>Matplotlib</a:t>
            </a:r>
            <a:endParaRPr sz="5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1101725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0" dirty="0">
                <a:latin typeface="Trebuchet MS"/>
                <a:cs typeface="Trebuchet MS"/>
              </a:rPr>
              <a:t>Comprehensive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library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for</a:t>
            </a:r>
            <a:r>
              <a:rPr sz="2500" spc="-80" dirty="0">
                <a:latin typeface="Trebuchet MS"/>
                <a:cs typeface="Trebuchet MS"/>
              </a:rPr>
              <a:t> creating </a:t>
            </a:r>
            <a:r>
              <a:rPr sz="2500" spc="-30" dirty="0">
                <a:latin typeface="Trebuchet MS"/>
                <a:cs typeface="Trebuchet MS"/>
              </a:rPr>
              <a:t>visualizations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Python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https://github.com/ageron/handson-</a:t>
            </a:r>
            <a:r>
              <a:rPr sz="25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ml2/blob/master/tools_matplotlib.ipynb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Matplotlib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401" y="2829041"/>
            <a:ext cx="6366715" cy="61940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49828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70" dirty="0">
                <a:latin typeface="Trebuchet MS"/>
                <a:cs typeface="Trebuchet MS"/>
              </a:rPr>
              <a:t>We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add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title,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axes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labels,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etc.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Customization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790" y="1930075"/>
            <a:ext cx="9091217" cy="71342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Customization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3741" y="1126245"/>
            <a:ext cx="8214801" cy="80825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Saving</a:t>
            </a:r>
            <a:r>
              <a:rPr spc="-215" dirty="0"/>
              <a:t> </a:t>
            </a:r>
            <a:r>
              <a:rPr spc="-150" dirty="0"/>
              <a:t>a</a:t>
            </a:r>
            <a:r>
              <a:rPr spc="-215" dirty="0"/>
              <a:t> </a:t>
            </a:r>
            <a:r>
              <a:rPr spc="-204" dirty="0"/>
              <a:t>figure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9860" y="1245058"/>
            <a:ext cx="8467368" cy="76526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Subplots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5802" y="1423175"/>
            <a:ext cx="9513194" cy="74294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Legends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9364" y="1710084"/>
            <a:ext cx="8846070" cy="66579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235013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Scatter</a:t>
            </a:r>
            <a:r>
              <a:rPr spc="-229" dirty="0"/>
              <a:t> </a:t>
            </a:r>
            <a:r>
              <a:rPr spc="-175" dirty="0"/>
              <a:t>plot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2068" y="1691104"/>
            <a:ext cx="8760663" cy="62519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235013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Scatter</a:t>
            </a:r>
            <a:r>
              <a:rPr spc="-229" dirty="0"/>
              <a:t> </a:t>
            </a:r>
            <a:r>
              <a:rPr spc="-175" dirty="0"/>
              <a:t>plot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6928" y="1479295"/>
            <a:ext cx="8750942" cy="72497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2585" y="250500"/>
            <a:ext cx="2533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rgbClr val="5E5E5E"/>
                </a:solidFill>
                <a:latin typeface="Trebuchet MS"/>
                <a:cs typeface="Trebuchet MS"/>
              </a:rPr>
              <a:t>Homework Week 2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68580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60" dirty="0">
                <a:latin typeface="Trebuchet MS"/>
                <a:cs typeface="Trebuchet MS"/>
              </a:rPr>
              <a:t>It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often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convenient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create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utility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function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490664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Utility</a:t>
            </a:r>
            <a:r>
              <a:rPr spc="-204" dirty="0"/>
              <a:t> </a:t>
            </a:r>
            <a:r>
              <a:rPr spc="-210" dirty="0"/>
              <a:t>function</a:t>
            </a:r>
            <a:r>
              <a:rPr spc="-204" dirty="0"/>
              <a:t> </a:t>
            </a:r>
            <a:r>
              <a:rPr spc="-200" dirty="0"/>
              <a:t>for</a:t>
            </a:r>
            <a:r>
              <a:rPr spc="-204" dirty="0"/>
              <a:t> </a:t>
            </a:r>
            <a:r>
              <a:rPr spc="-155" dirty="0"/>
              <a:t>plots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36600" y="1787013"/>
            <a:ext cx="11836400" cy="7348220"/>
            <a:chOff x="736600" y="1787013"/>
            <a:chExt cx="11836400" cy="73482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600" y="1787013"/>
              <a:ext cx="10483804" cy="37735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7897" y="5002594"/>
              <a:ext cx="6905103" cy="413218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456</Words>
  <Application>Microsoft Office PowerPoint</Application>
  <PresentationFormat>Custom</PresentationFormat>
  <Paragraphs>161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 MT</vt:lpstr>
      <vt:lpstr>Calibri</vt:lpstr>
      <vt:lpstr>Cambria</vt:lpstr>
      <vt:lpstr>Times New Roman</vt:lpstr>
      <vt:lpstr>Trebuchet MS</vt:lpstr>
      <vt:lpstr>Office Theme</vt:lpstr>
      <vt:lpstr>Machine Learning</vt:lpstr>
      <vt:lpstr>Norm and dot product for vectors</vt:lpstr>
      <vt:lpstr>Matrix multiplication</vt:lpstr>
      <vt:lpstr>Matrix multiplication</vt:lpstr>
      <vt:lpstr>NumPy documentation</vt:lpstr>
      <vt:lpstr>Matrix multiplication</vt:lpstr>
      <vt:lpstr>Matrix multiplication</vt:lpstr>
      <vt:lpstr>Other operations</vt:lpstr>
      <vt:lpstr>Identity matrix</vt:lpstr>
      <vt:lpstr>Pandas</vt:lpstr>
      <vt:lpstr>Pandas</vt:lpstr>
      <vt:lpstr>Series</vt:lpstr>
      <vt:lpstr>Time range</vt:lpstr>
      <vt:lpstr>DataFrame</vt:lpstr>
      <vt:lpstr>Another way to create DataFrame</vt:lpstr>
      <vt:lpstr>Another way to create DataFrame</vt:lpstr>
      <vt:lpstr>Accessing rows</vt:lpstr>
      <vt:lpstr>Adding/removing columns</vt:lpstr>
      <vt:lpstr>Handling missing data</vt:lpstr>
      <vt:lpstr>Handling missing data</vt:lpstr>
      <vt:lpstr>Saving</vt:lpstr>
      <vt:lpstr>Loading</vt:lpstr>
      <vt:lpstr>Matplotlib</vt:lpstr>
      <vt:lpstr>Matplotlib</vt:lpstr>
      <vt:lpstr>Customization</vt:lpstr>
      <vt:lpstr>Customization</vt:lpstr>
      <vt:lpstr>Saving a figure</vt:lpstr>
      <vt:lpstr>Subplots</vt:lpstr>
      <vt:lpstr>Legends</vt:lpstr>
      <vt:lpstr>Scatter plot</vt:lpstr>
      <vt:lpstr>Scatter plot</vt:lpstr>
      <vt:lpstr>Utility function for plots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02_lecture2</dc:title>
  <cp:lastModifiedBy>Dr. Muhammad Adeel</cp:lastModifiedBy>
  <cp:revision>2</cp:revision>
  <dcterms:created xsi:type="dcterms:W3CDTF">2025-08-31T16:33:30Z</dcterms:created>
  <dcterms:modified xsi:type="dcterms:W3CDTF">2025-10-01T09:40:40Z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2022-01-23T00:00:00Z</vt:filetime>
  </property>
  <property fmtid="{D5CDD505-2E9C-101B-9397-08002B2CF9AE}" pid="3" name="Creator">
    <vt:lpwstr>Keynote</vt:lpwstr>
  </property>
  <property fmtid="{D5CDD505-2E9C-101B-9397-08002B2CF9AE}" pid="4" name="LastSaved">
    <vt:filetime>2025-08-31T00:00:00Z</vt:filetime>
  </property>
  <property fmtid="{D5CDD505-2E9C-101B-9397-08002B2CF9AE}" pid="5" name="Producer">
    <vt:lpwstr>macOS Version 12.0.1 (Build 21A559) Quartz PDFContext</vt:lpwstr>
  </property>
</Properties>
</file>