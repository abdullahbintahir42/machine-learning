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57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6600" y="3966845"/>
            <a:ext cx="4304665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3004800" cy="9753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6600" y="438565"/>
            <a:ext cx="8358505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6600" y="1958836"/>
            <a:ext cx="9884410" cy="5751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69117" y="9251836"/>
            <a:ext cx="273050" cy="21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://www.anaconda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971" y="3166606"/>
            <a:ext cx="47866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75" dirty="0"/>
              <a:t>Machine</a:t>
            </a:r>
            <a:r>
              <a:rPr sz="5000" spc="-265" dirty="0"/>
              <a:t> </a:t>
            </a:r>
            <a:r>
              <a:rPr sz="5000" spc="-315" dirty="0"/>
              <a:t>Learning</a:t>
            </a:r>
            <a:endParaRPr sz="5000" dirty="0"/>
          </a:p>
        </p:txBody>
      </p:sp>
      <p:sp>
        <p:nvSpPr>
          <p:cNvPr id="4" name="object 4"/>
          <p:cNvSpPr txBox="1"/>
          <p:nvPr/>
        </p:nvSpPr>
        <p:spPr>
          <a:xfrm>
            <a:off x="736600" y="4332469"/>
            <a:ext cx="4545965" cy="2192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500" b="1" spc="-185" dirty="0">
                <a:latin typeface="Trebuchet MS"/>
                <a:cs typeface="Trebuchet MS"/>
              </a:rPr>
              <a:t>Homework week</a:t>
            </a:r>
            <a:r>
              <a:rPr sz="3500" b="1" spc="-65" dirty="0">
                <a:latin typeface="Trebuchet MS"/>
                <a:cs typeface="Trebuchet MS"/>
              </a:rPr>
              <a:t> </a:t>
            </a:r>
            <a:r>
              <a:rPr sz="3500" b="1" spc="-225" dirty="0">
                <a:latin typeface="Trebuchet MS"/>
                <a:cs typeface="Trebuchet MS"/>
              </a:rPr>
              <a:t>1:</a:t>
            </a:r>
            <a:r>
              <a:rPr sz="3500" b="1" spc="-65" dirty="0">
                <a:latin typeface="Trebuchet MS"/>
                <a:cs typeface="Trebuchet MS"/>
              </a:rPr>
              <a:t> </a:t>
            </a:r>
            <a:r>
              <a:rPr sz="3500" b="1" spc="-80" dirty="0">
                <a:latin typeface="Trebuchet MS"/>
                <a:cs typeface="Trebuchet MS"/>
              </a:rPr>
              <a:t>Introduction</a:t>
            </a:r>
            <a:endParaRPr lang="en-US" sz="3500" b="1" spc="-8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3500" b="1" spc="-8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5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204500"/>
            <a:ext cx="10646410" cy="299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ts val="29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45" dirty="0">
                <a:latin typeface="Trebuchet MS"/>
                <a:cs typeface="Trebuchet MS"/>
              </a:rPr>
              <a:t>Concepts,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tools,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intuition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you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need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implement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programs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capable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of</a:t>
            </a:r>
            <a:endParaRPr sz="2500">
              <a:latin typeface="Trebuchet MS"/>
              <a:cs typeface="Trebuchet MS"/>
            </a:endParaRPr>
          </a:p>
          <a:p>
            <a:pPr marL="393700">
              <a:lnSpc>
                <a:spcPts val="2900"/>
              </a:lnSpc>
            </a:pPr>
            <a:r>
              <a:rPr sz="2500" b="1" spc="-85" dirty="0">
                <a:latin typeface="Trebuchet MS"/>
                <a:cs typeface="Trebuchet MS"/>
              </a:rPr>
              <a:t>learning</a:t>
            </a:r>
            <a:r>
              <a:rPr sz="2500" b="1" spc="-80" dirty="0">
                <a:latin typeface="Trebuchet MS"/>
                <a:cs typeface="Trebuchet MS"/>
              </a:rPr>
              <a:t> </a:t>
            </a:r>
            <a:r>
              <a:rPr sz="2500" b="1" spc="-70" dirty="0">
                <a:latin typeface="Trebuchet MS"/>
                <a:cs typeface="Trebuchet MS"/>
              </a:rPr>
              <a:t>from</a:t>
            </a:r>
            <a:r>
              <a:rPr sz="2500" b="1" spc="-80" dirty="0">
                <a:latin typeface="Trebuchet MS"/>
                <a:cs typeface="Trebuchet MS"/>
              </a:rPr>
              <a:t> </a:t>
            </a:r>
            <a:r>
              <a:rPr sz="2500" b="1" spc="-2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500">
              <a:latin typeface="Trebuchet MS"/>
              <a:cs typeface="Trebuchet MS"/>
            </a:endParaRPr>
          </a:p>
          <a:p>
            <a:pPr marL="393700" marR="105410" indent="-381000">
              <a:lnSpc>
                <a:spcPts val="28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50" dirty="0">
                <a:latin typeface="Trebuchet MS"/>
                <a:cs typeface="Trebuchet MS"/>
              </a:rPr>
              <a:t>From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simple</a:t>
            </a:r>
            <a:r>
              <a:rPr sz="2500" spc="-16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techniques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such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regression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some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deep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learning </a:t>
            </a:r>
            <a:r>
              <a:rPr sz="2500" spc="-10" dirty="0">
                <a:latin typeface="Trebuchet MS"/>
                <a:cs typeface="Trebuchet MS"/>
              </a:rPr>
              <a:t>techniques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marR="5080" indent="-381000">
              <a:lnSpc>
                <a:spcPts val="28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190" dirty="0">
                <a:latin typeface="Trebuchet MS"/>
                <a:cs typeface="Trebuchet MS"/>
              </a:rPr>
              <a:t>A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b="1" spc="-85" dirty="0">
                <a:latin typeface="Trebuchet MS"/>
                <a:cs typeface="Trebuchet MS"/>
              </a:rPr>
              <a:t>hands-</a:t>
            </a:r>
            <a:r>
              <a:rPr sz="2500" b="1" spc="-50" dirty="0">
                <a:latin typeface="Trebuchet MS"/>
                <a:cs typeface="Trebuchet MS"/>
              </a:rPr>
              <a:t>on</a:t>
            </a:r>
            <a:r>
              <a:rPr sz="2500" b="1" spc="-85" dirty="0">
                <a:latin typeface="Trebuchet MS"/>
                <a:cs typeface="Trebuchet MS"/>
              </a:rPr>
              <a:t> </a:t>
            </a:r>
            <a:r>
              <a:rPr sz="2500" b="1" spc="-70" dirty="0">
                <a:latin typeface="Trebuchet MS"/>
                <a:cs typeface="Trebuchet MS"/>
              </a:rPr>
              <a:t>approach</a:t>
            </a:r>
            <a:r>
              <a:rPr sz="2500" b="1" spc="-8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with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just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little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bit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80" dirty="0">
                <a:latin typeface="Trebuchet MS"/>
                <a:cs typeface="Trebuchet MS"/>
              </a:rPr>
              <a:t> theory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production-</a:t>
            </a:r>
            <a:r>
              <a:rPr sz="2500" spc="-10" dirty="0">
                <a:latin typeface="Trebuchet MS"/>
                <a:cs typeface="Trebuchet MS"/>
              </a:rPr>
              <a:t>ready </a:t>
            </a:r>
            <a:r>
              <a:rPr sz="2500" spc="-25" dirty="0">
                <a:latin typeface="Trebuchet MS"/>
                <a:cs typeface="Trebuchet MS"/>
              </a:rPr>
              <a:t>Python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frameworks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What</a:t>
            </a:r>
            <a:r>
              <a:rPr spc="-225" dirty="0"/>
              <a:t> </a:t>
            </a:r>
            <a:r>
              <a:rPr spc="-114" dirty="0"/>
              <a:t>do</a:t>
            </a:r>
            <a:r>
              <a:rPr spc="-225" dirty="0"/>
              <a:t> </a:t>
            </a:r>
            <a:r>
              <a:rPr spc="-195" dirty="0"/>
              <a:t>you</a:t>
            </a:r>
            <a:r>
              <a:rPr spc="-225" dirty="0"/>
              <a:t> </a:t>
            </a:r>
            <a:r>
              <a:rPr spc="-229" dirty="0"/>
              <a:t>learn</a:t>
            </a:r>
            <a:r>
              <a:rPr spc="-220" dirty="0"/>
              <a:t> </a:t>
            </a:r>
            <a:r>
              <a:rPr spc="-195" dirty="0"/>
              <a:t>from</a:t>
            </a:r>
            <a:r>
              <a:rPr spc="-225" dirty="0"/>
              <a:t> </a:t>
            </a:r>
            <a:r>
              <a:rPr spc="-229" dirty="0"/>
              <a:t>this</a:t>
            </a:r>
            <a:r>
              <a:rPr spc="-225" dirty="0"/>
              <a:t> </a:t>
            </a:r>
            <a:r>
              <a:rPr spc="-155" dirty="0"/>
              <a:t>course?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337" y="5220536"/>
            <a:ext cx="4370290" cy="28275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62269" y="4684903"/>
            <a:ext cx="26625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rebuchet MS"/>
                <a:cs typeface="Trebuchet MS"/>
              </a:rPr>
              <a:t>Public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perception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of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130" dirty="0">
                <a:latin typeface="Trebuchet MS"/>
                <a:cs typeface="Trebuchet MS"/>
              </a:rPr>
              <a:t>ML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03191" y="4684903"/>
            <a:ext cx="773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Trebuchet MS"/>
                <a:cs typeface="Trebuchet MS"/>
              </a:rPr>
              <a:t>Reality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52350" y="5077171"/>
            <a:ext cx="6598284" cy="3644265"/>
            <a:chOff x="6152350" y="5077171"/>
            <a:chExt cx="6598284" cy="36442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7566" y="6932612"/>
              <a:ext cx="4724680" cy="17884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2799" y="5177584"/>
              <a:ext cx="5027485" cy="16546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2350" y="5077171"/>
              <a:ext cx="3251958" cy="1855442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1416"/>
            <a:ext cx="8696960" cy="25888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635" indent="-368935">
              <a:lnSpc>
                <a:spcPct val="100000"/>
              </a:lnSpc>
              <a:spcBef>
                <a:spcPts val="125"/>
              </a:spcBef>
              <a:buSzPct val="122916"/>
              <a:buChar char="•"/>
              <a:tabLst>
                <a:tab pos="381635" algn="l"/>
              </a:tabLst>
            </a:pPr>
            <a:r>
              <a:rPr sz="2400" spc="85" dirty="0">
                <a:latin typeface="Trebuchet MS"/>
                <a:cs typeface="Trebuchet MS"/>
              </a:rPr>
              <a:t>We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need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level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of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calculus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linear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algebra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762635" lvl="1" indent="-368935">
              <a:lnSpc>
                <a:spcPct val="100000"/>
              </a:lnSpc>
              <a:buSzPct val="122916"/>
              <a:buChar char="•"/>
              <a:tabLst>
                <a:tab pos="762635" algn="l"/>
              </a:tabLst>
            </a:pPr>
            <a:r>
              <a:rPr sz="2400" spc="-114" dirty="0">
                <a:latin typeface="Trebuchet MS"/>
                <a:cs typeface="Trebuchet MS"/>
              </a:rPr>
              <a:t>Vector,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matrix,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inner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product,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matrix-</a:t>
            </a:r>
            <a:r>
              <a:rPr sz="2400" spc="-80" dirty="0">
                <a:latin typeface="Trebuchet MS"/>
                <a:cs typeface="Trebuchet MS"/>
              </a:rPr>
              <a:t>matrix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multiplication</a:t>
            </a:r>
            <a:endParaRPr sz="2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762635" lvl="1" indent="-368935">
              <a:lnSpc>
                <a:spcPct val="100000"/>
              </a:lnSpc>
              <a:buSzPct val="122916"/>
              <a:buChar char="•"/>
              <a:tabLst>
                <a:tab pos="762635" algn="l"/>
              </a:tabLst>
            </a:pPr>
            <a:r>
              <a:rPr sz="2400" spc="-40" dirty="0">
                <a:latin typeface="Trebuchet MS"/>
                <a:cs typeface="Trebuchet MS"/>
              </a:rPr>
              <a:t>Derivatives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of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polynomials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exponential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functions</a:t>
            </a:r>
            <a:endParaRPr sz="2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762635" lvl="1" indent="-368935">
              <a:lnSpc>
                <a:spcPct val="100000"/>
              </a:lnSpc>
              <a:buSzPct val="122916"/>
              <a:buChar char="•"/>
              <a:tabLst>
                <a:tab pos="762635" algn="l"/>
              </a:tabLst>
            </a:pPr>
            <a:r>
              <a:rPr sz="2400" dirty="0">
                <a:latin typeface="Trebuchet MS"/>
                <a:cs typeface="Trebuchet MS"/>
              </a:rPr>
              <a:t>Chain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rule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for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finding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derivative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of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composite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function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6276550"/>
            <a:ext cx="10345420" cy="1862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635" indent="-368935">
              <a:lnSpc>
                <a:spcPct val="100000"/>
              </a:lnSpc>
              <a:spcBef>
                <a:spcPts val="125"/>
              </a:spcBef>
              <a:buSzPct val="122916"/>
              <a:buChar char="•"/>
              <a:tabLst>
                <a:tab pos="381635" algn="l"/>
              </a:tabLst>
            </a:pPr>
            <a:r>
              <a:rPr sz="2400" dirty="0">
                <a:latin typeface="Trebuchet MS"/>
                <a:cs typeface="Trebuchet MS"/>
              </a:rPr>
              <a:t>Basics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of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probability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statistics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762635" lvl="1" indent="-368935">
              <a:lnSpc>
                <a:spcPct val="100000"/>
              </a:lnSpc>
              <a:buSzPct val="122916"/>
              <a:buChar char="•"/>
              <a:tabLst>
                <a:tab pos="762635" algn="l"/>
              </a:tabLst>
            </a:pPr>
            <a:r>
              <a:rPr sz="2400" spc="-40" dirty="0">
                <a:latin typeface="Trebuchet MS"/>
                <a:cs typeface="Trebuchet MS"/>
              </a:rPr>
              <a:t>Probability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distributions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(normal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distribution,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Bernoulli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distribution,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etc.)</a:t>
            </a:r>
            <a:endParaRPr sz="2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762635" lvl="1" indent="-368935">
              <a:lnSpc>
                <a:spcPct val="100000"/>
              </a:lnSpc>
              <a:buSzPct val="122916"/>
              <a:buChar char="•"/>
              <a:tabLst>
                <a:tab pos="762635" algn="l"/>
              </a:tabLst>
            </a:pPr>
            <a:r>
              <a:rPr sz="2400" dirty="0">
                <a:latin typeface="Trebuchet MS"/>
                <a:cs typeface="Trebuchet MS"/>
              </a:rPr>
              <a:t>Mean,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standard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deviation,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600" dirty="0">
                <a:latin typeface="Trebuchet MS"/>
                <a:cs typeface="Trebuchet MS"/>
              </a:rPr>
              <a:t>…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Course</a:t>
            </a:r>
            <a:r>
              <a:rPr spc="-235" dirty="0"/>
              <a:t> </a:t>
            </a:r>
            <a:r>
              <a:rPr spc="-275" dirty="0"/>
              <a:t>prerequisites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6846" y="4267184"/>
            <a:ext cx="6326035" cy="160679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42475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u="sng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https://www.anaconda.com/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Anaconda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28262" y="1687118"/>
            <a:ext cx="12189460" cy="7524115"/>
            <a:chOff x="428262" y="1687118"/>
            <a:chExt cx="12189460" cy="75241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262" y="1687118"/>
              <a:ext cx="8998692" cy="48163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9766" y="5160897"/>
              <a:ext cx="7477368" cy="40502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0633710" cy="30607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93700" marR="5080" indent="-381000">
              <a:lnSpc>
                <a:spcPts val="2800"/>
              </a:lnSpc>
              <a:spcBef>
                <a:spcPts val="36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Google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Colaboratory,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“Colab”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for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short,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allows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you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write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execute </a:t>
            </a:r>
            <a:r>
              <a:rPr sz="2500" spc="-25" dirty="0">
                <a:latin typeface="Trebuchet MS"/>
                <a:cs typeface="Trebuchet MS"/>
              </a:rPr>
              <a:t>Python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your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browser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spcBef>
                <a:spcPts val="5"/>
              </a:spcBef>
              <a:buSzPct val="122000"/>
              <a:buChar char="•"/>
              <a:tabLst>
                <a:tab pos="774700" algn="l"/>
              </a:tabLst>
            </a:pPr>
            <a:r>
              <a:rPr sz="2500" dirty="0">
                <a:latin typeface="Trebuchet MS"/>
                <a:cs typeface="Trebuchet MS"/>
              </a:rPr>
              <a:t>Zero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configuration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required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135" dirty="0">
                <a:latin typeface="Trebuchet MS"/>
                <a:cs typeface="Trebuchet MS"/>
              </a:rPr>
              <a:t>Free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access</a:t>
            </a:r>
            <a:r>
              <a:rPr sz="2500" spc="-135" dirty="0">
                <a:latin typeface="Trebuchet MS"/>
                <a:cs typeface="Trebuchet MS"/>
              </a:rPr>
              <a:t> 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125" dirty="0">
                <a:latin typeface="Trebuchet MS"/>
                <a:cs typeface="Trebuchet MS"/>
              </a:rPr>
              <a:t>GPUs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other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computing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resources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50" dirty="0">
                <a:latin typeface="Trebuchet MS"/>
                <a:cs typeface="Trebuchet MS"/>
              </a:rPr>
              <a:t>Use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terminal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commands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Google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Colab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7644624"/>
            <a:ext cx="101015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https://drive.google.com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(for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55" dirty="0">
                <a:latin typeface="Trebuchet MS"/>
                <a:cs typeface="Trebuchet MS"/>
              </a:rPr>
              <a:t>first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time,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select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“Connect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more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apps”)</a:t>
            </a:r>
            <a:endParaRPr sz="25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28067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Google</a:t>
            </a:r>
            <a:r>
              <a:rPr spc="-200" dirty="0"/>
              <a:t> </a:t>
            </a:r>
            <a:r>
              <a:rPr spc="-75" dirty="0"/>
              <a:t>Colab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4494" y="4468817"/>
            <a:ext cx="8255808" cy="287443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7677784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50" dirty="0">
                <a:latin typeface="Trebuchet MS"/>
                <a:cs typeface="Trebuchet MS"/>
              </a:rPr>
              <a:t>Better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alternative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for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“real”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machine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learning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projects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u="sng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https://code.visualstudio.com/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358203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Visual</a:t>
            </a:r>
            <a:r>
              <a:rPr spc="-220" dirty="0"/>
              <a:t> </a:t>
            </a:r>
            <a:r>
              <a:rPr spc="-200" dirty="0"/>
              <a:t>Studi</a:t>
            </a:r>
            <a:r>
              <a:rPr spc="-215" dirty="0"/>
              <a:t> </a:t>
            </a:r>
            <a:r>
              <a:rPr spc="-65" dirty="0"/>
              <a:t>Code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60805" y="2562418"/>
            <a:ext cx="12001500" cy="6551930"/>
            <a:chOff x="460805" y="2562418"/>
            <a:chExt cx="12001500" cy="65519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805" y="2562418"/>
              <a:ext cx="8469698" cy="54361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5162" y="6757518"/>
              <a:ext cx="5517053" cy="235671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6600" y="1415486"/>
            <a:ext cx="11486515" cy="685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200" dirty="0">
                <a:latin typeface="Trebuchet MS"/>
                <a:cs typeface="Trebuchet MS"/>
              </a:rPr>
              <a:t>Part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1: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Fundamentals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Machine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Learning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85" dirty="0">
                <a:solidFill>
                  <a:srgbClr val="0076BA"/>
                </a:solidFill>
                <a:latin typeface="Trebuchet MS"/>
                <a:cs typeface="Trebuchet MS"/>
              </a:rPr>
              <a:t>(Scikit-</a:t>
            </a:r>
            <a:r>
              <a:rPr sz="2500" spc="-10" dirty="0">
                <a:solidFill>
                  <a:srgbClr val="0076BA"/>
                </a:solidFill>
                <a:latin typeface="Trebuchet MS"/>
                <a:cs typeface="Trebuchet MS"/>
              </a:rPr>
              <a:t>Learn)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dirty="0">
                <a:latin typeface="Trebuchet MS"/>
                <a:cs typeface="Trebuchet MS"/>
              </a:rPr>
              <a:t>Review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Python’s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main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scientific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libraries: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NumPy,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pandas,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Matplotlib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75" dirty="0">
                <a:latin typeface="Trebuchet MS"/>
                <a:cs typeface="Trebuchet MS"/>
              </a:rPr>
              <a:t>Steps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typical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machine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learning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project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40" dirty="0">
                <a:latin typeface="Trebuchet MS"/>
                <a:cs typeface="Trebuchet MS"/>
              </a:rPr>
              <a:t>Learning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by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fitting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optimizing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cost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function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20" dirty="0">
                <a:latin typeface="Trebuchet MS"/>
                <a:cs typeface="Trebuchet MS"/>
              </a:rPr>
              <a:t>Challenges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using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machine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learning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systems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200" dirty="0">
                <a:latin typeface="Trebuchet MS"/>
                <a:cs typeface="Trebuchet MS"/>
              </a:rPr>
              <a:t>Part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2: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Neural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Networks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Deep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Learning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75" dirty="0">
                <a:solidFill>
                  <a:srgbClr val="0076BA"/>
                </a:solidFill>
                <a:latin typeface="Trebuchet MS"/>
                <a:cs typeface="Trebuchet MS"/>
              </a:rPr>
              <a:t>(TensorFlow </a:t>
            </a:r>
            <a:r>
              <a:rPr sz="2500" spc="-65" dirty="0">
                <a:solidFill>
                  <a:srgbClr val="0076BA"/>
                </a:solidFill>
                <a:latin typeface="Trebuchet MS"/>
                <a:cs typeface="Trebuchet MS"/>
              </a:rPr>
              <a:t>2.0,</a:t>
            </a:r>
            <a:r>
              <a:rPr sz="2500" spc="-75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95" dirty="0">
                <a:solidFill>
                  <a:srgbClr val="0076BA"/>
                </a:solidFill>
                <a:latin typeface="Trebuchet MS"/>
                <a:cs typeface="Trebuchet MS"/>
              </a:rPr>
              <a:t>Keras,</a:t>
            </a:r>
            <a:r>
              <a:rPr sz="2500" spc="-75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76BA"/>
                </a:solidFill>
                <a:latin typeface="Trebuchet MS"/>
                <a:cs typeface="Trebuchet MS"/>
              </a:rPr>
              <a:t>and</a:t>
            </a:r>
            <a:r>
              <a:rPr sz="2500" spc="-75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35" dirty="0">
                <a:solidFill>
                  <a:srgbClr val="0076BA"/>
                </a:solidFill>
                <a:latin typeface="Trebuchet MS"/>
                <a:cs typeface="Trebuchet MS"/>
              </a:rPr>
              <a:t>PyTorch)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dirty="0">
                <a:latin typeface="Trebuchet MS"/>
                <a:cs typeface="Trebuchet MS"/>
              </a:rPr>
              <a:t>What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neural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nets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what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they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good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for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dirty="0">
                <a:latin typeface="Trebuchet MS"/>
                <a:cs typeface="Trebuchet MS"/>
              </a:rPr>
              <a:t>Building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feedforward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neural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nets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(basics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implementation)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5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marR="5715" lvl="1" indent="-381000">
              <a:lnSpc>
                <a:spcPts val="28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10" dirty="0">
                <a:latin typeface="Trebuchet MS"/>
                <a:cs typeface="Trebuchet MS"/>
              </a:rPr>
              <a:t>Convolutional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nets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for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deep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computer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vision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recurrent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neural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nets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(mainly </a:t>
            </a:r>
            <a:r>
              <a:rPr sz="2500" spc="-75" dirty="0">
                <a:latin typeface="Trebuchet MS"/>
                <a:cs typeface="Trebuchet MS"/>
              </a:rPr>
              <a:t>fundamental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concepts)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Course</a:t>
            </a:r>
            <a:r>
              <a:rPr spc="-235" dirty="0"/>
              <a:t> </a:t>
            </a:r>
            <a:r>
              <a:rPr spc="-275" dirty="0"/>
              <a:t>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752817"/>
            <a:ext cx="1120902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Alan</a:t>
            </a:r>
            <a:r>
              <a:rPr sz="2500" spc="-245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Turing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gave</a:t>
            </a:r>
            <a:r>
              <a:rPr sz="2500" spc="-75" dirty="0">
                <a:latin typeface="Trebuchet MS"/>
                <a:cs typeface="Trebuchet MS"/>
              </a:rPr>
              <a:t> quite </a:t>
            </a:r>
            <a:r>
              <a:rPr sz="2500" dirty="0">
                <a:latin typeface="Trebuchet MS"/>
                <a:cs typeface="Trebuchet MS"/>
              </a:rPr>
              <a:t>possibly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earliest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public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lecture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this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topic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1947: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500">
              <a:latin typeface="Trebuchet MS"/>
              <a:cs typeface="Trebuchet MS"/>
            </a:endParaRPr>
          </a:p>
          <a:p>
            <a:pPr marL="321945" algn="ctr">
              <a:lnSpc>
                <a:spcPct val="100000"/>
              </a:lnSpc>
            </a:pPr>
            <a:r>
              <a:rPr sz="2500" spc="-25" dirty="0">
                <a:latin typeface="Trebuchet MS"/>
                <a:cs typeface="Trebuchet MS"/>
              </a:rPr>
              <a:t>“What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we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want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machine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learn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from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experience”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</a:t>
            </a:r>
            <a:r>
              <a:rPr spc="-240" dirty="0"/>
              <a:t> little</a:t>
            </a:r>
            <a:r>
              <a:rPr spc="-235" dirty="0"/>
              <a:t> </a:t>
            </a:r>
            <a:r>
              <a:rPr spc="-204" dirty="0"/>
              <a:t>bit</a:t>
            </a:r>
            <a:r>
              <a:rPr spc="-235" dirty="0"/>
              <a:t> </a:t>
            </a:r>
            <a:r>
              <a:rPr spc="-200" dirty="0"/>
              <a:t>history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00" y="3825016"/>
            <a:ext cx="11607800" cy="363751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204500"/>
            <a:ext cx="11255375" cy="346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90" dirty="0">
                <a:latin typeface="Trebuchet MS"/>
                <a:cs typeface="Trebuchet MS"/>
              </a:rPr>
              <a:t>Let’s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say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we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want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design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spam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filtering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system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100" dirty="0">
                <a:latin typeface="Trebuchet MS"/>
                <a:cs typeface="Trebuchet MS"/>
              </a:rPr>
              <a:t>One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approach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traditional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programming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techniques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dirty="0">
                <a:latin typeface="Trebuchet MS"/>
                <a:cs typeface="Trebuchet MS"/>
              </a:rPr>
              <a:t>Look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for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words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phrases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such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as: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credit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card,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75" dirty="0">
                <a:latin typeface="Trebuchet MS"/>
                <a:cs typeface="Trebuchet MS"/>
              </a:rPr>
              <a:t>free,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bank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information,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“C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30" dirty="0">
                <a:latin typeface="Trebuchet MS"/>
                <a:cs typeface="Trebuchet MS"/>
              </a:rPr>
              <a:t>U”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30" dirty="0">
                <a:latin typeface="Trebuchet MS"/>
                <a:cs typeface="Trebuchet MS"/>
              </a:rPr>
              <a:t>Write</a:t>
            </a:r>
            <a:r>
              <a:rPr sz="2500" spc="-1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detection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algorithm</a:t>
            </a:r>
            <a:r>
              <a:rPr sz="2500" spc="-105" dirty="0">
                <a:latin typeface="Trebuchet MS"/>
                <a:cs typeface="Trebuchet MS"/>
              </a:rPr>
              <a:t> for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each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patterns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204" dirty="0">
                <a:latin typeface="Trebuchet MS"/>
                <a:cs typeface="Trebuchet MS"/>
              </a:rPr>
              <a:t>Test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your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program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improve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it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Why</a:t>
            </a:r>
            <a:r>
              <a:rPr spc="-235" dirty="0"/>
              <a:t> </a:t>
            </a:r>
            <a:r>
              <a:rPr spc="-185" dirty="0"/>
              <a:t>should</a:t>
            </a:r>
            <a:r>
              <a:rPr spc="-235" dirty="0"/>
              <a:t> </a:t>
            </a:r>
            <a:r>
              <a:rPr spc="-200" dirty="0"/>
              <a:t>we</a:t>
            </a:r>
            <a:r>
              <a:rPr spc="-235" dirty="0"/>
              <a:t> </a:t>
            </a:r>
            <a:r>
              <a:rPr spc="-260" dirty="0"/>
              <a:t>use</a:t>
            </a:r>
            <a:r>
              <a:rPr spc="-229" dirty="0"/>
              <a:t> </a:t>
            </a:r>
            <a:r>
              <a:rPr spc="-220" dirty="0"/>
              <a:t>machine</a:t>
            </a:r>
            <a:r>
              <a:rPr spc="-235" dirty="0"/>
              <a:t> </a:t>
            </a:r>
            <a:r>
              <a:rPr spc="-150" dirty="0"/>
              <a:t>learning?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4158" y="4877522"/>
            <a:ext cx="7116483" cy="39927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202035" cy="30607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93700" marR="5080" indent="-381000">
              <a:lnSpc>
                <a:spcPts val="2800"/>
              </a:lnSpc>
              <a:spcBef>
                <a:spcPts val="36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190" dirty="0">
                <a:latin typeface="Trebuchet MS"/>
                <a:cs typeface="Trebuchet MS"/>
              </a:rPr>
              <a:t>A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spam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50" dirty="0">
                <a:latin typeface="Trebuchet MS"/>
                <a:cs typeface="Trebuchet MS"/>
              </a:rPr>
              <a:t>filter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based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machine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learning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automatically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learns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which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words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and </a:t>
            </a:r>
            <a:r>
              <a:rPr sz="2500" spc="-65" dirty="0">
                <a:latin typeface="Trebuchet MS"/>
                <a:cs typeface="Trebuchet MS"/>
              </a:rPr>
              <a:t>phrases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3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good</a:t>
            </a:r>
            <a:r>
              <a:rPr sz="2500" spc="-3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predictors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40" dirty="0">
                <a:latin typeface="Trebuchet MS"/>
                <a:cs typeface="Trebuchet MS"/>
              </a:rPr>
              <a:t>Possible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benefits: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simpler,</a:t>
            </a:r>
            <a:r>
              <a:rPr sz="2500" spc="-85" dirty="0">
                <a:latin typeface="Trebuchet MS"/>
                <a:cs typeface="Trebuchet MS"/>
              </a:rPr>
              <a:t> easier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maintain,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more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accurate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85" dirty="0">
                <a:latin typeface="Trebuchet MS"/>
                <a:cs typeface="Trebuchet MS"/>
              </a:rPr>
              <a:t>The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examples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system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uses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called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set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70" dirty="0">
                <a:latin typeface="Trebuchet MS"/>
                <a:cs typeface="Trebuchet MS"/>
              </a:rPr>
              <a:t>We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should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also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think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performance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measure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Why</a:t>
            </a:r>
            <a:r>
              <a:rPr spc="-235" dirty="0"/>
              <a:t> </a:t>
            </a:r>
            <a:r>
              <a:rPr spc="-260" dirty="0"/>
              <a:t>use</a:t>
            </a:r>
            <a:r>
              <a:rPr spc="-235" dirty="0"/>
              <a:t> </a:t>
            </a:r>
            <a:r>
              <a:rPr spc="-220" dirty="0"/>
              <a:t>machine</a:t>
            </a:r>
            <a:r>
              <a:rPr spc="-235" dirty="0"/>
              <a:t> </a:t>
            </a:r>
            <a:r>
              <a:rPr spc="-160" dirty="0"/>
              <a:t>learning?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5218" y="4681078"/>
            <a:ext cx="6894666" cy="409026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0362565" cy="153797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93700" marR="5080" indent="-381000">
              <a:lnSpc>
                <a:spcPts val="2800"/>
              </a:lnSpc>
              <a:spcBef>
                <a:spcPts val="36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Machine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learning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help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human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learn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discover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patterns</a:t>
            </a:r>
            <a:r>
              <a:rPr sz="2500" spc="-65" dirty="0">
                <a:latin typeface="Trebuchet MS"/>
                <a:cs typeface="Trebuchet MS"/>
              </a:rPr>
              <a:t> from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large </a:t>
            </a:r>
            <a:r>
              <a:rPr sz="2500" spc="-30" dirty="0">
                <a:latin typeface="Trebuchet MS"/>
                <a:cs typeface="Trebuchet MS"/>
              </a:rPr>
              <a:t>amounts</a:t>
            </a:r>
            <a:r>
              <a:rPr sz="2500" spc="-16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not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immediately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apparent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35" dirty="0">
                <a:latin typeface="Trebuchet MS"/>
                <a:cs typeface="Trebuchet MS"/>
              </a:rPr>
              <a:t>This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usually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called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mining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Beyond prediction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9213" y="3701227"/>
            <a:ext cx="7546374" cy="426207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/>
              <a:t>Autonomous</a:t>
            </a:r>
            <a:r>
              <a:rPr sz="2500" spc="-65" dirty="0"/>
              <a:t> </a:t>
            </a:r>
            <a:r>
              <a:rPr sz="2500" spc="-45" dirty="0"/>
              <a:t>navigation</a:t>
            </a:r>
            <a:r>
              <a:rPr sz="2500" spc="-65" dirty="0"/>
              <a:t> </a:t>
            </a:r>
            <a:r>
              <a:rPr sz="2500" spc="-10" dirty="0"/>
              <a:t>systems</a:t>
            </a:r>
            <a:endParaRPr sz="2500" dirty="0"/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 dirty="0"/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dirty="0"/>
              <a:t>Analyzing</a:t>
            </a:r>
            <a:r>
              <a:rPr sz="2500" spc="-85" dirty="0"/>
              <a:t> </a:t>
            </a:r>
            <a:r>
              <a:rPr sz="2500" spc="-25" dirty="0"/>
              <a:t>images</a:t>
            </a:r>
            <a:r>
              <a:rPr sz="2500" spc="-80" dirty="0"/>
              <a:t> </a:t>
            </a:r>
            <a:r>
              <a:rPr sz="2500" spc="-55" dirty="0"/>
              <a:t>of</a:t>
            </a:r>
            <a:r>
              <a:rPr sz="2500" spc="-80" dirty="0"/>
              <a:t> </a:t>
            </a:r>
            <a:r>
              <a:rPr sz="2500" spc="-95" dirty="0"/>
              <a:t>items</a:t>
            </a:r>
            <a:r>
              <a:rPr sz="2500" spc="-80" dirty="0"/>
              <a:t> </a:t>
            </a:r>
            <a:r>
              <a:rPr sz="2500" dirty="0"/>
              <a:t>on</a:t>
            </a:r>
            <a:r>
              <a:rPr sz="2500" spc="-80" dirty="0"/>
              <a:t> </a:t>
            </a:r>
            <a:r>
              <a:rPr sz="2500" dirty="0"/>
              <a:t>a</a:t>
            </a:r>
            <a:r>
              <a:rPr sz="2500" spc="-80" dirty="0"/>
              <a:t> </a:t>
            </a:r>
            <a:r>
              <a:rPr sz="2500" spc="-40" dirty="0"/>
              <a:t>product</a:t>
            </a:r>
            <a:r>
              <a:rPr sz="2500" spc="-80" dirty="0"/>
              <a:t> </a:t>
            </a:r>
            <a:r>
              <a:rPr sz="2500" spc="-20" dirty="0"/>
              <a:t>line</a:t>
            </a:r>
            <a:endParaRPr sz="2500" dirty="0"/>
          </a:p>
          <a:p>
            <a:pPr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 dirty="0"/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dirty="0"/>
              <a:t>Analyzing</a:t>
            </a:r>
            <a:r>
              <a:rPr sz="2500" spc="-55" dirty="0"/>
              <a:t> </a:t>
            </a:r>
            <a:r>
              <a:rPr sz="2500" spc="-25" dirty="0"/>
              <a:t>medical</a:t>
            </a:r>
            <a:r>
              <a:rPr sz="2500" spc="-50" dirty="0"/>
              <a:t> </a:t>
            </a:r>
            <a:r>
              <a:rPr sz="2500" spc="-10" dirty="0"/>
              <a:t>images</a:t>
            </a:r>
            <a:endParaRPr sz="2500" dirty="0"/>
          </a:p>
          <a:p>
            <a:pPr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 dirty="0"/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40" dirty="0"/>
              <a:t>Automatically</a:t>
            </a:r>
            <a:r>
              <a:rPr sz="2500" spc="-110" dirty="0"/>
              <a:t> </a:t>
            </a:r>
            <a:r>
              <a:rPr sz="2500" spc="-35" dirty="0"/>
              <a:t>flagging</a:t>
            </a:r>
            <a:r>
              <a:rPr sz="2500" spc="-105" dirty="0"/>
              <a:t> </a:t>
            </a:r>
            <a:r>
              <a:rPr sz="2500" spc="-90" dirty="0"/>
              <a:t>offensive</a:t>
            </a:r>
            <a:r>
              <a:rPr sz="2500" spc="-95" dirty="0"/>
              <a:t> </a:t>
            </a:r>
            <a:r>
              <a:rPr sz="2500" spc="-35" dirty="0"/>
              <a:t>comments</a:t>
            </a:r>
            <a:r>
              <a:rPr sz="2500" spc="-105" dirty="0"/>
              <a:t> </a:t>
            </a:r>
            <a:r>
              <a:rPr sz="2500" dirty="0"/>
              <a:t>on</a:t>
            </a:r>
            <a:r>
              <a:rPr sz="2500" spc="-100" dirty="0"/>
              <a:t> </a:t>
            </a:r>
            <a:r>
              <a:rPr sz="2500" dirty="0"/>
              <a:t>social</a:t>
            </a:r>
            <a:r>
              <a:rPr sz="2500" spc="-105" dirty="0"/>
              <a:t> </a:t>
            </a:r>
            <a:r>
              <a:rPr sz="2500" spc="-25" dirty="0"/>
              <a:t>media</a:t>
            </a:r>
            <a:r>
              <a:rPr sz="2500" spc="-105" dirty="0"/>
              <a:t> </a:t>
            </a:r>
            <a:r>
              <a:rPr sz="2500" spc="-60" dirty="0"/>
              <a:t>platforms</a:t>
            </a:r>
            <a:endParaRPr sz="2500" dirty="0"/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 dirty="0"/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75" dirty="0"/>
              <a:t>Forecasting</a:t>
            </a:r>
            <a:r>
              <a:rPr sz="2500" spc="-95" dirty="0"/>
              <a:t> </a:t>
            </a:r>
            <a:r>
              <a:rPr sz="2500" spc="-10" dirty="0"/>
              <a:t>revenue</a:t>
            </a:r>
            <a:endParaRPr sz="2500" dirty="0"/>
          </a:p>
          <a:p>
            <a:pPr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 dirty="0"/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50" dirty="0"/>
              <a:t>Creating</a:t>
            </a:r>
            <a:r>
              <a:rPr sz="2500" spc="-110" dirty="0"/>
              <a:t> </a:t>
            </a:r>
            <a:r>
              <a:rPr sz="2500" dirty="0"/>
              <a:t>a</a:t>
            </a:r>
            <a:r>
              <a:rPr sz="2500" spc="-110" dirty="0"/>
              <a:t> </a:t>
            </a:r>
            <a:r>
              <a:rPr sz="2500" spc="-40" dirty="0"/>
              <a:t>recommendation</a:t>
            </a:r>
            <a:r>
              <a:rPr sz="2500" spc="-110" dirty="0"/>
              <a:t> </a:t>
            </a:r>
            <a:r>
              <a:rPr sz="2500" spc="-10" dirty="0"/>
              <a:t>engine</a:t>
            </a:r>
            <a:endParaRPr sz="2500" dirty="0"/>
          </a:p>
          <a:p>
            <a:pPr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 dirty="0"/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20" dirty="0"/>
              <a:t>Speech</a:t>
            </a:r>
            <a:r>
              <a:rPr sz="2500" spc="-170" dirty="0"/>
              <a:t> </a:t>
            </a:r>
            <a:r>
              <a:rPr sz="2500" spc="-40" dirty="0"/>
              <a:t>recognition</a:t>
            </a:r>
            <a:r>
              <a:rPr sz="2500" spc="-125" dirty="0"/>
              <a:t> </a:t>
            </a:r>
            <a:r>
              <a:rPr sz="2500" spc="-85" dirty="0"/>
              <a:t>(like</a:t>
            </a:r>
            <a:r>
              <a:rPr sz="2500" spc="-100" dirty="0"/>
              <a:t> </a:t>
            </a:r>
            <a:r>
              <a:rPr sz="2500" spc="-10" dirty="0"/>
              <a:t>Siri</a:t>
            </a:r>
            <a:r>
              <a:rPr sz="2500" spc="-125" dirty="0"/>
              <a:t> </a:t>
            </a:r>
            <a:r>
              <a:rPr sz="2500" spc="-10" dirty="0"/>
              <a:t>and</a:t>
            </a:r>
            <a:r>
              <a:rPr sz="2500" spc="-175" dirty="0"/>
              <a:t> </a:t>
            </a:r>
            <a:r>
              <a:rPr sz="2500" spc="-10" dirty="0"/>
              <a:t>Alexa)</a:t>
            </a:r>
            <a:endParaRPr sz="2500" dirty="0"/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 dirty="0"/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70" dirty="0"/>
              <a:t>And</a:t>
            </a:r>
            <a:r>
              <a:rPr sz="2500" spc="-100" dirty="0"/>
              <a:t> </a:t>
            </a:r>
            <a:r>
              <a:rPr sz="2500" dirty="0"/>
              <a:t>many</a:t>
            </a:r>
            <a:r>
              <a:rPr sz="2500" spc="-100" dirty="0"/>
              <a:t> </a:t>
            </a:r>
            <a:r>
              <a:rPr sz="2500" spc="-10" dirty="0"/>
              <a:t>more!</a:t>
            </a:r>
            <a:endParaRPr sz="250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</a:t>
            </a:r>
            <a:r>
              <a:rPr spc="-235" dirty="0"/>
              <a:t> few </a:t>
            </a:r>
            <a:r>
              <a:rPr spc="-200" dirty="0"/>
              <a:t>applications</a:t>
            </a:r>
            <a:r>
              <a:rPr spc="-229" dirty="0"/>
              <a:t> </a:t>
            </a:r>
            <a:r>
              <a:rPr spc="-170" dirty="0"/>
              <a:t>of</a:t>
            </a:r>
            <a:r>
              <a:rPr spc="-235" dirty="0"/>
              <a:t> </a:t>
            </a:r>
            <a:r>
              <a:rPr spc="-220" dirty="0"/>
              <a:t>machine</a:t>
            </a:r>
            <a:r>
              <a:rPr spc="-235" dirty="0"/>
              <a:t> </a:t>
            </a:r>
            <a:r>
              <a:rPr spc="-150" dirty="0"/>
              <a:t>learning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209644"/>
            <a:ext cx="11029315" cy="194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210" dirty="0">
                <a:latin typeface="Trebuchet MS"/>
                <a:cs typeface="Trebuchet MS"/>
              </a:rPr>
              <a:t>ML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systems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can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classified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according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amount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type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supervision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989965" lvl="1" indent="-4438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989965" algn="l"/>
              </a:tabLst>
            </a:pPr>
            <a:r>
              <a:rPr sz="2500" spc="-30" dirty="0">
                <a:solidFill>
                  <a:srgbClr val="0076BA"/>
                </a:solidFill>
                <a:latin typeface="Trebuchet MS"/>
                <a:cs typeface="Trebuchet MS"/>
              </a:rPr>
              <a:t>Supervised</a:t>
            </a:r>
            <a:r>
              <a:rPr sz="2500" spc="-160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0076BA"/>
                </a:solidFill>
                <a:latin typeface="Trebuchet MS"/>
                <a:cs typeface="Trebuchet MS"/>
              </a:rPr>
              <a:t>learning</a:t>
            </a:r>
            <a:r>
              <a:rPr sz="2500" spc="-60" dirty="0">
                <a:latin typeface="Trebuchet MS"/>
                <a:cs typeface="Trebuchet MS"/>
              </a:rPr>
              <a:t>: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set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includes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desired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solutions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labels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AutoNum type="arabicPeriod"/>
            </a:pPr>
            <a:endParaRPr sz="2500">
              <a:latin typeface="Trebuchet MS"/>
              <a:cs typeface="Trebuchet MS"/>
            </a:endParaRPr>
          </a:p>
          <a:p>
            <a:pPr marL="1155700" lvl="2" indent="-381000">
              <a:lnSpc>
                <a:spcPct val="100000"/>
              </a:lnSpc>
              <a:buSzPct val="122000"/>
              <a:buChar char="•"/>
              <a:tabLst>
                <a:tab pos="1155700" algn="l"/>
              </a:tabLst>
            </a:pPr>
            <a:r>
              <a:rPr sz="2500" spc="-55" dirty="0">
                <a:latin typeface="Trebuchet MS"/>
                <a:cs typeface="Trebuchet MS"/>
              </a:rPr>
              <a:t>Classification: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labels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classes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75" dirty="0">
                <a:latin typeface="Trebuchet MS"/>
                <a:cs typeface="Trebuchet MS"/>
              </a:rPr>
              <a:t>(e.g.,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spam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ham)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8600" y="5778785"/>
            <a:ext cx="80035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55" dirty="0">
                <a:latin typeface="Trebuchet MS"/>
                <a:cs typeface="Trebuchet MS"/>
              </a:rPr>
              <a:t>Regression: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labels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numeric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values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75" dirty="0">
                <a:latin typeface="Trebuchet MS"/>
                <a:cs typeface="Trebuchet MS"/>
              </a:rPr>
              <a:t>(e.g.,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price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car)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Types</a:t>
            </a:r>
            <a:r>
              <a:rPr spc="-229" dirty="0"/>
              <a:t> </a:t>
            </a:r>
            <a:r>
              <a:rPr spc="-175" dirty="0"/>
              <a:t>of</a:t>
            </a:r>
            <a:r>
              <a:rPr spc="-229" dirty="0"/>
              <a:t> </a:t>
            </a:r>
            <a:r>
              <a:rPr spc="-220" dirty="0"/>
              <a:t>machine</a:t>
            </a:r>
            <a:r>
              <a:rPr spc="-229" dirty="0"/>
              <a:t> </a:t>
            </a:r>
            <a:r>
              <a:rPr spc="-165" dirty="0"/>
              <a:t>learning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6654" y="3355952"/>
            <a:ext cx="6031490" cy="19997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9538" y="6261829"/>
            <a:ext cx="5525724" cy="281309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70000" y="1197313"/>
            <a:ext cx="10967720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6565" indent="-4438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AutoNum type="arabicPeriod" startAt="2"/>
              <a:tabLst>
                <a:tab pos="456565" algn="l"/>
              </a:tabLst>
            </a:pPr>
            <a:r>
              <a:rPr sz="2500" spc="-10" dirty="0">
                <a:solidFill>
                  <a:srgbClr val="0076BA"/>
                </a:solidFill>
                <a:latin typeface="Trebuchet MS"/>
                <a:cs typeface="Trebuchet MS"/>
              </a:rPr>
              <a:t>Unsupervised</a:t>
            </a:r>
            <a:r>
              <a:rPr sz="2500" spc="-125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0076BA"/>
                </a:solidFill>
                <a:latin typeface="Trebuchet MS"/>
                <a:cs typeface="Trebuchet MS"/>
              </a:rPr>
              <a:t>learning</a:t>
            </a:r>
            <a:r>
              <a:rPr sz="2500" spc="-60" dirty="0">
                <a:latin typeface="Trebuchet MS"/>
                <a:cs typeface="Trebuchet MS"/>
              </a:rPr>
              <a:t>: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210" dirty="0">
                <a:latin typeface="Trebuchet MS"/>
                <a:cs typeface="Trebuchet MS"/>
              </a:rPr>
              <a:t>ML</a:t>
            </a:r>
            <a:r>
              <a:rPr sz="2500" spc="-85" dirty="0">
                <a:latin typeface="Trebuchet MS"/>
                <a:cs typeface="Trebuchet MS"/>
              </a:rPr>
              <a:t> system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tries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learn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without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teacher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AutoNum type="arabicPeriod" startAt="2"/>
            </a:pPr>
            <a:endParaRPr sz="2500">
              <a:latin typeface="Trebuchet MS"/>
              <a:cs typeface="Trebuchet MS"/>
            </a:endParaRPr>
          </a:p>
          <a:p>
            <a:pPr marL="622300" lvl="1" indent="-381000">
              <a:lnSpc>
                <a:spcPct val="100000"/>
              </a:lnSpc>
              <a:buSzPct val="122000"/>
              <a:buChar char="•"/>
              <a:tabLst>
                <a:tab pos="622300" algn="l"/>
              </a:tabLst>
            </a:pPr>
            <a:r>
              <a:rPr sz="2500" spc="-85" dirty="0">
                <a:latin typeface="Trebuchet MS"/>
                <a:cs typeface="Trebuchet MS"/>
              </a:rPr>
              <a:t>For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example,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based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shopping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history,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detect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groups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similar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visitors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8600" y="5766455"/>
            <a:ext cx="107226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25" dirty="0">
                <a:latin typeface="Trebuchet MS"/>
                <a:cs typeface="Trebuchet MS"/>
              </a:rPr>
              <a:t>Another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example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novelty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detection: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find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new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instances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that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look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different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Types</a:t>
            </a:r>
            <a:r>
              <a:rPr spc="-229" dirty="0"/>
              <a:t> </a:t>
            </a:r>
            <a:r>
              <a:rPr spc="-175" dirty="0"/>
              <a:t>of</a:t>
            </a:r>
            <a:r>
              <a:rPr spc="-229" dirty="0"/>
              <a:t> </a:t>
            </a:r>
            <a:r>
              <a:rPr spc="-220" dirty="0"/>
              <a:t>machine</a:t>
            </a:r>
            <a:r>
              <a:rPr spc="-229" dirty="0"/>
              <a:t> </a:t>
            </a:r>
            <a:r>
              <a:rPr spc="-165" dirty="0"/>
              <a:t>learning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4429" y="2761220"/>
            <a:ext cx="5655941" cy="27284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5707" y="6224870"/>
            <a:ext cx="5973384" cy="295411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17600" y="1197313"/>
            <a:ext cx="10137140" cy="270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AutoNum type="arabicPeriod" startAt="3"/>
              <a:tabLst>
                <a:tab pos="365125" algn="l"/>
              </a:tabLst>
            </a:pPr>
            <a:r>
              <a:rPr sz="2500" spc="-35" dirty="0">
                <a:solidFill>
                  <a:srgbClr val="0076BA"/>
                </a:solidFill>
                <a:latin typeface="Trebuchet MS"/>
                <a:cs typeface="Trebuchet MS"/>
              </a:rPr>
              <a:t>Semisupervised</a:t>
            </a:r>
            <a:r>
              <a:rPr sz="2500" spc="-114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0076BA"/>
                </a:solidFill>
                <a:latin typeface="Trebuchet MS"/>
                <a:cs typeface="Trebuchet MS"/>
              </a:rPr>
              <a:t>learning</a:t>
            </a:r>
            <a:r>
              <a:rPr sz="2500" spc="-60" dirty="0">
                <a:latin typeface="Trebuchet MS"/>
                <a:cs typeface="Trebuchet MS"/>
              </a:rPr>
              <a:t>: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plenty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unlabeled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instances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few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labeled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AutoNum type="arabicPeriod" startAt="3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85" dirty="0">
                <a:latin typeface="Trebuchet MS"/>
                <a:cs typeface="Trebuchet MS"/>
              </a:rPr>
              <a:t>Why?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Labeling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costly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time-</a:t>
            </a:r>
            <a:r>
              <a:rPr sz="2500" spc="-10" dirty="0">
                <a:latin typeface="Trebuchet MS"/>
                <a:cs typeface="Trebuchet MS"/>
              </a:rPr>
              <a:t>consuming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30" dirty="0">
                <a:latin typeface="Trebuchet MS"/>
                <a:cs typeface="Trebuchet MS"/>
              </a:rPr>
              <a:t>Application: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Google</a:t>
            </a:r>
            <a:r>
              <a:rPr sz="2500" spc="-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Photo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95" dirty="0">
                <a:latin typeface="Trebuchet MS"/>
                <a:cs typeface="Trebuchet MS"/>
              </a:rPr>
              <a:t>Tools: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Amazon</a:t>
            </a:r>
            <a:r>
              <a:rPr sz="2500" spc="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SageMaker</a:t>
            </a:r>
            <a:r>
              <a:rPr sz="2500" spc="3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Ground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Truth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0000" y="7289501"/>
            <a:ext cx="10147300" cy="152336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457200" marR="5080" indent="-444500">
              <a:lnSpc>
                <a:spcPts val="2800"/>
              </a:lnSpc>
              <a:spcBef>
                <a:spcPts val="359"/>
              </a:spcBef>
              <a:buClr>
                <a:srgbClr val="000000"/>
              </a:buClr>
              <a:buAutoNum type="arabicPeriod" startAt="4"/>
              <a:tabLst>
                <a:tab pos="457200" algn="l"/>
              </a:tabLst>
            </a:pPr>
            <a:r>
              <a:rPr sz="2500" spc="-70" dirty="0">
                <a:solidFill>
                  <a:srgbClr val="0076BA"/>
                </a:solidFill>
                <a:latin typeface="Trebuchet MS"/>
                <a:cs typeface="Trebuchet MS"/>
              </a:rPr>
              <a:t>Reinforcement</a:t>
            </a:r>
            <a:r>
              <a:rPr sz="2500" spc="-90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0076BA"/>
                </a:solidFill>
                <a:latin typeface="Trebuchet MS"/>
                <a:cs typeface="Trebuchet MS"/>
              </a:rPr>
              <a:t>learning</a:t>
            </a:r>
            <a:r>
              <a:rPr sz="2500" spc="-60" dirty="0">
                <a:latin typeface="Trebuchet MS"/>
                <a:cs typeface="Trebuchet MS"/>
              </a:rPr>
              <a:t>: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select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perform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actions,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50" dirty="0">
                <a:latin typeface="Trebuchet MS"/>
                <a:cs typeface="Trebuchet MS"/>
              </a:rPr>
              <a:t>get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rewards </a:t>
            </a:r>
            <a:r>
              <a:rPr sz="2500" spc="-25" dirty="0">
                <a:latin typeface="Trebuchet MS"/>
                <a:cs typeface="Trebuchet MS"/>
              </a:rPr>
              <a:t>or </a:t>
            </a:r>
            <a:r>
              <a:rPr sz="2500" spc="-75" dirty="0">
                <a:latin typeface="Trebuchet MS"/>
                <a:cs typeface="Trebuchet MS"/>
              </a:rPr>
              <a:t>penalties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return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rebuchet MS"/>
              <a:buAutoNum type="arabicPeriod" startAt="4"/>
            </a:pPr>
            <a:endParaRPr sz="2500">
              <a:latin typeface="Trebuchet MS"/>
              <a:cs typeface="Trebuchet MS"/>
            </a:endParaRPr>
          </a:p>
          <a:p>
            <a:pPr marL="774065" lvl="1" indent="-227965">
              <a:lnSpc>
                <a:spcPct val="100000"/>
              </a:lnSpc>
              <a:spcBef>
                <a:spcPts val="5"/>
              </a:spcBef>
              <a:buChar char="•"/>
              <a:tabLst>
                <a:tab pos="774065" algn="l"/>
              </a:tabLst>
            </a:pPr>
            <a:r>
              <a:rPr sz="2500" dirty="0">
                <a:latin typeface="Trebuchet MS"/>
                <a:cs typeface="Trebuchet MS"/>
              </a:rPr>
              <a:t>Find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best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strategy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known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policy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50" dirty="0">
                <a:latin typeface="Trebuchet MS"/>
                <a:cs typeface="Trebuchet MS"/>
              </a:rPr>
              <a:t>get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most </a:t>
            </a:r>
            <a:r>
              <a:rPr sz="2500" spc="-10" dirty="0">
                <a:latin typeface="Trebuchet MS"/>
                <a:cs typeface="Trebuchet MS"/>
              </a:rPr>
              <a:t>reward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Types</a:t>
            </a:r>
            <a:r>
              <a:rPr spc="-229" dirty="0"/>
              <a:t> </a:t>
            </a:r>
            <a:r>
              <a:rPr spc="-175" dirty="0"/>
              <a:t>of</a:t>
            </a:r>
            <a:r>
              <a:rPr spc="-229" dirty="0"/>
              <a:t> </a:t>
            </a:r>
            <a:r>
              <a:rPr spc="-220" dirty="0"/>
              <a:t>machine</a:t>
            </a:r>
            <a:r>
              <a:rPr spc="-229" dirty="0"/>
              <a:t> </a:t>
            </a:r>
            <a:r>
              <a:rPr spc="-165" dirty="0"/>
              <a:t>learning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9653" y="4213909"/>
            <a:ext cx="5885492" cy="287676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204500"/>
            <a:ext cx="10991215" cy="416306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marR="568960" indent="-228600">
              <a:lnSpc>
                <a:spcPts val="2800"/>
              </a:lnSpc>
              <a:spcBef>
                <a:spcPts val="360"/>
              </a:spcBef>
              <a:buClr>
                <a:srgbClr val="000000"/>
              </a:buClr>
              <a:buAutoNum type="arabicPeriod"/>
              <a:tabLst>
                <a:tab pos="241300" algn="l"/>
                <a:tab pos="365125" algn="l"/>
              </a:tabLst>
            </a:pPr>
            <a:r>
              <a:rPr sz="2500" spc="-35" dirty="0">
                <a:solidFill>
                  <a:srgbClr val="0076BA"/>
                </a:solidFill>
                <a:latin typeface="Trebuchet MS"/>
                <a:cs typeface="Trebuchet MS"/>
              </a:rPr>
              <a:t>	Batch</a:t>
            </a:r>
            <a:r>
              <a:rPr sz="2500" spc="-155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35" dirty="0">
                <a:solidFill>
                  <a:srgbClr val="0076BA"/>
                </a:solidFill>
                <a:latin typeface="Trebuchet MS"/>
                <a:cs typeface="Trebuchet MS"/>
              </a:rPr>
              <a:t>learning</a:t>
            </a:r>
            <a:r>
              <a:rPr sz="2500" spc="-150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76BA"/>
                </a:solidFill>
                <a:latin typeface="Trebuchet MS"/>
                <a:cs typeface="Trebuchet MS"/>
              </a:rPr>
              <a:t>or</a:t>
            </a:r>
            <a:r>
              <a:rPr sz="2500" spc="-135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80" dirty="0">
                <a:solidFill>
                  <a:srgbClr val="0076BA"/>
                </a:solidFill>
                <a:latin typeface="Trebuchet MS"/>
                <a:cs typeface="Trebuchet MS"/>
              </a:rPr>
              <a:t>offline</a:t>
            </a:r>
            <a:r>
              <a:rPr sz="2500" spc="-110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0076BA"/>
                </a:solidFill>
                <a:latin typeface="Trebuchet MS"/>
                <a:cs typeface="Trebuchet MS"/>
              </a:rPr>
              <a:t>learning</a:t>
            </a:r>
            <a:r>
              <a:rPr sz="2500" spc="-60" dirty="0">
                <a:latin typeface="Trebuchet MS"/>
                <a:cs typeface="Trebuchet MS"/>
              </a:rPr>
              <a:t>: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system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must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trained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using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all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the </a:t>
            </a:r>
            <a:r>
              <a:rPr sz="2500" spc="-55" dirty="0">
                <a:latin typeface="Trebuchet MS"/>
                <a:cs typeface="Trebuchet MS"/>
              </a:rPr>
              <a:t>available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rebuchet MS"/>
              <a:buAutoNum type="arabicPeriod"/>
            </a:pPr>
            <a:endParaRPr sz="2500">
              <a:latin typeface="Trebuchet MS"/>
              <a:cs typeface="Trebuchet MS"/>
            </a:endParaRPr>
          </a:p>
          <a:p>
            <a:pPr marL="709930" lvl="1" indent="-316230">
              <a:lnSpc>
                <a:spcPct val="100000"/>
              </a:lnSpc>
              <a:spcBef>
                <a:spcPts val="5"/>
              </a:spcBef>
              <a:buChar char="•"/>
              <a:tabLst>
                <a:tab pos="709930" algn="l"/>
              </a:tabLst>
            </a:pPr>
            <a:r>
              <a:rPr sz="2500" spc="-10" dirty="0">
                <a:latin typeface="Trebuchet MS"/>
                <a:cs typeface="Trebuchet MS"/>
              </a:rPr>
              <a:t>Drawbacks: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1002665" lvl="2" indent="-227965">
              <a:lnSpc>
                <a:spcPct val="100000"/>
              </a:lnSpc>
              <a:buChar char="•"/>
              <a:tabLst>
                <a:tab pos="1002665" algn="l"/>
              </a:tabLst>
            </a:pPr>
            <a:r>
              <a:rPr sz="2500" spc="-130" dirty="0">
                <a:latin typeface="Trebuchet MS"/>
                <a:cs typeface="Trebuchet MS"/>
              </a:rPr>
              <a:t>Take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lot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time,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computing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resources,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storage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space</a:t>
            </a:r>
            <a:endParaRPr sz="250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1090930" lvl="2" indent="-316230">
              <a:lnSpc>
                <a:spcPct val="100000"/>
              </a:lnSpc>
              <a:buChar char="•"/>
              <a:tabLst>
                <a:tab pos="1090930" algn="l"/>
              </a:tabLst>
            </a:pPr>
            <a:r>
              <a:rPr sz="2500" dirty="0">
                <a:latin typeface="Trebuchet MS"/>
                <a:cs typeface="Trebuchet MS"/>
              </a:rPr>
              <a:t>Not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suitable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for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rapidly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changing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35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241300" marR="5080" indent="-228600">
              <a:lnSpc>
                <a:spcPts val="2800"/>
              </a:lnSpc>
              <a:spcBef>
                <a:spcPts val="5"/>
              </a:spcBef>
              <a:buClr>
                <a:srgbClr val="000000"/>
              </a:buClr>
              <a:buAutoNum type="arabicPeriod"/>
              <a:tabLst>
                <a:tab pos="241300" algn="l"/>
                <a:tab pos="365125" algn="l"/>
              </a:tabLst>
            </a:pPr>
            <a:r>
              <a:rPr sz="2500" spc="-70" dirty="0">
                <a:solidFill>
                  <a:srgbClr val="0076BA"/>
                </a:solidFill>
                <a:latin typeface="Trebuchet MS"/>
                <a:cs typeface="Trebuchet MS"/>
              </a:rPr>
              <a:t>	Incremental</a:t>
            </a:r>
            <a:r>
              <a:rPr sz="2500" spc="-120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0076BA"/>
                </a:solidFill>
                <a:latin typeface="Trebuchet MS"/>
                <a:cs typeface="Trebuchet MS"/>
              </a:rPr>
              <a:t>learning</a:t>
            </a:r>
            <a:r>
              <a:rPr sz="2500" spc="-60" dirty="0">
                <a:latin typeface="Trebuchet MS"/>
                <a:cs typeface="Trebuchet MS"/>
              </a:rPr>
              <a:t>: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train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system </a:t>
            </a:r>
            <a:r>
              <a:rPr sz="2500" spc="-55" dirty="0">
                <a:latin typeface="Trebuchet MS"/>
                <a:cs typeface="Trebuchet MS"/>
              </a:rPr>
              <a:t>incrementally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by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feeding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instances sequentially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Another</a:t>
            </a:r>
            <a:r>
              <a:rPr spc="-225" dirty="0"/>
              <a:t> </a:t>
            </a:r>
            <a:r>
              <a:rPr spc="-200" dirty="0"/>
              <a:t>categorization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9849" y="5346239"/>
            <a:ext cx="7257223" cy="35994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017885" cy="7620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marR="5080" indent="-228600">
              <a:lnSpc>
                <a:spcPts val="2800"/>
              </a:lnSpc>
              <a:spcBef>
                <a:spcPts val="360"/>
              </a:spcBef>
            </a:pPr>
            <a:r>
              <a:rPr sz="2500" spc="-30" dirty="0">
                <a:latin typeface="Trebuchet MS"/>
                <a:cs typeface="Trebuchet MS"/>
              </a:rPr>
              <a:t>1.</a:t>
            </a:r>
            <a:r>
              <a:rPr sz="2500" spc="-160" dirty="0">
                <a:latin typeface="Trebuchet MS"/>
                <a:cs typeface="Trebuchet MS"/>
              </a:rPr>
              <a:t> </a:t>
            </a:r>
            <a:r>
              <a:rPr sz="2500" spc="-65" dirty="0">
                <a:solidFill>
                  <a:srgbClr val="0076BA"/>
                </a:solidFill>
                <a:latin typeface="Trebuchet MS"/>
                <a:cs typeface="Trebuchet MS"/>
              </a:rPr>
              <a:t>Instance-</a:t>
            </a:r>
            <a:r>
              <a:rPr sz="2500" spc="-55" dirty="0">
                <a:solidFill>
                  <a:srgbClr val="0076BA"/>
                </a:solidFill>
                <a:latin typeface="Trebuchet MS"/>
                <a:cs typeface="Trebuchet MS"/>
              </a:rPr>
              <a:t>based</a:t>
            </a:r>
            <a:r>
              <a:rPr sz="2500" spc="-105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0076BA"/>
                </a:solidFill>
                <a:latin typeface="Trebuchet MS"/>
                <a:cs typeface="Trebuchet MS"/>
              </a:rPr>
              <a:t>learning</a:t>
            </a:r>
            <a:r>
              <a:rPr sz="2500" spc="-60" dirty="0">
                <a:latin typeface="Trebuchet MS"/>
                <a:cs typeface="Trebuchet MS"/>
              </a:rPr>
              <a:t>: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system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uses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similarity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measure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compare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new </a:t>
            </a:r>
            <a:r>
              <a:rPr sz="2500" spc="-50" dirty="0">
                <a:latin typeface="Trebuchet MS"/>
                <a:cs typeface="Trebuchet MS"/>
              </a:rPr>
              <a:t>cases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learned </a:t>
            </a:r>
            <a:r>
              <a:rPr sz="2500" spc="-10" dirty="0">
                <a:latin typeface="Trebuchet MS"/>
                <a:cs typeface="Trebuchet MS"/>
              </a:rPr>
              <a:t>examples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5360055"/>
            <a:ext cx="11231245" cy="7620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marR="5080" indent="-228600">
              <a:lnSpc>
                <a:spcPts val="2800"/>
              </a:lnSpc>
              <a:spcBef>
                <a:spcPts val="360"/>
              </a:spcBef>
            </a:pPr>
            <a:r>
              <a:rPr sz="2500" spc="-30" dirty="0">
                <a:latin typeface="Trebuchet MS"/>
                <a:cs typeface="Trebuchet MS"/>
              </a:rPr>
              <a:t>6.</a:t>
            </a:r>
            <a:r>
              <a:rPr sz="2500" spc="-160" dirty="0"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0076BA"/>
                </a:solidFill>
                <a:latin typeface="Trebuchet MS"/>
                <a:cs typeface="Trebuchet MS"/>
              </a:rPr>
              <a:t>Model-based</a:t>
            </a:r>
            <a:r>
              <a:rPr sz="2500" spc="-114" dirty="0">
                <a:solidFill>
                  <a:srgbClr val="0076BA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0076BA"/>
                </a:solidFill>
                <a:latin typeface="Trebuchet MS"/>
                <a:cs typeface="Trebuchet MS"/>
              </a:rPr>
              <a:t>learning</a:t>
            </a:r>
            <a:r>
              <a:rPr sz="2500" spc="-60" dirty="0">
                <a:latin typeface="Trebuchet MS"/>
                <a:cs typeface="Trebuchet MS"/>
              </a:rPr>
              <a:t>: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build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learned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examples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then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use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that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make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predictions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Another</a:t>
            </a:r>
            <a:r>
              <a:rPr spc="-225" dirty="0"/>
              <a:t> </a:t>
            </a:r>
            <a:r>
              <a:rPr spc="-200" dirty="0"/>
              <a:t>categorization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7585" y="2405283"/>
            <a:ext cx="5649629" cy="27380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7585" y="6263747"/>
            <a:ext cx="5649629" cy="285613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52412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65" dirty="0">
                <a:latin typeface="Trebuchet MS"/>
                <a:cs typeface="Trebuchet MS"/>
              </a:rPr>
              <a:t>Does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money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make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people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happier?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4243407"/>
            <a:ext cx="8082915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45" dirty="0">
                <a:latin typeface="Trebuchet MS"/>
                <a:cs typeface="Trebuchet MS"/>
              </a:rPr>
              <a:t>Let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us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life </a:t>
            </a:r>
            <a:r>
              <a:rPr sz="2500" spc="-85" dirty="0">
                <a:latin typeface="Trebuchet MS"/>
                <a:cs typeface="Trebuchet MS"/>
              </a:rPr>
              <a:t>satisfaction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function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190" dirty="0">
                <a:latin typeface="Trebuchet MS"/>
                <a:cs typeface="Trebuchet MS"/>
              </a:rPr>
              <a:t>GDP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190" dirty="0">
                <a:latin typeface="Trebuchet MS"/>
                <a:cs typeface="Trebuchet MS"/>
              </a:rPr>
              <a:t>A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simple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600" y="6527978"/>
            <a:ext cx="16941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45" dirty="0">
                <a:latin typeface="Trebuchet MS"/>
                <a:cs typeface="Trebuchet MS"/>
              </a:rPr>
              <a:t>Examples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Model-</a:t>
            </a:r>
            <a:r>
              <a:rPr spc="-155" dirty="0"/>
              <a:t>based</a:t>
            </a:r>
            <a:r>
              <a:rPr spc="-170" dirty="0"/>
              <a:t> </a:t>
            </a:r>
            <a:r>
              <a:rPr spc="-185" dirty="0"/>
              <a:t>learning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5382" y="1734356"/>
            <a:ext cx="4514949" cy="22502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4070" y="1669061"/>
            <a:ext cx="4671663" cy="25622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9291" y="5815696"/>
            <a:ext cx="4671663" cy="3783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6846" y="6333787"/>
            <a:ext cx="4671663" cy="274671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30359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190" dirty="0">
                <a:latin typeface="Trebuchet MS"/>
                <a:cs typeface="Trebuchet MS"/>
              </a:rPr>
              <a:t>A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few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lines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code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Training</a:t>
            </a:r>
            <a:r>
              <a:rPr spc="-215" dirty="0"/>
              <a:t> </a:t>
            </a:r>
            <a:r>
              <a:rPr spc="-150" dirty="0"/>
              <a:t>a</a:t>
            </a:r>
            <a:r>
              <a:rPr spc="-210" dirty="0"/>
              <a:t> </a:t>
            </a:r>
            <a:r>
              <a:rPr spc="-220" dirty="0"/>
              <a:t>linear</a:t>
            </a:r>
            <a:r>
              <a:rPr spc="-210" dirty="0"/>
              <a:t> </a:t>
            </a:r>
            <a:r>
              <a:rPr spc="-195" dirty="0"/>
              <a:t>model</a:t>
            </a:r>
            <a:r>
              <a:rPr spc="-215" dirty="0"/>
              <a:t> </a:t>
            </a:r>
            <a:r>
              <a:rPr spc="-185" dirty="0"/>
              <a:t>using</a:t>
            </a:r>
            <a:r>
              <a:rPr spc="-210" dirty="0"/>
              <a:t> Scikit-</a:t>
            </a:r>
            <a:r>
              <a:rPr spc="-265" dirty="0"/>
              <a:t>Learn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320" y="2176754"/>
            <a:ext cx="6703509" cy="26195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1487" y="5247501"/>
            <a:ext cx="5661825" cy="326798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6600" y="2603016"/>
            <a:ext cx="7394575" cy="270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50" dirty="0">
                <a:latin typeface="Trebuchet MS"/>
                <a:cs typeface="Trebuchet MS"/>
              </a:rPr>
              <a:t>Study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(data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preparation)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90" dirty="0">
                <a:latin typeface="Trebuchet MS"/>
                <a:cs typeface="Trebuchet MS"/>
              </a:rPr>
              <a:t>Select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learning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algorithm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95" dirty="0">
                <a:latin typeface="Trebuchet MS"/>
                <a:cs typeface="Trebuchet MS"/>
              </a:rPr>
              <a:t>Train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available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assess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performance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Apply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make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predictions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new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cases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Summary</a:t>
            </a:r>
            <a:r>
              <a:rPr spc="-210" dirty="0"/>
              <a:t> </a:t>
            </a:r>
            <a:r>
              <a:rPr spc="-170" dirty="0"/>
              <a:t>of</a:t>
            </a:r>
            <a:r>
              <a:rPr spc="-204" dirty="0"/>
              <a:t> </a:t>
            </a:r>
            <a:r>
              <a:rPr spc="-305" dirty="0"/>
              <a:t>steps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468590"/>
            <a:ext cx="7151370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75" dirty="0">
                <a:latin typeface="Trebuchet MS"/>
                <a:cs typeface="Trebuchet MS"/>
              </a:rPr>
              <a:t>Insufficient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quantity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-85" dirty="0">
                <a:latin typeface="Trebuchet MS"/>
                <a:cs typeface="Trebuchet MS"/>
              </a:rPr>
              <a:t>Non-</a:t>
            </a:r>
            <a:r>
              <a:rPr sz="2500" spc="-70" dirty="0">
                <a:latin typeface="Trebuchet MS"/>
                <a:cs typeface="Trebuchet MS"/>
              </a:rPr>
              <a:t>representative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poor-</a:t>
            </a:r>
            <a:r>
              <a:rPr sz="2500" spc="-45" dirty="0">
                <a:latin typeface="Trebuchet MS"/>
                <a:cs typeface="Trebuchet MS"/>
              </a:rPr>
              <a:t>quality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6799254"/>
            <a:ext cx="81451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00" dirty="0">
                <a:latin typeface="Trebuchet MS"/>
                <a:cs typeface="Trebuchet MS"/>
              </a:rPr>
              <a:t>Irrelevant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features: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coming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up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with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good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set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features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Challenges</a:t>
            </a:r>
            <a:r>
              <a:rPr spc="-229" dirty="0"/>
              <a:t> </a:t>
            </a:r>
            <a:r>
              <a:rPr spc="-170" dirty="0"/>
              <a:t>of</a:t>
            </a:r>
            <a:r>
              <a:rPr spc="-225" dirty="0"/>
              <a:t> </a:t>
            </a:r>
            <a:r>
              <a:rPr spc="-220" dirty="0"/>
              <a:t>machine</a:t>
            </a:r>
            <a:r>
              <a:rPr spc="-229" dirty="0"/>
              <a:t> </a:t>
            </a:r>
            <a:r>
              <a:rPr spc="-170" dirty="0"/>
              <a:t>learning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0029" y="3301655"/>
            <a:ext cx="7404741" cy="259347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207115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60" dirty="0">
                <a:latin typeface="Trebuchet MS"/>
                <a:cs typeface="Trebuchet MS"/>
              </a:rPr>
              <a:t>Overfitting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75" dirty="0">
                <a:latin typeface="Trebuchet MS"/>
                <a:cs typeface="Trebuchet MS"/>
              </a:rPr>
              <a:t>When</a:t>
            </a:r>
            <a:r>
              <a:rPr sz="2500" spc="-19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too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complex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relative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amount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noisiness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600" y="5766455"/>
            <a:ext cx="7418705" cy="270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130" dirty="0">
                <a:latin typeface="Trebuchet MS"/>
                <a:cs typeface="Trebuchet MS"/>
              </a:rPr>
              <a:t>How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alleviate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this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problem?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25" dirty="0">
                <a:latin typeface="Trebuchet MS"/>
                <a:cs typeface="Trebuchet MS"/>
              </a:rPr>
              <a:t>Simplify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60" dirty="0">
                <a:latin typeface="Trebuchet MS"/>
                <a:cs typeface="Trebuchet MS"/>
              </a:rPr>
              <a:t>Gather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more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10" dirty="0">
                <a:latin typeface="Trebuchet MS"/>
                <a:cs typeface="Trebuchet MS"/>
              </a:rPr>
              <a:t>Reduce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noise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outliers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80" dirty="0">
                <a:latin typeface="Trebuchet MS"/>
                <a:cs typeface="Trebuchet MS"/>
              </a:rPr>
              <a:t>(i.e.,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preparation)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Challenges</a:t>
            </a:r>
            <a:r>
              <a:rPr spc="-229" dirty="0"/>
              <a:t> </a:t>
            </a:r>
            <a:r>
              <a:rPr spc="-170" dirty="0"/>
              <a:t>of</a:t>
            </a:r>
            <a:r>
              <a:rPr spc="-225" dirty="0"/>
              <a:t> </a:t>
            </a:r>
            <a:r>
              <a:rPr spc="-220" dirty="0"/>
              <a:t>machine</a:t>
            </a:r>
            <a:r>
              <a:rPr spc="-229" dirty="0"/>
              <a:t> </a:t>
            </a:r>
            <a:r>
              <a:rPr spc="-170" dirty="0"/>
              <a:t>learning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9687" y="2580398"/>
            <a:ext cx="11440422" cy="298576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335385" cy="341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50" dirty="0">
                <a:latin typeface="Trebuchet MS"/>
                <a:cs typeface="Trebuchet MS"/>
              </a:rPr>
              <a:t>Use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subset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regularization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marR="476884" lvl="1" indent="-381000">
              <a:lnSpc>
                <a:spcPts val="28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55" dirty="0">
                <a:latin typeface="Trebuchet MS"/>
                <a:cs typeface="Trebuchet MS"/>
              </a:rPr>
              <a:t>Regularization: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balance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between </a:t>
            </a:r>
            <a:r>
              <a:rPr sz="2500" spc="-125" dirty="0">
                <a:latin typeface="Trebuchet MS"/>
                <a:cs typeface="Trebuchet MS"/>
              </a:rPr>
              <a:t>fitting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perfectly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keeping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the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simple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enough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2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marR="5080" lvl="1" indent="-381000">
              <a:lnSpc>
                <a:spcPts val="2800"/>
              </a:lnSpc>
              <a:buSzPct val="122000"/>
              <a:buChar char="•"/>
              <a:tabLst>
                <a:tab pos="774700" algn="l"/>
              </a:tabLst>
            </a:pPr>
            <a:r>
              <a:rPr sz="2500" dirty="0">
                <a:latin typeface="Trebuchet MS"/>
                <a:cs typeface="Trebuchet MS"/>
              </a:rPr>
              <a:t>Amount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regularization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controlled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by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hyperparameter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(must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set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prior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learning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remains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constant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during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training)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35" dirty="0">
                <a:latin typeface="Trebuchet MS"/>
                <a:cs typeface="Trebuchet MS"/>
              </a:rPr>
              <a:t>Tuning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hyperparameters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extremely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important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Example</a:t>
            </a:r>
            <a:r>
              <a:rPr spc="-210" dirty="0"/>
              <a:t> </a:t>
            </a:r>
            <a:r>
              <a:rPr spc="-170" dirty="0"/>
              <a:t>of</a:t>
            </a:r>
            <a:r>
              <a:rPr spc="-210" dirty="0"/>
              <a:t> </a:t>
            </a:r>
            <a:r>
              <a:rPr spc="-190" dirty="0"/>
              <a:t>reducing</a:t>
            </a:r>
            <a:r>
              <a:rPr spc="-210" dirty="0"/>
              <a:t> </a:t>
            </a:r>
            <a:r>
              <a:rPr spc="-220" dirty="0"/>
              <a:t>overfitting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1771" y="5243711"/>
            <a:ext cx="8621259" cy="297236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65327" y="141499"/>
            <a:ext cx="25330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E5E5E"/>
                </a:solidFill>
                <a:latin typeface="Trebuchet MS"/>
                <a:cs typeface="Trebuchet MS"/>
              </a:rPr>
              <a:t>Machine</a:t>
            </a:r>
            <a:r>
              <a:rPr sz="1500" spc="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5E5E5E"/>
                </a:solidFill>
                <a:latin typeface="Trebuchet MS"/>
                <a:cs typeface="Trebuchet MS"/>
              </a:rPr>
              <a:t>Learning,</a:t>
            </a:r>
            <a:r>
              <a:rPr sz="1500" spc="30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5E5E5E"/>
                </a:solidFill>
                <a:latin typeface="Trebuchet MS"/>
                <a:cs typeface="Trebuchet MS"/>
              </a:rPr>
              <a:t>Pourkamali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4899025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60" dirty="0">
                <a:latin typeface="Trebuchet MS"/>
                <a:cs typeface="Trebuchet MS"/>
              </a:rPr>
              <a:t>Underfitting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 </a:t>
            </a:r>
            <a:r>
              <a:rPr sz="2500" spc="-20" dirty="0"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75" dirty="0">
                <a:latin typeface="Trebuchet MS"/>
                <a:cs typeface="Trebuchet MS"/>
              </a:rPr>
              <a:t>When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too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simple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600" y="5766455"/>
            <a:ext cx="8330565" cy="194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130" dirty="0">
                <a:latin typeface="Trebuchet MS"/>
                <a:cs typeface="Trebuchet MS"/>
              </a:rPr>
              <a:t>How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solve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this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problem?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90" dirty="0">
                <a:latin typeface="Trebuchet MS"/>
                <a:cs typeface="Trebuchet MS"/>
              </a:rPr>
              <a:t>Select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more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powerful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10" dirty="0">
                <a:latin typeface="Trebuchet MS"/>
                <a:cs typeface="Trebuchet MS"/>
              </a:rPr>
              <a:t>Reduce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constraints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such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as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regularization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Challenges</a:t>
            </a:r>
            <a:r>
              <a:rPr spc="-229" dirty="0"/>
              <a:t> </a:t>
            </a:r>
            <a:r>
              <a:rPr spc="-170" dirty="0"/>
              <a:t>of</a:t>
            </a:r>
            <a:r>
              <a:rPr spc="-225" dirty="0"/>
              <a:t> </a:t>
            </a:r>
            <a:r>
              <a:rPr spc="-220" dirty="0"/>
              <a:t>machine</a:t>
            </a:r>
            <a:r>
              <a:rPr spc="-229" dirty="0"/>
              <a:t> </a:t>
            </a:r>
            <a:r>
              <a:rPr spc="-170" dirty="0"/>
              <a:t>learning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5194" y="2963877"/>
            <a:ext cx="5798416" cy="27735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65327" y="141499"/>
            <a:ext cx="25330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E5E5E"/>
                </a:solidFill>
                <a:latin typeface="Trebuchet MS"/>
                <a:cs typeface="Trebuchet MS"/>
              </a:rPr>
              <a:t>Machine</a:t>
            </a:r>
            <a:r>
              <a:rPr sz="1500" spc="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5E5E5E"/>
                </a:solidFill>
                <a:latin typeface="Trebuchet MS"/>
                <a:cs typeface="Trebuchet MS"/>
              </a:rPr>
              <a:t>Learning,</a:t>
            </a:r>
            <a:r>
              <a:rPr sz="1500" spc="30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5E5E5E"/>
                </a:solidFill>
                <a:latin typeface="Trebuchet MS"/>
                <a:cs typeface="Trebuchet MS"/>
              </a:rPr>
              <a:t>Pourkamali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1197313"/>
            <a:ext cx="11500485" cy="417766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93700" marR="5080" indent="-381000">
              <a:lnSpc>
                <a:spcPts val="2800"/>
              </a:lnSpc>
              <a:spcBef>
                <a:spcPts val="36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85" dirty="0">
                <a:latin typeface="Trebuchet MS"/>
                <a:cs typeface="Trebuchet MS"/>
              </a:rPr>
              <a:t>The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only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way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know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how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will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generalize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new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cases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actually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try </a:t>
            </a:r>
            <a:r>
              <a:rPr sz="2500" spc="-170" dirty="0">
                <a:latin typeface="Trebuchet MS"/>
                <a:cs typeface="Trebuchet MS"/>
              </a:rPr>
              <a:t>it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out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new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cases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50" dirty="0">
                <a:latin typeface="Trebuchet MS"/>
                <a:cs typeface="Trebuchet MS"/>
              </a:rPr>
              <a:t>Split</a:t>
            </a:r>
            <a:r>
              <a:rPr sz="2500" spc="-140" dirty="0">
                <a:latin typeface="Trebuchet MS"/>
                <a:cs typeface="Trebuchet MS"/>
              </a:rPr>
              <a:t> 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available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data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into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two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55" dirty="0">
                <a:latin typeface="Trebuchet MS"/>
                <a:cs typeface="Trebuchet MS"/>
              </a:rPr>
              <a:t>sets: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training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set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testing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set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marR="678180" lvl="1" indent="-381000">
              <a:lnSpc>
                <a:spcPts val="28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85" dirty="0">
                <a:latin typeface="Trebuchet MS"/>
                <a:cs typeface="Trebuchet MS"/>
              </a:rPr>
              <a:t>The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error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on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test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set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called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generalization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error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75" dirty="0">
                <a:latin typeface="Trebuchet MS"/>
                <a:cs typeface="Trebuchet MS"/>
              </a:rPr>
              <a:t> out-</a:t>
            </a:r>
            <a:r>
              <a:rPr sz="2500" spc="-70" dirty="0">
                <a:latin typeface="Trebuchet MS"/>
                <a:cs typeface="Trebuchet MS"/>
              </a:rPr>
              <a:t>of-</a:t>
            </a:r>
            <a:r>
              <a:rPr sz="2500" spc="-10" dirty="0">
                <a:latin typeface="Trebuchet MS"/>
                <a:cs typeface="Trebuchet MS"/>
              </a:rPr>
              <a:t>sample error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spc="-120" dirty="0">
                <a:latin typeface="Trebuchet MS"/>
                <a:cs typeface="Trebuchet MS"/>
              </a:rPr>
              <a:t>If</a:t>
            </a:r>
            <a:r>
              <a:rPr sz="2500" spc="-70" dirty="0">
                <a:latin typeface="Trebuchet MS"/>
                <a:cs typeface="Trebuchet MS"/>
              </a:rPr>
              <a:t> training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error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low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generalization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error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high,</a:t>
            </a:r>
            <a:r>
              <a:rPr sz="2500" spc="-80" dirty="0">
                <a:latin typeface="Trebuchet MS"/>
                <a:cs typeface="Trebuchet MS"/>
              </a:rPr>
              <a:t> then </a:t>
            </a:r>
            <a:r>
              <a:rPr sz="2500" spc="-105" dirty="0">
                <a:latin typeface="Trebuchet MS"/>
                <a:cs typeface="Trebuchet MS"/>
              </a:rPr>
              <a:t>overfitting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occurs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130" dirty="0">
                <a:latin typeface="Trebuchet MS"/>
                <a:cs typeface="Trebuchet MS"/>
              </a:rPr>
              <a:t>How</a:t>
            </a:r>
            <a:r>
              <a:rPr sz="2500" spc="-13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to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choose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suitable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models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their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hyperparameters?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80" dirty="0"/>
              <a:t>T</a:t>
            </a:r>
            <a:r>
              <a:rPr spc="-250" dirty="0"/>
              <a:t>e</a:t>
            </a:r>
            <a:r>
              <a:rPr spc="-245" dirty="0"/>
              <a:t>s</a:t>
            </a:r>
            <a:r>
              <a:rPr spc="-254" dirty="0"/>
              <a:t>t</a:t>
            </a:r>
            <a:r>
              <a:rPr spc="-245" dirty="0"/>
              <a:t>in</a:t>
            </a:r>
            <a:r>
              <a:rPr spc="-155" dirty="0"/>
              <a:t>g</a:t>
            </a:r>
            <a:r>
              <a:rPr spc="-235" dirty="0"/>
              <a:t> </a:t>
            </a:r>
            <a:r>
              <a:rPr spc="-180" dirty="0"/>
              <a:t>and</a:t>
            </a:r>
            <a:r>
              <a:rPr spc="-235" dirty="0"/>
              <a:t> </a:t>
            </a:r>
            <a:r>
              <a:rPr spc="-175" dirty="0"/>
              <a:t>validation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3382" y="5967761"/>
            <a:ext cx="6038035" cy="18972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0" spc="-114" dirty="0">
                <a:latin typeface="Trebuchet MS"/>
                <a:cs typeface="Trebuchet MS"/>
              </a:rPr>
              <a:t>Basics</a:t>
            </a:r>
            <a:r>
              <a:rPr sz="5000" b="0" spc="-295" dirty="0">
                <a:latin typeface="Trebuchet MS"/>
                <a:cs typeface="Trebuchet MS"/>
              </a:rPr>
              <a:t> </a:t>
            </a:r>
            <a:r>
              <a:rPr sz="5000" b="0" spc="-254" dirty="0">
                <a:latin typeface="Trebuchet MS"/>
                <a:cs typeface="Trebuchet MS"/>
              </a:rPr>
              <a:t>of</a:t>
            </a:r>
            <a:r>
              <a:rPr sz="5000" b="0" spc="-290" dirty="0">
                <a:latin typeface="Trebuchet MS"/>
                <a:cs typeface="Trebuchet MS"/>
              </a:rPr>
              <a:t> </a:t>
            </a:r>
            <a:r>
              <a:rPr sz="5000" b="0" spc="-145" dirty="0">
                <a:latin typeface="Trebuchet MS"/>
                <a:cs typeface="Trebuchet MS"/>
              </a:rPr>
              <a:t>Python</a:t>
            </a:r>
            <a:endParaRPr sz="5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5228715"/>
            <a:ext cx="86982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sng" spc="-21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https://github.com/farhad-</a:t>
            </a:r>
            <a:r>
              <a:rPr sz="3000" u="sng" spc="-2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pourkamali/machine-</a:t>
            </a:r>
            <a:r>
              <a:rPr sz="3000" u="sng" spc="-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learning</a:t>
            </a:r>
            <a:endParaRPr sz="3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6600" y="3395345"/>
            <a:ext cx="96431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0" spc="-110" dirty="0">
                <a:latin typeface="Trebuchet MS"/>
                <a:cs typeface="Trebuchet MS"/>
              </a:rPr>
              <a:t>Review</a:t>
            </a:r>
            <a:r>
              <a:rPr sz="5000" b="0" spc="-305" dirty="0">
                <a:latin typeface="Trebuchet MS"/>
                <a:cs typeface="Trebuchet MS"/>
              </a:rPr>
              <a:t> </a:t>
            </a:r>
            <a:r>
              <a:rPr sz="5000" b="0" spc="-254" dirty="0">
                <a:latin typeface="Trebuchet MS"/>
                <a:cs typeface="Trebuchet MS"/>
              </a:rPr>
              <a:t>of</a:t>
            </a:r>
            <a:r>
              <a:rPr sz="5000" b="0" spc="-305" dirty="0">
                <a:latin typeface="Trebuchet MS"/>
                <a:cs typeface="Trebuchet MS"/>
              </a:rPr>
              <a:t> </a:t>
            </a:r>
            <a:r>
              <a:rPr sz="5000" b="0" spc="-220" dirty="0">
                <a:latin typeface="Trebuchet MS"/>
                <a:cs typeface="Trebuchet MS"/>
              </a:rPr>
              <a:t>linear</a:t>
            </a:r>
            <a:r>
              <a:rPr sz="5000" b="0" spc="-300" dirty="0">
                <a:latin typeface="Trebuchet MS"/>
                <a:cs typeface="Trebuchet MS"/>
              </a:rPr>
              <a:t> </a:t>
            </a:r>
            <a:r>
              <a:rPr sz="5000" b="0" spc="-235" dirty="0">
                <a:latin typeface="Trebuchet MS"/>
                <a:cs typeface="Trebuchet MS"/>
              </a:rPr>
              <a:t>algebra</a:t>
            </a:r>
            <a:r>
              <a:rPr sz="5000" b="0" spc="-305" dirty="0">
                <a:latin typeface="Trebuchet MS"/>
                <a:cs typeface="Trebuchet MS"/>
              </a:rPr>
              <a:t> </a:t>
            </a:r>
            <a:r>
              <a:rPr sz="5000" b="0" spc="-130" dirty="0">
                <a:latin typeface="Trebuchet MS"/>
                <a:cs typeface="Trebuchet MS"/>
              </a:rPr>
              <a:t>and</a:t>
            </a:r>
            <a:r>
              <a:rPr sz="5000" b="0" spc="-305" dirty="0">
                <a:latin typeface="Trebuchet MS"/>
                <a:cs typeface="Trebuchet MS"/>
              </a:rPr>
              <a:t> </a:t>
            </a:r>
            <a:r>
              <a:rPr sz="5000" b="0" spc="40" dirty="0">
                <a:latin typeface="Trebuchet MS"/>
                <a:cs typeface="Trebuchet MS"/>
              </a:rPr>
              <a:t>NumPy</a:t>
            </a:r>
            <a:endParaRPr sz="5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6600" y="4657215"/>
            <a:ext cx="8698230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90"/>
              </a:lnSpc>
              <a:spcBef>
                <a:spcPts val="2350"/>
              </a:spcBef>
            </a:pPr>
            <a:r>
              <a:rPr sz="3000" spc="-275" dirty="0">
                <a:latin typeface="Trebuchet MS"/>
                <a:cs typeface="Trebuchet MS"/>
              </a:rPr>
              <a:t>Part</a:t>
            </a:r>
            <a:r>
              <a:rPr sz="3000" spc="-180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1:</a:t>
            </a:r>
            <a:r>
              <a:rPr sz="3000" spc="-175" dirty="0">
                <a:latin typeface="Trebuchet MS"/>
                <a:cs typeface="Trebuchet MS"/>
              </a:rPr>
              <a:t> </a:t>
            </a:r>
            <a:r>
              <a:rPr sz="3000" u="sng" spc="-1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https://youtu.be/xSO0qOyvevc</a:t>
            </a:r>
            <a:endParaRPr sz="3000" dirty="0">
              <a:latin typeface="Trebuchet MS"/>
              <a:cs typeface="Trebuchet MS"/>
            </a:endParaRPr>
          </a:p>
          <a:p>
            <a:pPr marL="12700">
              <a:lnSpc>
                <a:spcPts val="3290"/>
              </a:lnSpc>
            </a:pPr>
            <a:r>
              <a:rPr sz="3000" spc="-275" dirty="0">
                <a:latin typeface="Trebuchet MS"/>
                <a:cs typeface="Trebuchet MS"/>
              </a:rPr>
              <a:t>Part</a:t>
            </a:r>
            <a:r>
              <a:rPr sz="3000" spc="-180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2:</a:t>
            </a:r>
            <a:r>
              <a:rPr sz="3000" spc="-175" dirty="0">
                <a:latin typeface="Trebuchet MS"/>
                <a:cs typeface="Trebuchet MS"/>
              </a:rPr>
              <a:t> </a:t>
            </a:r>
            <a:r>
              <a:rPr sz="3000" u="sng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https://youtu.be/SeBRHg9ZrSs</a:t>
            </a:r>
            <a:endParaRPr sz="3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457940" cy="229933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93700" marR="5080" indent="-381000">
              <a:lnSpc>
                <a:spcPts val="2800"/>
              </a:lnSpc>
              <a:spcBef>
                <a:spcPts val="36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60" dirty="0">
                <a:latin typeface="Trebuchet MS"/>
                <a:cs typeface="Trebuchet MS"/>
              </a:rPr>
              <a:t>NumPy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20" dirty="0">
                <a:latin typeface="Trebuchet MS"/>
                <a:cs typeface="Trebuchet MS"/>
              </a:rPr>
              <a:t>offers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mathematical </a:t>
            </a:r>
            <a:r>
              <a:rPr sz="2500" spc="-70" dirty="0">
                <a:latin typeface="Trebuchet MS"/>
                <a:cs typeface="Trebuchet MS"/>
              </a:rPr>
              <a:t>functions,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random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number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generators,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linear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algebra </a:t>
            </a:r>
            <a:r>
              <a:rPr sz="2500" spc="-90" dirty="0">
                <a:latin typeface="Trebuchet MS"/>
                <a:cs typeface="Trebuchet MS"/>
              </a:rPr>
              <a:t>routines,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more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spcBef>
                <a:spcPts val="5"/>
              </a:spcBef>
              <a:buSzPct val="122000"/>
              <a:buChar char="•"/>
              <a:tabLst>
                <a:tab pos="774700" algn="l"/>
              </a:tabLst>
            </a:pPr>
            <a:r>
              <a:rPr sz="2500" spc="-185" dirty="0">
                <a:latin typeface="Trebuchet MS"/>
                <a:cs typeface="Trebuchet MS"/>
              </a:rPr>
              <a:t>‘’de-</a:t>
            </a:r>
            <a:r>
              <a:rPr sz="2500" spc="-120" dirty="0">
                <a:latin typeface="Trebuchet MS"/>
                <a:cs typeface="Trebuchet MS"/>
              </a:rPr>
              <a:t>facto”</a:t>
            </a:r>
            <a:r>
              <a:rPr sz="2500" spc="-7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standards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of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array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computing</a:t>
            </a:r>
            <a:endParaRPr sz="25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buSzPct val="122000"/>
              <a:buChar char="•"/>
              <a:tabLst>
                <a:tab pos="393700" algn="l"/>
              </a:tabLst>
            </a:pPr>
            <a:r>
              <a:rPr sz="2500" spc="240" dirty="0">
                <a:latin typeface="Trebuchet MS"/>
                <a:cs typeface="Trebuchet MS"/>
              </a:rPr>
              <a:t>1D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(vector)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240" dirty="0">
                <a:latin typeface="Trebuchet MS"/>
                <a:cs typeface="Trebuchet MS"/>
              </a:rPr>
              <a:t>2D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arrays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(matrix)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31368" y="5575101"/>
            <a:ext cx="5829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70" dirty="0">
                <a:latin typeface="Times New Roman"/>
                <a:cs typeface="Times New Roman"/>
              </a:rPr>
              <a:t> </a:t>
            </a:r>
            <a:r>
              <a:rPr sz="3000" spc="330" dirty="0">
                <a:latin typeface="Cambria"/>
                <a:cs typeface="Cambria"/>
              </a:rPr>
              <a:t>=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19450" y="4960619"/>
            <a:ext cx="139065" cy="1823720"/>
          </a:xfrm>
          <a:custGeom>
            <a:avLst/>
            <a:gdLst/>
            <a:ahLst/>
            <a:cxnLst/>
            <a:rect l="l" t="t" r="r" b="b"/>
            <a:pathLst>
              <a:path w="139064" h="1823720">
                <a:moveTo>
                  <a:pt x="139039" y="0"/>
                </a:moveTo>
                <a:lnTo>
                  <a:pt x="0" y="0"/>
                </a:lnTo>
                <a:lnTo>
                  <a:pt x="0" y="19050"/>
                </a:lnTo>
                <a:lnTo>
                  <a:pt x="0" y="1804670"/>
                </a:lnTo>
                <a:lnTo>
                  <a:pt x="0" y="1823720"/>
                </a:lnTo>
                <a:lnTo>
                  <a:pt x="139039" y="1823720"/>
                </a:lnTo>
                <a:lnTo>
                  <a:pt x="139039" y="1804670"/>
                </a:lnTo>
                <a:lnTo>
                  <a:pt x="38100" y="1804670"/>
                </a:lnTo>
                <a:lnTo>
                  <a:pt x="38100" y="19050"/>
                </a:lnTo>
                <a:lnTo>
                  <a:pt x="139039" y="19050"/>
                </a:lnTo>
                <a:lnTo>
                  <a:pt x="139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73255" y="4829748"/>
            <a:ext cx="397510" cy="9366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 marR="30480" indent="3810">
              <a:lnSpc>
                <a:spcPts val="3570"/>
              </a:lnSpc>
              <a:spcBef>
                <a:spcPts val="229"/>
              </a:spcBef>
            </a:pPr>
            <a:r>
              <a:rPr sz="3000" i="1" spc="-110" dirty="0">
                <a:latin typeface="Times New Roman"/>
                <a:cs typeface="Times New Roman"/>
              </a:rPr>
              <a:t>a</a:t>
            </a:r>
            <a:r>
              <a:rPr sz="3150" spc="-165" baseline="-19841" dirty="0">
                <a:latin typeface="Cambria"/>
                <a:cs typeface="Cambria"/>
              </a:rPr>
              <a:t>1 </a:t>
            </a:r>
            <a:r>
              <a:rPr sz="3000" i="1" spc="-95" dirty="0">
                <a:latin typeface="Times New Roman"/>
                <a:cs typeface="Times New Roman"/>
              </a:rPr>
              <a:t>a</a:t>
            </a:r>
            <a:r>
              <a:rPr sz="3150" spc="-142" baseline="-19841" dirty="0">
                <a:latin typeface="Cambria"/>
                <a:cs typeface="Cambria"/>
              </a:rPr>
              <a:t>2</a:t>
            </a:r>
            <a:endParaRPr sz="3150" baseline="-19841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1895" y="5799963"/>
            <a:ext cx="220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7477" y="6293259"/>
            <a:ext cx="5854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i="1" baseline="13888" dirty="0">
                <a:latin typeface="Times New Roman"/>
                <a:cs typeface="Times New Roman"/>
              </a:rPr>
              <a:t>a</a:t>
            </a:r>
            <a:r>
              <a:rPr sz="2100" i="1" dirty="0">
                <a:latin typeface="Times New Roman"/>
                <a:cs typeface="Times New Roman"/>
              </a:rPr>
              <a:t>n </a:t>
            </a:r>
            <a:r>
              <a:rPr sz="2100" u="heavy" spc="5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85337" y="4960619"/>
            <a:ext cx="139065" cy="1804670"/>
          </a:xfrm>
          <a:custGeom>
            <a:avLst/>
            <a:gdLst/>
            <a:ahLst/>
            <a:cxnLst/>
            <a:rect l="l" t="t" r="r" b="b"/>
            <a:pathLst>
              <a:path w="139064" h="1804670">
                <a:moveTo>
                  <a:pt x="139039" y="0"/>
                </a:moveTo>
                <a:lnTo>
                  <a:pt x="0" y="0"/>
                </a:lnTo>
                <a:lnTo>
                  <a:pt x="0" y="19050"/>
                </a:lnTo>
                <a:lnTo>
                  <a:pt x="100952" y="19050"/>
                </a:lnTo>
                <a:lnTo>
                  <a:pt x="100952" y="1804670"/>
                </a:lnTo>
                <a:lnTo>
                  <a:pt x="139039" y="1804670"/>
                </a:lnTo>
                <a:lnTo>
                  <a:pt x="139039" y="19050"/>
                </a:lnTo>
                <a:lnTo>
                  <a:pt x="139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29867" y="5575101"/>
            <a:ext cx="6769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65" dirty="0">
                <a:latin typeface="Cambria"/>
                <a:cs typeface="Cambria"/>
              </a:rPr>
              <a:t>∈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spc="-50" dirty="0">
                <a:latin typeface="Cambria"/>
                <a:cs typeface="Cambria"/>
              </a:rPr>
              <a:t>ℝ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81162" y="5544626"/>
            <a:ext cx="1606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i="1" spc="-50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27875" y="5185409"/>
            <a:ext cx="139065" cy="1374140"/>
          </a:xfrm>
          <a:custGeom>
            <a:avLst/>
            <a:gdLst/>
            <a:ahLst/>
            <a:cxnLst/>
            <a:rect l="l" t="t" r="r" b="b"/>
            <a:pathLst>
              <a:path w="139065" h="1374140">
                <a:moveTo>
                  <a:pt x="139052" y="0"/>
                </a:moveTo>
                <a:lnTo>
                  <a:pt x="0" y="0"/>
                </a:lnTo>
                <a:lnTo>
                  <a:pt x="0" y="19050"/>
                </a:lnTo>
                <a:lnTo>
                  <a:pt x="0" y="1355090"/>
                </a:lnTo>
                <a:lnTo>
                  <a:pt x="0" y="1374140"/>
                </a:lnTo>
                <a:lnTo>
                  <a:pt x="139052" y="1374140"/>
                </a:lnTo>
                <a:lnTo>
                  <a:pt x="139052" y="1355090"/>
                </a:lnTo>
                <a:lnTo>
                  <a:pt x="38100" y="1355090"/>
                </a:lnTo>
                <a:lnTo>
                  <a:pt x="38100" y="19050"/>
                </a:lnTo>
                <a:lnTo>
                  <a:pt x="139052" y="19050"/>
                </a:lnTo>
                <a:lnTo>
                  <a:pt x="1390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64519" y="5055541"/>
            <a:ext cx="2165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-50" dirty="0">
                <a:latin typeface="Times New Roman"/>
                <a:cs typeface="Times New Roman"/>
              </a:rPr>
              <a:t>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41994" y="5261259"/>
            <a:ext cx="29591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80" dirty="0">
                <a:latin typeface="Cambria"/>
                <a:cs typeface="Cambria"/>
              </a:rPr>
              <a:t>11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17240" y="5055541"/>
            <a:ext cx="9023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7865" algn="l"/>
              </a:tabLst>
            </a:pPr>
            <a:r>
              <a:rPr sz="3000" spc="690" dirty="0">
                <a:latin typeface="Cambria"/>
                <a:cs typeface="Cambria"/>
              </a:rPr>
              <a:t>…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i="1" spc="-50" dirty="0">
                <a:latin typeface="Times New Roman"/>
                <a:cs typeface="Times New Roman"/>
              </a:rPr>
              <a:t>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80441" y="5261259"/>
            <a:ext cx="35623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25" dirty="0">
                <a:latin typeface="Cambria"/>
                <a:cs typeface="Cambria"/>
              </a:rPr>
              <a:t>1</a:t>
            </a:r>
            <a:r>
              <a:rPr sz="2100" i="1" spc="-25" dirty="0">
                <a:latin typeface="Times New Roman"/>
                <a:cs typeface="Times New Roman"/>
              </a:rPr>
              <a:t>m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29749" y="5539887"/>
            <a:ext cx="1546225" cy="101091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75"/>
              </a:spcBef>
              <a:tabLst>
                <a:tab pos="1173480" algn="l"/>
              </a:tabLst>
            </a:pP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70" dirty="0">
                <a:latin typeface="Times New Roman"/>
                <a:cs typeface="Times New Roman"/>
              </a:rPr>
              <a:t> </a:t>
            </a:r>
            <a:r>
              <a:rPr sz="3000" spc="330" dirty="0">
                <a:latin typeface="Cambria"/>
                <a:cs typeface="Cambria"/>
              </a:rPr>
              <a:t>=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540" dirty="0">
                <a:latin typeface="Cambria"/>
                <a:cs typeface="Cambria"/>
              </a:rPr>
              <a:t>⋮</a:t>
            </a:r>
            <a:endParaRPr sz="3000">
              <a:latin typeface="Cambria"/>
              <a:cs typeface="Cambria"/>
            </a:endParaRPr>
          </a:p>
          <a:p>
            <a:pPr marR="43180" algn="r">
              <a:lnSpc>
                <a:spcPct val="100000"/>
              </a:lnSpc>
              <a:spcBef>
                <a:spcPts val="280"/>
              </a:spcBef>
            </a:pPr>
            <a:r>
              <a:rPr sz="4500" i="1" spc="-37" baseline="13888" dirty="0">
                <a:latin typeface="Times New Roman"/>
                <a:cs typeface="Times New Roman"/>
              </a:rPr>
              <a:t>a</a:t>
            </a:r>
            <a:r>
              <a:rPr sz="2100" i="1" spc="-25" dirty="0">
                <a:latin typeface="Times New Roman"/>
                <a:cs typeface="Times New Roman"/>
              </a:rPr>
              <a:t>n</a:t>
            </a:r>
            <a:r>
              <a:rPr sz="2100" spc="-25" dirty="0">
                <a:latin typeface="Cambria"/>
                <a:cs typeface="Cambria"/>
              </a:rPr>
              <a:t>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77565" y="6067895"/>
            <a:ext cx="7340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i="1" spc="-37" baseline="13888" dirty="0">
                <a:latin typeface="Times New Roman"/>
                <a:cs typeface="Times New Roman"/>
              </a:rPr>
              <a:t>a</a:t>
            </a:r>
            <a:r>
              <a:rPr sz="2100" i="1" spc="-25" dirty="0">
                <a:latin typeface="Times New Roman"/>
                <a:cs typeface="Times New Roman"/>
              </a:rPr>
              <a:t>nm</a:t>
            </a:r>
            <a:r>
              <a:rPr sz="2100" u="heavy" spc="5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333954" y="5185409"/>
            <a:ext cx="139065" cy="1355090"/>
          </a:xfrm>
          <a:custGeom>
            <a:avLst/>
            <a:gdLst/>
            <a:ahLst/>
            <a:cxnLst/>
            <a:rect l="l" t="t" r="r" b="b"/>
            <a:pathLst>
              <a:path w="139065" h="1355090">
                <a:moveTo>
                  <a:pt x="139039" y="0"/>
                </a:moveTo>
                <a:lnTo>
                  <a:pt x="0" y="0"/>
                </a:lnTo>
                <a:lnTo>
                  <a:pt x="0" y="19050"/>
                </a:lnTo>
                <a:lnTo>
                  <a:pt x="100952" y="19050"/>
                </a:lnTo>
                <a:lnTo>
                  <a:pt x="100952" y="1355090"/>
                </a:lnTo>
                <a:lnTo>
                  <a:pt x="139039" y="1355090"/>
                </a:lnTo>
                <a:lnTo>
                  <a:pt x="139039" y="19050"/>
                </a:lnTo>
                <a:lnTo>
                  <a:pt x="139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934232" y="5575316"/>
            <a:ext cx="176783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543050" algn="l"/>
              </a:tabLst>
            </a:pPr>
            <a:r>
              <a:rPr sz="3000" spc="540" dirty="0">
                <a:latin typeface="Cambria"/>
                <a:cs typeface="Cambria"/>
              </a:rPr>
              <a:t>⋮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165" dirty="0">
                <a:latin typeface="Cambria"/>
                <a:cs typeface="Cambria"/>
              </a:rPr>
              <a:t>∈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spc="-50" dirty="0">
                <a:latin typeface="Cambria"/>
                <a:cs typeface="Cambria"/>
              </a:rPr>
              <a:t>ℝ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150" spc="217" baseline="29100" dirty="0">
                <a:latin typeface="Cambria"/>
                <a:cs typeface="Cambria"/>
              </a:rPr>
              <a:t>×</a:t>
            </a:r>
            <a:endParaRPr sz="3150" baseline="29100">
              <a:latin typeface="Cambria"/>
              <a:cs typeface="Cambri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10329860" y="5544839"/>
            <a:ext cx="52959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0675" algn="l"/>
              </a:tabLst>
            </a:pPr>
            <a:r>
              <a:rPr sz="2100" i="1" spc="-50" dirty="0">
                <a:latin typeface="Times New Roman"/>
                <a:cs typeface="Times New Roman"/>
              </a:rPr>
              <a:t>n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2100" i="1" spc="-50" dirty="0">
                <a:latin typeface="Times New Roman"/>
                <a:cs typeface="Times New Roman"/>
              </a:rPr>
              <a:t>m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8051025"/>
            <a:ext cx="70453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dirty="0">
                <a:latin typeface="Trebuchet MS"/>
                <a:cs typeface="Trebuchet MS"/>
              </a:rPr>
              <a:t>Notice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difference</a:t>
            </a:r>
            <a:r>
              <a:rPr sz="2500" spc="-80" dirty="0">
                <a:latin typeface="Trebuchet MS"/>
                <a:cs typeface="Trebuchet MS"/>
              </a:rPr>
              <a:t> between </a:t>
            </a:r>
            <a:r>
              <a:rPr sz="2500" spc="240" dirty="0">
                <a:latin typeface="Trebuchet MS"/>
                <a:cs typeface="Trebuchet MS"/>
              </a:rPr>
              <a:t>1D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240" dirty="0">
                <a:latin typeface="Trebuchet MS"/>
                <a:cs typeface="Trebuchet MS"/>
              </a:rPr>
              <a:t>2D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55" dirty="0">
                <a:latin typeface="Trebuchet MS"/>
                <a:cs typeface="Trebuchet MS"/>
              </a:rPr>
              <a:t>arrays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Creating</a:t>
            </a:r>
            <a:r>
              <a:rPr spc="-225" dirty="0"/>
              <a:t> </a:t>
            </a:r>
            <a:r>
              <a:rPr spc="-265" dirty="0"/>
              <a:t>arrays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720" y="1290204"/>
            <a:ext cx="10267475" cy="683084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Creating</a:t>
            </a:r>
            <a:r>
              <a:rPr spc="-225" dirty="0"/>
              <a:t> </a:t>
            </a:r>
            <a:r>
              <a:rPr spc="-265" dirty="0"/>
              <a:t>arrays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020" y="1068682"/>
            <a:ext cx="8605381" cy="86314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313160" cy="7620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93700" marR="5080" indent="-381000">
              <a:lnSpc>
                <a:spcPts val="2800"/>
              </a:lnSpc>
              <a:spcBef>
                <a:spcPts val="36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50" dirty="0">
                <a:latin typeface="Trebuchet MS"/>
                <a:cs typeface="Trebuchet MS"/>
              </a:rPr>
              <a:t>Two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popular</a:t>
            </a:r>
            <a:r>
              <a:rPr sz="2500" spc="-13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choices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uniform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distribution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between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65" dirty="0">
                <a:latin typeface="Trebuchet MS"/>
                <a:cs typeface="Trebuchet MS"/>
              </a:rPr>
              <a:t>0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1,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and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114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univariate </a:t>
            </a:r>
            <a:r>
              <a:rPr sz="2500" spc="-25" dirty="0">
                <a:latin typeface="Trebuchet MS"/>
                <a:cs typeface="Trebuchet MS"/>
              </a:rPr>
              <a:t>normal</a:t>
            </a:r>
            <a:r>
              <a:rPr sz="2500" spc="-14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distribution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532257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Creating</a:t>
            </a:r>
            <a:r>
              <a:rPr spc="-210" dirty="0"/>
              <a:t> </a:t>
            </a:r>
            <a:r>
              <a:rPr spc="-200" dirty="0"/>
              <a:t>random</a:t>
            </a:r>
            <a:r>
              <a:rPr spc="-204" dirty="0"/>
              <a:t> </a:t>
            </a:r>
            <a:r>
              <a:rPr spc="-195" dirty="0"/>
              <a:t>numbers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41772" y="2294230"/>
            <a:ext cx="12701270" cy="6924675"/>
            <a:chOff x="241772" y="2294230"/>
            <a:chExt cx="12701270" cy="69246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2395" y="5055609"/>
              <a:ext cx="5780007" cy="41628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772" y="2294230"/>
              <a:ext cx="12701003" cy="28688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201400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0" dirty="0">
                <a:latin typeface="Trebuchet MS"/>
                <a:cs typeface="Trebuchet MS"/>
              </a:rPr>
              <a:t>NumPy’s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ndarrays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efficient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because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their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elements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must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have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same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type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rebuchet MS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774700" lvl="1" indent="-381000">
              <a:lnSpc>
                <a:spcPct val="100000"/>
              </a:lnSpc>
              <a:buSzPct val="122000"/>
              <a:buChar char="•"/>
              <a:tabLst>
                <a:tab pos="774700" algn="l"/>
              </a:tabLst>
            </a:pPr>
            <a:r>
              <a:rPr sz="2500" dirty="0">
                <a:latin typeface="Trebuchet MS"/>
                <a:cs typeface="Trebuchet MS"/>
              </a:rPr>
              <a:t>Data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types: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u="sng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https://numpy.org/doc/stable/user/basics.types.html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213487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Array</a:t>
            </a:r>
            <a:r>
              <a:rPr spc="-215" dirty="0"/>
              <a:t> </a:t>
            </a:r>
            <a:r>
              <a:rPr spc="-190" dirty="0"/>
              <a:t>data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1266" y="2990058"/>
            <a:ext cx="4602266" cy="440610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12014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10" dirty="0">
                <a:latin typeface="Trebuchet MS"/>
                <a:cs typeface="Trebuchet MS"/>
              </a:rPr>
              <a:t>NumPy’s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ndarrays</a:t>
            </a:r>
            <a:r>
              <a:rPr sz="2500" spc="-12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are</a:t>
            </a:r>
            <a:r>
              <a:rPr sz="2500" spc="-80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efficient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because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their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elements</a:t>
            </a:r>
            <a:r>
              <a:rPr sz="2500" spc="-9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must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have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same</a:t>
            </a:r>
            <a:r>
              <a:rPr sz="2500" spc="-10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type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213487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Array</a:t>
            </a:r>
            <a:r>
              <a:rPr spc="-215" dirty="0"/>
              <a:t> </a:t>
            </a:r>
            <a:r>
              <a:rPr spc="-190" dirty="0"/>
              <a:t>data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55629" y="1714665"/>
            <a:ext cx="12249785" cy="7613015"/>
            <a:chOff x="755629" y="1714665"/>
            <a:chExt cx="12249785" cy="76130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629" y="1714665"/>
              <a:ext cx="7304215" cy="48231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88265" y="3794274"/>
              <a:ext cx="4916534" cy="553313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386461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Reshaping</a:t>
            </a:r>
            <a:r>
              <a:rPr spc="-220" dirty="0"/>
              <a:t> </a:t>
            </a:r>
            <a:r>
              <a:rPr spc="-175" dirty="0"/>
              <a:t>an</a:t>
            </a:r>
            <a:r>
              <a:rPr spc="-220" dirty="0"/>
              <a:t> </a:t>
            </a:r>
            <a:r>
              <a:rPr spc="-204" dirty="0"/>
              <a:t>array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937" y="1129950"/>
            <a:ext cx="5968116" cy="81881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197313"/>
            <a:ext cx="105251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SzPct val="122000"/>
              <a:buChar char="•"/>
              <a:tabLst>
                <a:tab pos="393700" algn="l"/>
              </a:tabLst>
            </a:pPr>
            <a:r>
              <a:rPr sz="2500" spc="-85" dirty="0">
                <a:latin typeface="Trebuchet MS"/>
                <a:cs typeface="Trebuchet MS"/>
              </a:rPr>
              <a:t>The</a:t>
            </a:r>
            <a:r>
              <a:rPr sz="2500" spc="-105" dirty="0">
                <a:latin typeface="Trebuchet MS"/>
                <a:cs typeface="Trebuchet MS"/>
              </a:rPr>
              <a:t> </a:t>
            </a:r>
            <a:r>
              <a:rPr sz="2500" spc="-75" dirty="0">
                <a:latin typeface="Trebuchet MS"/>
                <a:cs typeface="Trebuchet MS"/>
              </a:rPr>
              <a:t>reshape</a:t>
            </a:r>
            <a:r>
              <a:rPr sz="2500" spc="-11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function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returns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new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00" dirty="0">
                <a:latin typeface="Trebuchet MS"/>
                <a:cs typeface="Trebuchet MS"/>
              </a:rPr>
              <a:t>array</a:t>
            </a:r>
            <a:r>
              <a:rPr sz="2500" spc="-8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object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pointing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at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the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same</a:t>
            </a:r>
            <a:r>
              <a:rPr sz="2500" spc="-9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data.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600" y="438565"/>
            <a:ext cx="386461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Reshaping</a:t>
            </a:r>
            <a:r>
              <a:rPr spc="-220" dirty="0"/>
              <a:t> </a:t>
            </a:r>
            <a:r>
              <a:rPr spc="-175" dirty="0"/>
              <a:t>an</a:t>
            </a:r>
            <a:r>
              <a:rPr spc="-220" dirty="0"/>
              <a:t> </a:t>
            </a:r>
            <a:r>
              <a:rPr spc="-204" dirty="0"/>
              <a:t>array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942" y="1723621"/>
            <a:ext cx="7366906" cy="73828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Conditional</a:t>
            </a:r>
            <a:r>
              <a:rPr spc="-204" dirty="0"/>
              <a:t> </a:t>
            </a:r>
            <a:r>
              <a:rPr spc="-220" dirty="0"/>
              <a:t>operators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8112" y="1690728"/>
            <a:ext cx="4944160" cy="33940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3392</TotalTime>
  <Words>1321</Words>
  <Application>Microsoft Office PowerPoint</Application>
  <PresentationFormat>Custom</PresentationFormat>
  <Paragraphs>270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 MT</vt:lpstr>
      <vt:lpstr>Cambria</vt:lpstr>
      <vt:lpstr>Times New Roman</vt:lpstr>
      <vt:lpstr>Trebuchet MS</vt:lpstr>
      <vt:lpstr>Office Theme</vt:lpstr>
      <vt:lpstr>Machine Learning</vt:lpstr>
      <vt:lpstr>What do you learn from this course?</vt:lpstr>
      <vt:lpstr>Course prerequisites</vt:lpstr>
      <vt:lpstr>Anaconda</vt:lpstr>
      <vt:lpstr>Google Colab</vt:lpstr>
      <vt:lpstr>Visual Studi Code</vt:lpstr>
      <vt:lpstr>Course structure</vt:lpstr>
      <vt:lpstr>A little bit history</vt:lpstr>
      <vt:lpstr>Why should we use machine learning?</vt:lpstr>
      <vt:lpstr>Why use machine learning?</vt:lpstr>
      <vt:lpstr>Beyond prediction</vt:lpstr>
      <vt:lpstr>A few applications of machine learning</vt:lpstr>
      <vt:lpstr>Types of machine learning</vt:lpstr>
      <vt:lpstr>Types of machine learning</vt:lpstr>
      <vt:lpstr>Types of machine learning</vt:lpstr>
      <vt:lpstr>Another categorization</vt:lpstr>
      <vt:lpstr>Another categorization</vt:lpstr>
      <vt:lpstr>Model-based learning</vt:lpstr>
      <vt:lpstr>Training a linear model using Scikit-Learn</vt:lpstr>
      <vt:lpstr>Summary of steps</vt:lpstr>
      <vt:lpstr>Challenges of machine learning</vt:lpstr>
      <vt:lpstr>Challenges of machine learning</vt:lpstr>
      <vt:lpstr>Example of reducing overfitting</vt:lpstr>
      <vt:lpstr>Challenges of machine learning</vt:lpstr>
      <vt:lpstr>Testing and validation</vt:lpstr>
      <vt:lpstr>Basics of Python</vt:lpstr>
      <vt:lpstr>Review of linear algebra and NumPy</vt:lpstr>
      <vt:lpstr>Introduction</vt:lpstr>
      <vt:lpstr>Creating arrays</vt:lpstr>
      <vt:lpstr>Creating arrays</vt:lpstr>
      <vt:lpstr>Creating random numbers</vt:lpstr>
      <vt:lpstr>Array data</vt:lpstr>
      <vt:lpstr>Array data</vt:lpstr>
      <vt:lpstr>Reshaping an array</vt:lpstr>
      <vt:lpstr>Reshaping an array</vt:lpstr>
      <vt:lpstr>Conditional operators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01_lecture1</dc:title>
  <cp:lastModifiedBy>Dr. Muhammad Adeel</cp:lastModifiedBy>
  <cp:revision>4</cp:revision>
  <dcterms:created xsi:type="dcterms:W3CDTF">2025-08-31T15:13:53Z</dcterms:created>
  <dcterms:modified xsi:type="dcterms:W3CDTF">2025-09-24T10:19:29Z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2022-01-15T00:00:00Z</vt:filetime>
  </property>
  <property fmtid="{D5CDD505-2E9C-101B-9397-08002B2CF9AE}" pid="3" name="Creator">
    <vt:lpwstr>Keynote</vt:lpwstr>
  </property>
  <property fmtid="{D5CDD505-2E9C-101B-9397-08002B2CF9AE}" pid="4" name="LastSaved">
    <vt:filetime>2025-08-31T00:00:00Z</vt:filetime>
  </property>
  <property fmtid="{D5CDD505-2E9C-101B-9397-08002B2CF9AE}" pid="5" name="Producer">
    <vt:lpwstr>macOS Version 12.0.1 (Build 21A559) Quartz PDFContext</vt:lpwstr>
  </property>
</Properties>
</file>