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3004800" cy="9753600"/>
  <p:notesSz cx="130048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87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6600" y="438565"/>
            <a:ext cx="7868284" cy="604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6600" y="1705313"/>
            <a:ext cx="11511915" cy="5634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394517" y="9251836"/>
            <a:ext cx="209550" cy="217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jp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971" y="3565763"/>
            <a:ext cx="478663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175" dirty="0"/>
              <a:t>Machine</a:t>
            </a:r>
            <a:r>
              <a:rPr sz="5000" spc="-265" dirty="0"/>
              <a:t> </a:t>
            </a:r>
            <a:r>
              <a:rPr sz="5000" spc="-315" dirty="0"/>
              <a:t>Learning</a:t>
            </a:r>
            <a:endParaRPr sz="5000"/>
          </a:p>
        </p:txBody>
      </p:sp>
      <p:sp>
        <p:nvSpPr>
          <p:cNvPr id="4" name="object 4"/>
          <p:cNvSpPr txBox="1"/>
          <p:nvPr/>
        </p:nvSpPr>
        <p:spPr>
          <a:xfrm>
            <a:off x="736600" y="4654369"/>
            <a:ext cx="550926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-155" dirty="0">
                <a:latin typeface="Trebuchet MS"/>
                <a:cs typeface="Trebuchet MS"/>
              </a:rPr>
              <a:t>Linear</a:t>
            </a:r>
            <a:r>
              <a:rPr sz="3500" b="1" spc="-75" dirty="0">
                <a:latin typeface="Trebuchet MS"/>
                <a:cs typeface="Trebuchet MS"/>
              </a:rPr>
              <a:t> </a:t>
            </a:r>
            <a:r>
              <a:rPr sz="3500" b="1" spc="-110" dirty="0">
                <a:latin typeface="Trebuchet MS"/>
                <a:cs typeface="Trebuchet MS"/>
              </a:rPr>
              <a:t>Regression</a:t>
            </a:r>
            <a:endParaRPr sz="35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93700" marR="2022475" indent="-381000">
              <a:lnSpc>
                <a:spcPts val="2800"/>
              </a:lnSpc>
              <a:spcBef>
                <a:spcPts val="360"/>
              </a:spcBef>
              <a:buSzPct val="122000"/>
              <a:buChar char="•"/>
              <a:tabLst>
                <a:tab pos="393700" algn="l"/>
              </a:tabLst>
            </a:pPr>
            <a:r>
              <a:rPr sz="2500" dirty="0"/>
              <a:t>Most</a:t>
            </a:r>
            <a:r>
              <a:rPr sz="2500" spc="-90" dirty="0"/>
              <a:t> </a:t>
            </a:r>
            <a:r>
              <a:rPr sz="2500" spc="-55" dirty="0"/>
              <a:t>of</a:t>
            </a:r>
            <a:r>
              <a:rPr sz="2500" spc="-75" dirty="0"/>
              <a:t> </a:t>
            </a:r>
            <a:r>
              <a:rPr sz="2500" spc="-140" dirty="0"/>
              <a:t>the</a:t>
            </a:r>
            <a:r>
              <a:rPr sz="2500" spc="-60" dirty="0"/>
              <a:t> </a:t>
            </a:r>
            <a:r>
              <a:rPr sz="2500" spc="-50" dirty="0"/>
              <a:t>topics</a:t>
            </a:r>
            <a:r>
              <a:rPr sz="2500" spc="-75" dirty="0"/>
              <a:t> </a:t>
            </a:r>
            <a:r>
              <a:rPr sz="2500" spc="-20" dirty="0"/>
              <a:t>discussed</a:t>
            </a:r>
            <a:r>
              <a:rPr sz="2500" spc="-70" dirty="0"/>
              <a:t> </a:t>
            </a:r>
            <a:r>
              <a:rPr sz="2500" dirty="0"/>
              <a:t>in</a:t>
            </a:r>
            <a:r>
              <a:rPr sz="2500" spc="-75" dirty="0"/>
              <a:t> </a:t>
            </a:r>
            <a:r>
              <a:rPr sz="2500" spc="-70" dirty="0"/>
              <a:t>this</a:t>
            </a:r>
            <a:r>
              <a:rPr sz="2500" spc="-75" dirty="0"/>
              <a:t> </a:t>
            </a:r>
            <a:r>
              <a:rPr sz="2500" spc="-105" dirty="0"/>
              <a:t>lecture</a:t>
            </a:r>
            <a:r>
              <a:rPr sz="2500" spc="-75" dirty="0"/>
              <a:t> </a:t>
            </a:r>
            <a:r>
              <a:rPr sz="2500" spc="-80" dirty="0"/>
              <a:t>note</a:t>
            </a:r>
            <a:r>
              <a:rPr sz="2500" spc="-70" dirty="0"/>
              <a:t> </a:t>
            </a:r>
            <a:r>
              <a:rPr sz="2500" dirty="0"/>
              <a:t>will</a:t>
            </a:r>
            <a:r>
              <a:rPr sz="2500" spc="-75" dirty="0"/>
              <a:t> </a:t>
            </a:r>
            <a:r>
              <a:rPr sz="2500" dirty="0"/>
              <a:t>be</a:t>
            </a:r>
            <a:r>
              <a:rPr sz="2500" spc="-75" dirty="0"/>
              <a:t> </a:t>
            </a:r>
            <a:r>
              <a:rPr sz="2500" spc="-90" dirty="0"/>
              <a:t>essential</a:t>
            </a:r>
            <a:r>
              <a:rPr sz="2500" spc="-75" dirty="0"/>
              <a:t> </a:t>
            </a:r>
            <a:r>
              <a:rPr sz="2500" spc="-25" dirty="0"/>
              <a:t>in </a:t>
            </a:r>
            <a:r>
              <a:rPr sz="2500" spc="-60" dirty="0"/>
              <a:t>understanding,</a:t>
            </a:r>
            <a:r>
              <a:rPr sz="2500" spc="-85" dirty="0"/>
              <a:t> </a:t>
            </a:r>
            <a:r>
              <a:rPr sz="2500" spc="-25" dirty="0"/>
              <a:t>building,</a:t>
            </a:r>
            <a:r>
              <a:rPr sz="2500" spc="-85" dirty="0"/>
              <a:t> </a:t>
            </a:r>
            <a:r>
              <a:rPr sz="2500" dirty="0"/>
              <a:t>and</a:t>
            </a:r>
            <a:r>
              <a:rPr sz="2500" spc="-85" dirty="0"/>
              <a:t> </a:t>
            </a:r>
            <a:r>
              <a:rPr sz="2500" spc="-70" dirty="0"/>
              <a:t>training</a:t>
            </a:r>
            <a:r>
              <a:rPr sz="2500" spc="-85" dirty="0"/>
              <a:t> </a:t>
            </a:r>
            <a:r>
              <a:rPr sz="2500" spc="-55" dirty="0"/>
              <a:t>neural</a:t>
            </a:r>
            <a:r>
              <a:rPr sz="2500" spc="-85" dirty="0"/>
              <a:t> </a:t>
            </a:r>
            <a:r>
              <a:rPr sz="2500" spc="-10" dirty="0"/>
              <a:t>networks</a:t>
            </a:r>
            <a:endParaRPr sz="250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00"/>
          </a:p>
          <a:p>
            <a:pPr marL="353060" indent="-34036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3060" algn="l"/>
              </a:tabLst>
            </a:pPr>
            <a:r>
              <a:rPr spc="70" dirty="0"/>
              <a:t>We</a:t>
            </a:r>
            <a:r>
              <a:rPr spc="-90" dirty="0"/>
              <a:t> </a:t>
            </a:r>
            <a:r>
              <a:rPr spc="-30" dirty="0"/>
              <a:t>focus</a:t>
            </a:r>
            <a:r>
              <a:rPr spc="-75" dirty="0"/>
              <a:t> </a:t>
            </a:r>
            <a:r>
              <a:rPr dirty="0"/>
              <a:t>on</a:t>
            </a:r>
            <a:r>
              <a:rPr spc="-75" dirty="0"/>
              <a:t> </a:t>
            </a:r>
            <a:r>
              <a:rPr spc="-70" dirty="0"/>
              <a:t>training</a:t>
            </a:r>
            <a:r>
              <a:rPr spc="-75" dirty="0"/>
              <a:t> </a:t>
            </a:r>
            <a:r>
              <a:rPr spc="-140" dirty="0"/>
              <a:t>the</a:t>
            </a:r>
            <a:r>
              <a:rPr spc="-60" dirty="0"/>
              <a:t> linear</a:t>
            </a:r>
            <a:r>
              <a:rPr spc="-75" dirty="0"/>
              <a:t> </a:t>
            </a:r>
            <a:r>
              <a:rPr spc="-50" dirty="0"/>
              <a:t>regression</a:t>
            </a:r>
            <a:r>
              <a:rPr spc="-75" dirty="0"/>
              <a:t> </a:t>
            </a:r>
            <a:r>
              <a:rPr spc="-10" dirty="0"/>
              <a:t>model</a:t>
            </a:r>
          </a:p>
          <a:p>
            <a:pPr>
              <a:lnSpc>
                <a:spcPct val="100000"/>
              </a:lnSpc>
              <a:spcBef>
                <a:spcPts val="350"/>
              </a:spcBef>
              <a:buFont typeface="Trebuchet MS"/>
              <a:buAutoNum type="arabicPeriod"/>
            </a:pPr>
            <a:endParaRPr spc="-10" dirty="0"/>
          </a:p>
          <a:p>
            <a:pPr marL="774700" marR="5080" lvl="1" indent="-381000">
              <a:lnSpc>
                <a:spcPts val="28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45" dirty="0">
                <a:latin typeface="Trebuchet MS"/>
                <a:cs typeface="Trebuchet MS"/>
              </a:rPr>
              <a:t>Closed-</a:t>
            </a:r>
            <a:r>
              <a:rPr sz="2500" spc="-20" dirty="0">
                <a:latin typeface="Trebuchet MS"/>
                <a:cs typeface="Trebuchet MS"/>
              </a:rPr>
              <a:t>form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equation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that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directly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computes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parameters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that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25" dirty="0">
                <a:latin typeface="Trebuchet MS"/>
                <a:cs typeface="Trebuchet MS"/>
              </a:rPr>
              <a:t>best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fit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set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2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marR="274320" lvl="1" indent="-381000">
              <a:lnSpc>
                <a:spcPts val="28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135" dirty="0">
                <a:latin typeface="Trebuchet MS"/>
                <a:cs typeface="Trebuchet MS"/>
              </a:rPr>
              <a:t>Iterative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optimization</a:t>
            </a:r>
            <a:r>
              <a:rPr sz="2500" spc="-14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technique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called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Gradient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Descent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50" dirty="0">
                <a:latin typeface="Trebuchet MS"/>
                <a:cs typeface="Trebuchet MS"/>
              </a:rPr>
              <a:t>(GD)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that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gradually </a:t>
            </a:r>
            <a:r>
              <a:rPr sz="2500" spc="-75" dirty="0">
                <a:latin typeface="Trebuchet MS"/>
                <a:cs typeface="Trebuchet MS"/>
              </a:rPr>
              <a:t>updates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parameters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53060" indent="-340360">
              <a:lnSpc>
                <a:spcPct val="100000"/>
              </a:lnSpc>
              <a:buAutoNum type="arabicPeriod"/>
              <a:tabLst>
                <a:tab pos="353060" algn="l"/>
              </a:tabLst>
            </a:pPr>
            <a:r>
              <a:rPr spc="70" dirty="0"/>
              <a:t>We</a:t>
            </a:r>
            <a:r>
              <a:rPr spc="-145" dirty="0"/>
              <a:t> </a:t>
            </a:r>
            <a:r>
              <a:rPr spc="-80" dirty="0"/>
              <a:t>then</a:t>
            </a:r>
            <a:r>
              <a:rPr spc="-85" dirty="0"/>
              <a:t> </a:t>
            </a:r>
            <a:r>
              <a:rPr dirty="0"/>
              <a:t>look</a:t>
            </a:r>
            <a:r>
              <a:rPr spc="-80" dirty="0"/>
              <a:t> </a:t>
            </a:r>
            <a:r>
              <a:rPr spc="-190" dirty="0"/>
              <a:t>at</a:t>
            </a:r>
            <a:r>
              <a:rPr spc="-60" dirty="0"/>
              <a:t> </a:t>
            </a:r>
            <a:r>
              <a:rPr spc="-140" dirty="0"/>
              <a:t>the</a:t>
            </a:r>
            <a:r>
              <a:rPr spc="-60" dirty="0"/>
              <a:t> </a:t>
            </a:r>
            <a:r>
              <a:rPr spc="-10" dirty="0"/>
              <a:t>Polynomial</a:t>
            </a:r>
            <a:r>
              <a:rPr spc="-80" dirty="0"/>
              <a:t> </a:t>
            </a:r>
            <a:r>
              <a:rPr spc="-30" dirty="0"/>
              <a:t>Regression</a:t>
            </a:r>
            <a:r>
              <a:rPr spc="-80" dirty="0"/>
              <a:t> </a:t>
            </a:r>
            <a:r>
              <a:rPr spc="-135" dirty="0"/>
              <a:t>to</a:t>
            </a:r>
            <a:r>
              <a:rPr spc="-60" dirty="0"/>
              <a:t> learn</a:t>
            </a:r>
            <a:r>
              <a:rPr spc="-85" dirty="0"/>
              <a:t> </a:t>
            </a:r>
            <a:r>
              <a:rPr spc="-65" dirty="0"/>
              <a:t>from</a:t>
            </a:r>
            <a:r>
              <a:rPr spc="-80" dirty="0"/>
              <a:t> </a:t>
            </a:r>
            <a:r>
              <a:rPr spc="-45" dirty="0"/>
              <a:t>non-</a:t>
            </a:r>
            <a:r>
              <a:rPr spc="-20" dirty="0"/>
              <a:t>linear</a:t>
            </a:r>
            <a:r>
              <a:rPr spc="-80" dirty="0"/>
              <a:t> </a:t>
            </a:r>
            <a:r>
              <a:rPr spc="-10" dirty="0"/>
              <a:t>datasets</a:t>
            </a:r>
          </a:p>
          <a:p>
            <a:pPr>
              <a:lnSpc>
                <a:spcPct val="100000"/>
              </a:lnSpc>
              <a:spcBef>
                <a:spcPts val="355"/>
              </a:spcBef>
              <a:buFont typeface="Trebuchet MS"/>
              <a:buAutoNum type="arabicPeriod"/>
            </a:pPr>
            <a:endParaRPr spc="-10" dirty="0"/>
          </a:p>
          <a:p>
            <a:pPr marL="241300" marR="441325" indent="-228600">
              <a:lnSpc>
                <a:spcPts val="2800"/>
              </a:lnSpc>
              <a:buAutoNum type="arabicPeriod"/>
              <a:tabLst>
                <a:tab pos="241300" algn="l"/>
                <a:tab pos="365125" algn="l"/>
              </a:tabLst>
            </a:pPr>
            <a:r>
              <a:rPr spc="-90" dirty="0"/>
              <a:t>	Finally,</a:t>
            </a:r>
            <a:r>
              <a:rPr spc="-95" dirty="0"/>
              <a:t> </a:t>
            </a:r>
            <a:r>
              <a:rPr dirty="0"/>
              <a:t>we</a:t>
            </a:r>
            <a:r>
              <a:rPr spc="-70" dirty="0"/>
              <a:t> </a:t>
            </a:r>
            <a:r>
              <a:rPr dirty="0"/>
              <a:t>look</a:t>
            </a:r>
            <a:r>
              <a:rPr spc="-70" dirty="0"/>
              <a:t> </a:t>
            </a:r>
            <a:r>
              <a:rPr spc="-190" dirty="0"/>
              <a:t>at</a:t>
            </a:r>
            <a:r>
              <a:rPr spc="-60" dirty="0"/>
              <a:t> </a:t>
            </a:r>
            <a:r>
              <a:rPr spc="-85" dirty="0"/>
              <a:t>several</a:t>
            </a:r>
            <a:r>
              <a:rPr spc="-65" dirty="0"/>
              <a:t> </a:t>
            </a:r>
            <a:r>
              <a:rPr spc="-55" dirty="0"/>
              <a:t>regularization</a:t>
            </a:r>
            <a:r>
              <a:rPr spc="-70" dirty="0"/>
              <a:t> </a:t>
            </a:r>
            <a:r>
              <a:rPr spc="-45" dirty="0"/>
              <a:t>techniques</a:t>
            </a:r>
            <a:r>
              <a:rPr spc="-70" dirty="0"/>
              <a:t> </a:t>
            </a:r>
            <a:r>
              <a:rPr spc="-170" dirty="0"/>
              <a:t>that</a:t>
            </a:r>
            <a:r>
              <a:rPr spc="-60" dirty="0"/>
              <a:t> </a:t>
            </a:r>
            <a:r>
              <a:rPr dirty="0"/>
              <a:t>can</a:t>
            </a:r>
            <a:r>
              <a:rPr spc="-65" dirty="0"/>
              <a:t> </a:t>
            </a:r>
            <a:r>
              <a:rPr spc="-60" dirty="0"/>
              <a:t>reduce</a:t>
            </a:r>
            <a:r>
              <a:rPr spc="-70" dirty="0"/>
              <a:t> </a:t>
            </a:r>
            <a:r>
              <a:rPr spc="-140" dirty="0"/>
              <a:t>the</a:t>
            </a:r>
            <a:r>
              <a:rPr spc="-60" dirty="0"/>
              <a:t> </a:t>
            </a:r>
            <a:r>
              <a:rPr spc="-45" dirty="0"/>
              <a:t>risk</a:t>
            </a:r>
            <a:r>
              <a:rPr spc="-70" dirty="0"/>
              <a:t> </a:t>
            </a:r>
            <a:r>
              <a:rPr spc="-25" dirty="0"/>
              <a:t>of </a:t>
            </a:r>
            <a:r>
              <a:rPr spc="-10" dirty="0"/>
              <a:t>overfitting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222512"/>
            <a:ext cx="3914775" cy="1210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190" dirty="0">
                <a:latin typeface="Trebuchet MS"/>
                <a:cs typeface="Trebuchet MS"/>
              </a:rPr>
              <a:t>A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list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70" dirty="0">
                <a:latin typeface="Trebuchet MS"/>
                <a:cs typeface="Trebuchet MS"/>
              </a:rPr>
              <a:t> training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instances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spc="65" dirty="0">
                <a:latin typeface="Trebuchet MS"/>
                <a:cs typeface="Trebuchet MS"/>
              </a:rPr>
              <a:t>Model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selection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8500" y="2664518"/>
            <a:ext cx="6998334" cy="131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51375">
              <a:lnSpc>
                <a:spcPct val="100000"/>
              </a:lnSpc>
              <a:spcBef>
                <a:spcPts val="100"/>
              </a:spcBef>
            </a:pPr>
            <a:r>
              <a:rPr sz="3000" i="1" spc="-20" dirty="0">
                <a:latin typeface="Times New Roman"/>
                <a:cs typeface="Times New Roman"/>
              </a:rPr>
              <a:t>h</a:t>
            </a:r>
            <a:r>
              <a:rPr sz="3000" spc="-20" dirty="0">
                <a:latin typeface="Cambria"/>
                <a:cs typeface="Cambria"/>
              </a:rPr>
              <a:t>(</a:t>
            </a:r>
            <a:r>
              <a:rPr sz="3000" i="1" spc="-20" dirty="0">
                <a:latin typeface="Times New Roman"/>
                <a:cs typeface="Times New Roman"/>
              </a:rPr>
              <a:t>x</a:t>
            </a:r>
            <a:r>
              <a:rPr sz="3000" spc="-20" dirty="0">
                <a:latin typeface="Cambria"/>
                <a:cs typeface="Cambria"/>
              </a:rPr>
              <a:t>)</a:t>
            </a:r>
            <a:r>
              <a:rPr sz="3000" spc="35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40" dirty="0">
                <a:latin typeface="Cambria"/>
                <a:cs typeface="Cambria"/>
              </a:rPr>
              <a:t> </a:t>
            </a:r>
            <a:r>
              <a:rPr sz="3000" i="1" spc="-20" dirty="0">
                <a:latin typeface="Times New Roman"/>
                <a:cs typeface="Times New Roman"/>
              </a:rPr>
              <a:t>θ</a:t>
            </a:r>
            <a:r>
              <a:rPr sz="3150" spc="-30" baseline="-19841" dirty="0">
                <a:latin typeface="Cambria"/>
                <a:cs typeface="Cambria"/>
              </a:rPr>
              <a:t>0</a:t>
            </a:r>
            <a:r>
              <a:rPr sz="3150" spc="150" baseline="-19841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+</a:t>
            </a:r>
            <a:r>
              <a:rPr sz="3000" spc="-100" dirty="0">
                <a:latin typeface="Cambria"/>
                <a:cs typeface="Cambria"/>
              </a:rPr>
              <a:t> </a:t>
            </a:r>
            <a:r>
              <a:rPr sz="3000" i="1" spc="-25" dirty="0">
                <a:latin typeface="Times New Roman"/>
                <a:cs typeface="Times New Roman"/>
              </a:rPr>
              <a:t>θ</a:t>
            </a:r>
            <a:r>
              <a:rPr sz="3150" spc="-37" baseline="-19841" dirty="0">
                <a:latin typeface="Cambria"/>
                <a:cs typeface="Cambria"/>
              </a:rPr>
              <a:t>1</a:t>
            </a:r>
            <a:r>
              <a:rPr sz="3000" i="1" spc="-25" dirty="0">
                <a:latin typeface="Times New Roman"/>
                <a:cs typeface="Times New Roman"/>
              </a:rPr>
              <a:t>x</a:t>
            </a:r>
            <a:endParaRPr sz="3000">
              <a:latin typeface="Times New Roman"/>
              <a:cs typeface="Times New Roman"/>
            </a:endParaRPr>
          </a:p>
          <a:p>
            <a:pPr marL="431800" indent="-381000">
              <a:lnSpc>
                <a:spcPct val="100000"/>
              </a:lnSpc>
              <a:spcBef>
                <a:spcPts val="3150"/>
              </a:spcBef>
              <a:buSzPct val="122000"/>
              <a:buChar char="•"/>
              <a:tabLst>
                <a:tab pos="431800" algn="l"/>
              </a:tabLst>
            </a:pPr>
            <a:r>
              <a:rPr sz="2500" spc="-140" dirty="0">
                <a:latin typeface="Trebuchet MS"/>
                <a:cs typeface="Trebuchet MS"/>
              </a:rPr>
              <a:t>Parameters: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800" i="1" spc="-45" dirty="0">
                <a:latin typeface="Times New Roman"/>
                <a:cs typeface="Times New Roman"/>
              </a:rPr>
              <a:t>θ</a:t>
            </a:r>
            <a:r>
              <a:rPr sz="2925" spc="-67" baseline="-19943" dirty="0">
                <a:latin typeface="Cambria"/>
                <a:cs typeface="Cambria"/>
              </a:rPr>
              <a:t>0</a:t>
            </a:r>
            <a:r>
              <a:rPr sz="2800" spc="-45" dirty="0">
                <a:latin typeface="Cambria"/>
                <a:cs typeface="Cambria"/>
              </a:rPr>
              <a:t>,</a:t>
            </a:r>
            <a:r>
              <a:rPr sz="2800" spc="-120" dirty="0">
                <a:latin typeface="Cambria"/>
                <a:cs typeface="Cambria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θ</a:t>
            </a:r>
            <a:r>
              <a:rPr sz="2925" spc="-37" baseline="-19943" dirty="0">
                <a:latin typeface="Cambria"/>
                <a:cs typeface="Cambria"/>
              </a:rPr>
              <a:t>1</a:t>
            </a:r>
            <a:endParaRPr sz="2925" baseline="-19943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8500" y="5078974"/>
            <a:ext cx="11045190" cy="158178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431800" marR="43180" indent="-381000">
              <a:lnSpc>
                <a:spcPts val="2850"/>
              </a:lnSpc>
              <a:spcBef>
                <a:spcPts val="610"/>
              </a:spcBef>
              <a:buSzPct val="122000"/>
              <a:buChar char="•"/>
              <a:tabLst>
                <a:tab pos="431800" algn="l"/>
              </a:tabLst>
            </a:pPr>
            <a:r>
              <a:rPr sz="2500" spc="-80" dirty="0">
                <a:latin typeface="Trebuchet MS"/>
                <a:cs typeface="Trebuchet MS"/>
              </a:rPr>
              <a:t>Criterion: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Choose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these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two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parameters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such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that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h</a:t>
            </a:r>
            <a:r>
              <a:rPr sz="2800" spc="-25" dirty="0">
                <a:latin typeface="Cambria"/>
                <a:cs typeface="Cambria"/>
              </a:rPr>
              <a:t>(</a:t>
            </a:r>
            <a:r>
              <a:rPr sz="2800" i="1" spc="-25" dirty="0">
                <a:latin typeface="Times New Roman"/>
                <a:cs typeface="Times New Roman"/>
              </a:rPr>
              <a:t>x</a:t>
            </a:r>
            <a:r>
              <a:rPr sz="2925" spc="-37" baseline="29914" dirty="0">
                <a:latin typeface="Cambria"/>
                <a:cs typeface="Cambria"/>
              </a:rPr>
              <a:t>(</a:t>
            </a:r>
            <a:r>
              <a:rPr sz="2925" i="1" spc="-37" baseline="29914" dirty="0">
                <a:latin typeface="Times New Roman"/>
                <a:cs typeface="Times New Roman"/>
              </a:rPr>
              <a:t>i</a:t>
            </a:r>
            <a:r>
              <a:rPr sz="2925" spc="-37" baseline="29914" dirty="0">
                <a:latin typeface="Cambria"/>
                <a:cs typeface="Cambria"/>
              </a:rPr>
              <a:t>)</a:t>
            </a:r>
            <a:r>
              <a:rPr sz="2800" spc="-25" dirty="0">
                <a:latin typeface="Cambria"/>
                <a:cs typeface="Cambria"/>
              </a:rPr>
              <a:t>)</a:t>
            </a:r>
            <a:r>
              <a:rPr sz="2800" spc="55" dirty="0">
                <a:latin typeface="Cambria"/>
                <a:cs typeface="Cambria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close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y</a:t>
            </a:r>
            <a:r>
              <a:rPr sz="2925" baseline="29914" dirty="0">
                <a:latin typeface="Cambria"/>
                <a:cs typeface="Cambria"/>
              </a:rPr>
              <a:t>(</a:t>
            </a:r>
            <a:r>
              <a:rPr sz="2925" i="1" baseline="29914" dirty="0">
                <a:latin typeface="Times New Roman"/>
                <a:cs typeface="Times New Roman"/>
              </a:rPr>
              <a:t>i</a:t>
            </a:r>
            <a:r>
              <a:rPr sz="2925" baseline="29914" dirty="0">
                <a:latin typeface="Cambria"/>
                <a:cs typeface="Cambria"/>
              </a:rPr>
              <a:t>)</a:t>
            </a:r>
            <a:r>
              <a:rPr sz="2925" spc="367" baseline="29914" dirty="0">
                <a:latin typeface="Cambria"/>
                <a:cs typeface="Cambria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for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our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dataset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431800" indent="-381000">
              <a:lnSpc>
                <a:spcPct val="100000"/>
              </a:lnSpc>
              <a:buSzPct val="122000"/>
              <a:buChar char="•"/>
              <a:tabLst>
                <a:tab pos="431800" algn="l"/>
              </a:tabLst>
            </a:pPr>
            <a:r>
              <a:rPr sz="2500" spc="-10" dirty="0">
                <a:latin typeface="Trebuchet MS"/>
                <a:cs typeface="Trebuchet MS"/>
              </a:rPr>
              <a:t>Cost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function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or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objective </a:t>
            </a:r>
            <a:r>
              <a:rPr sz="2500" spc="-10" dirty="0">
                <a:latin typeface="Trebuchet MS"/>
                <a:cs typeface="Trebuchet MS"/>
              </a:rPr>
              <a:t>function: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88522" y="1185421"/>
            <a:ext cx="2381885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800" spc="390" dirty="0">
                <a:latin typeface="Cambria"/>
                <a:cs typeface="Cambria"/>
              </a:rPr>
              <a:t>𝒟</a:t>
            </a:r>
            <a:r>
              <a:rPr sz="2800" spc="229" dirty="0">
                <a:latin typeface="Cambria"/>
                <a:cs typeface="Cambria"/>
              </a:rPr>
              <a:t> </a:t>
            </a:r>
            <a:r>
              <a:rPr sz="2800" spc="355" dirty="0">
                <a:latin typeface="Cambria"/>
                <a:cs typeface="Cambria"/>
              </a:rPr>
              <a:t>=</a:t>
            </a:r>
            <a:r>
              <a:rPr sz="2800" spc="229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{(</a:t>
            </a:r>
            <a:r>
              <a:rPr sz="2800" i="1" dirty="0">
                <a:latin typeface="Times New Roman"/>
                <a:cs typeface="Times New Roman"/>
              </a:rPr>
              <a:t>x</a:t>
            </a:r>
            <a:r>
              <a:rPr sz="2925" baseline="29914" dirty="0">
                <a:latin typeface="Cambria"/>
                <a:cs typeface="Cambria"/>
              </a:rPr>
              <a:t>(</a:t>
            </a:r>
            <a:r>
              <a:rPr sz="2925" i="1" baseline="29914" dirty="0">
                <a:latin typeface="Times New Roman"/>
                <a:cs typeface="Times New Roman"/>
              </a:rPr>
              <a:t>i</a:t>
            </a:r>
            <a:r>
              <a:rPr sz="2925" baseline="29914" dirty="0">
                <a:latin typeface="Cambria"/>
                <a:cs typeface="Cambria"/>
              </a:rPr>
              <a:t>)</a:t>
            </a:r>
            <a:r>
              <a:rPr sz="2800" dirty="0">
                <a:latin typeface="Cambria"/>
                <a:cs typeface="Cambria"/>
              </a:rPr>
              <a:t>,</a:t>
            </a:r>
            <a:r>
              <a:rPr sz="2800" spc="-110" dirty="0">
                <a:latin typeface="Cambria"/>
                <a:cs typeface="Cambria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y</a:t>
            </a:r>
            <a:r>
              <a:rPr sz="2925" spc="-15" baseline="29914" dirty="0">
                <a:latin typeface="Cambria"/>
                <a:cs typeface="Cambria"/>
              </a:rPr>
              <a:t>(</a:t>
            </a:r>
            <a:r>
              <a:rPr sz="2925" i="1" spc="-15" baseline="29914" dirty="0">
                <a:latin typeface="Times New Roman"/>
                <a:cs typeface="Times New Roman"/>
              </a:rPr>
              <a:t>i</a:t>
            </a:r>
            <a:r>
              <a:rPr sz="2925" spc="-15" baseline="29914" dirty="0">
                <a:latin typeface="Cambria"/>
                <a:cs typeface="Cambria"/>
              </a:rPr>
              <a:t>)</a:t>
            </a:r>
            <a:r>
              <a:rPr sz="2800" spc="-10" dirty="0">
                <a:latin typeface="Cambria"/>
                <a:cs typeface="Cambria"/>
              </a:rPr>
              <a:t>)}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19487" y="1157054"/>
            <a:ext cx="394335" cy="57023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 marR="5080">
              <a:lnSpc>
                <a:spcPts val="1910"/>
              </a:lnSpc>
              <a:spcBef>
                <a:spcPts val="555"/>
              </a:spcBef>
            </a:pPr>
            <a:r>
              <a:rPr sz="1950" i="1" spc="-50" dirty="0">
                <a:latin typeface="Times New Roman"/>
                <a:cs typeface="Times New Roman"/>
              </a:rPr>
              <a:t>n </a:t>
            </a:r>
            <a:r>
              <a:rPr sz="1950" i="1" spc="40" dirty="0">
                <a:latin typeface="Times New Roman"/>
                <a:cs typeface="Times New Roman"/>
              </a:rPr>
              <a:t>i</a:t>
            </a:r>
            <a:r>
              <a:rPr sz="1950" spc="40" dirty="0">
                <a:latin typeface="Cambria"/>
                <a:cs typeface="Cambria"/>
              </a:rPr>
              <a:t>=1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Case</a:t>
            </a:r>
            <a:r>
              <a:rPr spc="-204" dirty="0"/>
              <a:t> </a:t>
            </a:r>
            <a:r>
              <a:rPr spc="-280" dirty="0"/>
              <a:t>study:</a:t>
            </a:r>
            <a:r>
              <a:rPr spc="-204" dirty="0"/>
              <a:t> </a:t>
            </a:r>
            <a:r>
              <a:rPr spc="-250" dirty="0"/>
              <a:t>univariate</a:t>
            </a:r>
            <a:r>
              <a:rPr spc="-204" dirty="0"/>
              <a:t> </a:t>
            </a:r>
            <a:r>
              <a:rPr spc="-229" dirty="0"/>
              <a:t>linear</a:t>
            </a:r>
            <a:r>
              <a:rPr spc="-204" dirty="0"/>
              <a:t> </a:t>
            </a:r>
            <a:r>
              <a:rPr spc="-185" dirty="0"/>
              <a:t>regression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67446" y="6978525"/>
            <a:ext cx="1634489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i="1" spc="-65" dirty="0">
                <a:latin typeface="Times New Roman"/>
                <a:cs typeface="Times New Roman"/>
              </a:rPr>
              <a:t>J</a:t>
            </a:r>
            <a:r>
              <a:rPr sz="3000" spc="-65" dirty="0">
                <a:latin typeface="Cambria"/>
                <a:cs typeface="Cambria"/>
              </a:rPr>
              <a:t>(</a:t>
            </a:r>
            <a:r>
              <a:rPr sz="3000" i="1" spc="-65" dirty="0">
                <a:latin typeface="Times New Roman"/>
                <a:cs typeface="Times New Roman"/>
              </a:rPr>
              <a:t>θ</a:t>
            </a:r>
            <a:r>
              <a:rPr sz="3150" spc="-97" baseline="-19841" dirty="0">
                <a:latin typeface="Cambria"/>
                <a:cs typeface="Cambria"/>
              </a:rPr>
              <a:t>0</a:t>
            </a:r>
            <a:r>
              <a:rPr sz="3000" spc="-65" dirty="0">
                <a:latin typeface="Cambria"/>
                <a:cs typeface="Cambria"/>
              </a:rPr>
              <a:t>,</a:t>
            </a:r>
            <a:r>
              <a:rPr sz="3000" spc="-165" dirty="0">
                <a:latin typeface="Cambria"/>
                <a:cs typeface="Cambria"/>
              </a:rPr>
              <a:t> </a:t>
            </a:r>
            <a:r>
              <a:rPr sz="3000" i="1" spc="-50" dirty="0">
                <a:latin typeface="Times New Roman"/>
                <a:cs typeface="Times New Roman"/>
              </a:rPr>
              <a:t>θ</a:t>
            </a:r>
            <a:r>
              <a:rPr sz="3150" spc="-75" baseline="-19841" dirty="0">
                <a:latin typeface="Cambria"/>
                <a:cs typeface="Cambria"/>
              </a:rPr>
              <a:t>1</a:t>
            </a:r>
            <a:r>
              <a:rPr sz="3000" spc="-50" dirty="0">
                <a:latin typeface="Cambria"/>
                <a:cs typeface="Cambria"/>
              </a:rPr>
              <a:t>)</a:t>
            </a:r>
            <a:r>
              <a:rPr sz="3000" spc="-75" dirty="0">
                <a:latin typeface="Cambria"/>
                <a:cs typeface="Cambria"/>
              </a:rPr>
              <a:t> </a:t>
            </a:r>
            <a:r>
              <a:rPr sz="3000" spc="330" dirty="0">
                <a:latin typeface="Cambria"/>
                <a:cs typeface="Cambria"/>
              </a:rPr>
              <a:t>=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94851" y="6709905"/>
            <a:ext cx="2165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14" dirty="0">
                <a:latin typeface="Cambria"/>
                <a:cs typeface="Cambria"/>
              </a:rPr>
              <a:t>1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69450" y="7263274"/>
            <a:ext cx="267335" cy="25400"/>
          </a:xfrm>
          <a:custGeom>
            <a:avLst/>
            <a:gdLst/>
            <a:ahLst/>
            <a:cxnLst/>
            <a:rect l="l" t="t" r="r" b="b"/>
            <a:pathLst>
              <a:path w="267335" h="25400">
                <a:moveTo>
                  <a:pt x="266715" y="0"/>
                </a:moveTo>
                <a:lnTo>
                  <a:pt x="0" y="0"/>
                </a:lnTo>
                <a:lnTo>
                  <a:pt x="0" y="25147"/>
                </a:lnTo>
                <a:lnTo>
                  <a:pt x="266715" y="25147"/>
                </a:lnTo>
                <a:lnTo>
                  <a:pt x="2667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769451" y="7444133"/>
            <a:ext cx="81026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75920" algn="l"/>
              </a:tabLst>
            </a:pPr>
            <a:r>
              <a:rPr sz="4500" spc="-75" baseline="25925" dirty="0">
                <a:latin typeface="Cambria"/>
                <a:cs typeface="Cambria"/>
              </a:rPr>
              <a:t>2</a:t>
            </a:r>
            <a:r>
              <a:rPr sz="4500" baseline="25925" dirty="0">
                <a:latin typeface="Cambria"/>
                <a:cs typeface="Cambria"/>
              </a:rPr>
              <a:t>	</a:t>
            </a:r>
            <a:r>
              <a:rPr sz="2100" i="1" spc="35" dirty="0">
                <a:latin typeface="Times New Roman"/>
                <a:cs typeface="Times New Roman"/>
              </a:rPr>
              <a:t>i</a:t>
            </a:r>
            <a:r>
              <a:rPr sz="2100" spc="35" dirty="0">
                <a:latin typeface="Cambria"/>
                <a:cs typeface="Cambria"/>
              </a:rPr>
              <a:t>=1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6263358" y="6654848"/>
            <a:ext cx="16129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i="1" spc="-50" dirty="0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59450" y="6837547"/>
            <a:ext cx="275209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500" spc="2925" baseline="-49074" dirty="0">
                <a:latin typeface="Sitka Small"/>
                <a:cs typeface="Sitka Small"/>
              </a:rPr>
              <a:t>∑</a:t>
            </a:r>
            <a:r>
              <a:rPr sz="4500" spc="-644" baseline="-49074" dirty="0">
                <a:latin typeface="Sitka Small"/>
                <a:cs typeface="Sitka Small"/>
              </a:rPr>
              <a:t> </a:t>
            </a:r>
            <a:r>
              <a:rPr sz="4500" spc="-52" baseline="-31481" dirty="0">
                <a:latin typeface="Sitka Small"/>
                <a:cs typeface="Sitka Small"/>
              </a:rPr>
              <a:t>(</a:t>
            </a:r>
            <a:r>
              <a:rPr sz="4500" i="1" spc="-52" baseline="-20370" dirty="0">
                <a:latin typeface="Times New Roman"/>
                <a:cs typeface="Times New Roman"/>
              </a:rPr>
              <a:t>h</a:t>
            </a:r>
            <a:r>
              <a:rPr sz="4500" spc="-52" baseline="-20370" dirty="0">
                <a:latin typeface="Cambria"/>
                <a:cs typeface="Cambria"/>
              </a:rPr>
              <a:t>(</a:t>
            </a:r>
            <a:r>
              <a:rPr sz="4500" i="1" spc="-52" baseline="-20370" dirty="0">
                <a:latin typeface="Times New Roman"/>
                <a:cs typeface="Times New Roman"/>
              </a:rPr>
              <a:t>x</a:t>
            </a:r>
            <a:r>
              <a:rPr sz="2100" spc="-35" dirty="0">
                <a:latin typeface="Cambria"/>
                <a:cs typeface="Cambria"/>
              </a:rPr>
              <a:t>(</a:t>
            </a:r>
            <a:r>
              <a:rPr sz="2100" i="1" spc="-35" dirty="0">
                <a:latin typeface="Times New Roman"/>
                <a:cs typeface="Times New Roman"/>
              </a:rPr>
              <a:t>i</a:t>
            </a:r>
            <a:r>
              <a:rPr sz="2100" spc="-35" dirty="0">
                <a:latin typeface="Cambria"/>
                <a:cs typeface="Cambria"/>
              </a:rPr>
              <a:t>)</a:t>
            </a:r>
            <a:r>
              <a:rPr sz="4500" spc="-52" baseline="-20370" dirty="0">
                <a:latin typeface="Cambria"/>
                <a:cs typeface="Cambria"/>
              </a:rPr>
              <a:t>)</a:t>
            </a:r>
            <a:r>
              <a:rPr sz="4500" spc="-82" baseline="-20370" dirty="0">
                <a:latin typeface="Cambria"/>
                <a:cs typeface="Cambria"/>
              </a:rPr>
              <a:t> </a:t>
            </a:r>
            <a:r>
              <a:rPr sz="4500" spc="569" baseline="-20370" dirty="0">
                <a:latin typeface="Cambria"/>
                <a:cs typeface="Cambria"/>
              </a:rPr>
              <a:t>−</a:t>
            </a:r>
            <a:r>
              <a:rPr sz="4500" spc="-37" baseline="-20370" dirty="0">
                <a:latin typeface="Cambria"/>
                <a:cs typeface="Cambria"/>
              </a:rPr>
              <a:t> </a:t>
            </a:r>
            <a:r>
              <a:rPr sz="4500" i="1" spc="-30" baseline="-20370" dirty="0">
                <a:latin typeface="Times New Roman"/>
                <a:cs typeface="Times New Roman"/>
              </a:rPr>
              <a:t>y</a:t>
            </a:r>
            <a:r>
              <a:rPr sz="2100" spc="-20" dirty="0">
                <a:latin typeface="Cambria"/>
                <a:cs typeface="Cambria"/>
              </a:rPr>
              <a:t>(</a:t>
            </a:r>
            <a:r>
              <a:rPr sz="2100" i="1" spc="-20" dirty="0">
                <a:latin typeface="Times New Roman"/>
                <a:cs typeface="Times New Roman"/>
              </a:rPr>
              <a:t>i</a:t>
            </a:r>
            <a:r>
              <a:rPr sz="2100" spc="-20" dirty="0">
                <a:latin typeface="Cambria"/>
                <a:cs typeface="Cambria"/>
              </a:rPr>
              <a:t>)</a:t>
            </a:r>
            <a:r>
              <a:rPr sz="4500" spc="-30" baseline="-31481" dirty="0">
                <a:latin typeface="Sitka Small"/>
                <a:cs typeface="Sitka Small"/>
              </a:rPr>
              <a:t>)</a:t>
            </a:r>
            <a:endParaRPr sz="4500" baseline="-31481">
              <a:latin typeface="Sitka Small"/>
              <a:cs typeface="Sitka Smal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60607" y="6852979"/>
            <a:ext cx="16129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Cambria"/>
                <a:cs typeface="Cambria"/>
              </a:rPr>
              <a:t>2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23900" y="1185421"/>
            <a:ext cx="9542780" cy="1252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06400" indent="-381000">
              <a:lnSpc>
                <a:spcPct val="100000"/>
              </a:lnSpc>
              <a:spcBef>
                <a:spcPts val="90"/>
              </a:spcBef>
              <a:buSzPct val="122000"/>
              <a:buChar char="•"/>
              <a:tabLst>
                <a:tab pos="406400" algn="l"/>
              </a:tabLst>
            </a:pPr>
            <a:r>
              <a:rPr sz="2500" spc="-190" dirty="0">
                <a:latin typeface="Trebuchet MS"/>
                <a:cs typeface="Trebuchet MS"/>
              </a:rPr>
              <a:t>Let’s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assume</a:t>
            </a:r>
            <a:r>
              <a:rPr sz="2500" spc="-165" dirty="0">
                <a:latin typeface="Trebuchet MS"/>
                <a:cs typeface="Trebuchet MS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θ</a:t>
            </a:r>
            <a:r>
              <a:rPr sz="2925" baseline="-19943" dirty="0">
                <a:latin typeface="Cambria"/>
                <a:cs typeface="Cambria"/>
              </a:rPr>
              <a:t>0</a:t>
            </a:r>
            <a:r>
              <a:rPr sz="2925" spc="247" baseline="-19943" dirty="0">
                <a:latin typeface="Cambria"/>
                <a:cs typeface="Cambria"/>
              </a:rPr>
              <a:t> </a:t>
            </a:r>
            <a:r>
              <a:rPr sz="2800" spc="355" dirty="0">
                <a:latin typeface="Cambria"/>
                <a:cs typeface="Cambria"/>
              </a:rPr>
              <a:t>=</a:t>
            </a:r>
            <a:r>
              <a:rPr sz="2800" spc="95" dirty="0">
                <a:latin typeface="Cambria"/>
                <a:cs typeface="Cambria"/>
              </a:rPr>
              <a:t> </a:t>
            </a:r>
            <a:r>
              <a:rPr sz="2800" spc="-190" dirty="0">
                <a:latin typeface="Cambria"/>
                <a:cs typeface="Cambria"/>
              </a:rPr>
              <a:t>0</a:t>
            </a:r>
            <a:r>
              <a:rPr sz="2500" spc="-190" dirty="0">
                <a:latin typeface="Trebuchet MS"/>
                <a:cs typeface="Trebuchet MS"/>
              </a:rPr>
              <a:t>,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which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means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that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800" i="1" spc="-20" dirty="0">
                <a:latin typeface="Times New Roman"/>
                <a:cs typeface="Times New Roman"/>
              </a:rPr>
              <a:t>h</a:t>
            </a:r>
            <a:r>
              <a:rPr sz="2800" spc="-20" dirty="0">
                <a:latin typeface="Cambria"/>
                <a:cs typeface="Cambria"/>
              </a:rPr>
              <a:t>(</a:t>
            </a:r>
            <a:r>
              <a:rPr sz="2800" i="1" spc="-20" dirty="0">
                <a:latin typeface="Times New Roman"/>
                <a:cs typeface="Times New Roman"/>
              </a:rPr>
              <a:t>x</a:t>
            </a:r>
            <a:r>
              <a:rPr sz="2800" spc="-20" dirty="0">
                <a:latin typeface="Cambria"/>
                <a:cs typeface="Cambria"/>
              </a:rPr>
              <a:t>)</a:t>
            </a:r>
            <a:r>
              <a:rPr sz="2800" spc="95" dirty="0">
                <a:latin typeface="Cambria"/>
                <a:cs typeface="Cambria"/>
              </a:rPr>
              <a:t> </a:t>
            </a:r>
            <a:r>
              <a:rPr sz="2800" spc="355" dirty="0">
                <a:latin typeface="Cambria"/>
                <a:cs typeface="Cambria"/>
              </a:rPr>
              <a:t>=</a:t>
            </a:r>
            <a:r>
              <a:rPr sz="2800" spc="95" dirty="0">
                <a:latin typeface="Cambria"/>
                <a:cs typeface="Cambria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θ</a:t>
            </a:r>
            <a:r>
              <a:rPr sz="2925" spc="-37" baseline="-19943" dirty="0">
                <a:latin typeface="Cambria"/>
                <a:cs typeface="Cambria"/>
              </a:rPr>
              <a:t>1</a:t>
            </a:r>
            <a:r>
              <a:rPr sz="2800" i="1" spc="-25" dirty="0">
                <a:latin typeface="Times New Roman"/>
                <a:cs typeface="Times New Roman"/>
              </a:rPr>
              <a:t>x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rebuchet MS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406400" indent="-381000">
              <a:lnSpc>
                <a:spcPct val="100000"/>
              </a:lnSpc>
              <a:buSzPct val="122000"/>
              <a:buChar char="•"/>
              <a:tabLst>
                <a:tab pos="406400" algn="l"/>
              </a:tabLst>
            </a:pPr>
            <a:r>
              <a:rPr sz="2500" dirty="0">
                <a:latin typeface="Trebuchet MS"/>
                <a:cs typeface="Trebuchet MS"/>
              </a:rPr>
              <a:t>Goal:</a:t>
            </a:r>
            <a:r>
              <a:rPr sz="2500" spc="-1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Find</a:t>
            </a:r>
            <a:r>
              <a:rPr sz="2500" spc="-18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value</a:t>
            </a:r>
            <a:r>
              <a:rPr sz="2500" spc="-16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θ</a:t>
            </a:r>
            <a:r>
              <a:rPr sz="2925" baseline="-19943" dirty="0">
                <a:latin typeface="Cambria"/>
                <a:cs typeface="Cambria"/>
              </a:rPr>
              <a:t>1</a:t>
            </a:r>
            <a:r>
              <a:rPr sz="2925" spc="284" baseline="-19943" dirty="0">
                <a:latin typeface="Cambria"/>
                <a:cs typeface="Cambria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that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leads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minimum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value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J</a:t>
            </a:r>
            <a:r>
              <a:rPr sz="2800" spc="-10" dirty="0">
                <a:latin typeface="Cambria"/>
                <a:cs typeface="Cambria"/>
              </a:rPr>
              <a:t>(</a:t>
            </a:r>
            <a:r>
              <a:rPr sz="2800" i="1" spc="-10" dirty="0">
                <a:latin typeface="Times New Roman"/>
                <a:cs typeface="Times New Roman"/>
              </a:rPr>
              <a:t>θ</a:t>
            </a:r>
            <a:r>
              <a:rPr sz="2925" spc="-15" baseline="-19943" dirty="0">
                <a:latin typeface="Cambria"/>
                <a:cs typeface="Cambria"/>
              </a:rPr>
              <a:t>1</a:t>
            </a:r>
            <a:r>
              <a:rPr sz="2800" spc="-10" dirty="0">
                <a:latin typeface="Cambria"/>
                <a:cs typeface="Cambria"/>
              </a:rPr>
              <a:t>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0" y="7354167"/>
            <a:ext cx="1054608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130" dirty="0">
                <a:latin typeface="Trebuchet MS"/>
                <a:cs typeface="Trebuchet MS"/>
              </a:rPr>
              <a:t>Therefore,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mathematical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optimization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central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30" dirty="0">
                <a:latin typeface="Trebuchet MS"/>
                <a:cs typeface="Trebuchet MS"/>
              </a:rPr>
              <a:t>part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machine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learning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215" dirty="0"/>
              <a:t> </a:t>
            </a:r>
            <a:r>
              <a:rPr spc="-195" dirty="0"/>
              <a:t>to</a:t>
            </a:r>
            <a:r>
              <a:rPr spc="-215" dirty="0"/>
              <a:t> </a:t>
            </a:r>
            <a:r>
              <a:rPr spc="-210" dirty="0"/>
              <a:t>choose </a:t>
            </a:r>
            <a:r>
              <a:rPr spc="-204" dirty="0"/>
              <a:t>model</a:t>
            </a:r>
            <a:r>
              <a:rPr spc="-215" dirty="0"/>
              <a:t> </a:t>
            </a:r>
            <a:r>
              <a:rPr spc="-265" dirty="0"/>
              <a:t>parameters?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8706" y="3222717"/>
            <a:ext cx="4224573" cy="32886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82834" y="3222717"/>
            <a:ext cx="4198575" cy="331466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5" dirty="0"/>
              <a:t>First</a:t>
            </a:r>
            <a:r>
              <a:rPr spc="-229" dirty="0"/>
              <a:t> </a:t>
            </a:r>
            <a:r>
              <a:rPr spc="-265" dirty="0"/>
              <a:t>derivative</a:t>
            </a:r>
            <a:r>
              <a:rPr spc="-229" dirty="0"/>
              <a:t> </a:t>
            </a:r>
            <a:r>
              <a:rPr spc="-330" dirty="0"/>
              <a:t>test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768539"/>
            <a:ext cx="13004800" cy="7741920"/>
            <a:chOff x="0" y="768539"/>
            <a:chExt cx="13004800" cy="77419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68539"/>
              <a:ext cx="13004800" cy="73152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895840" y="7240157"/>
              <a:ext cx="3076575" cy="1270000"/>
            </a:xfrm>
            <a:custGeom>
              <a:avLst/>
              <a:gdLst/>
              <a:ahLst/>
              <a:cxnLst/>
              <a:rect l="l" t="t" r="r" b="b"/>
              <a:pathLst>
                <a:path w="3076575" h="1270000">
                  <a:moveTo>
                    <a:pt x="3076568" y="0"/>
                  </a:moveTo>
                  <a:lnTo>
                    <a:pt x="0" y="0"/>
                  </a:lnTo>
                  <a:lnTo>
                    <a:pt x="0" y="1269999"/>
                  </a:lnTo>
                  <a:lnTo>
                    <a:pt x="3076568" y="1269999"/>
                  </a:lnTo>
                  <a:lnTo>
                    <a:pt x="30765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23900" y="1197313"/>
            <a:ext cx="10085070" cy="1607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406400" algn="l"/>
              </a:tabLst>
            </a:pPr>
            <a:r>
              <a:rPr sz="2500" spc="-45" dirty="0">
                <a:latin typeface="Trebuchet MS"/>
                <a:cs typeface="Trebuchet MS"/>
              </a:rPr>
              <a:t>Gradient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captures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all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95" dirty="0">
                <a:solidFill>
                  <a:srgbClr val="0076BA"/>
                </a:solidFill>
                <a:latin typeface="Trebuchet MS"/>
                <a:cs typeface="Trebuchet MS"/>
              </a:rPr>
              <a:t>partial</a:t>
            </a:r>
            <a:r>
              <a:rPr sz="2500" spc="-80" dirty="0">
                <a:solidFill>
                  <a:srgbClr val="0076BA"/>
                </a:solidFill>
                <a:latin typeface="Trebuchet MS"/>
                <a:cs typeface="Trebuchet MS"/>
              </a:rPr>
              <a:t> </a:t>
            </a:r>
            <a:r>
              <a:rPr sz="2500" spc="-95" dirty="0">
                <a:solidFill>
                  <a:srgbClr val="0076BA"/>
                </a:solidFill>
                <a:latin typeface="Trebuchet MS"/>
                <a:cs typeface="Trebuchet MS"/>
              </a:rPr>
              <a:t>derivatives</a:t>
            </a:r>
            <a:r>
              <a:rPr sz="2500" spc="-80" dirty="0">
                <a:solidFill>
                  <a:srgbClr val="0076BA"/>
                </a:solidFill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multi-</a:t>
            </a:r>
            <a:r>
              <a:rPr sz="2500" spc="-75" dirty="0">
                <a:latin typeface="Trebuchet MS"/>
                <a:cs typeface="Trebuchet MS"/>
              </a:rPr>
              <a:t>variable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function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406400" indent="-381000">
              <a:lnSpc>
                <a:spcPts val="2930"/>
              </a:lnSpc>
              <a:buSzPct val="122000"/>
              <a:buChar char="•"/>
              <a:tabLst>
                <a:tab pos="406400" algn="l"/>
              </a:tabLst>
            </a:pPr>
            <a:r>
              <a:rPr sz="2500" spc="-10" dirty="0">
                <a:latin typeface="Trebuchet MS"/>
                <a:cs typeface="Trebuchet MS"/>
              </a:rPr>
              <a:t>Example:</a:t>
            </a:r>
            <a:endParaRPr sz="2500">
              <a:latin typeface="Trebuchet MS"/>
              <a:cs typeface="Trebuchet MS"/>
            </a:endParaRPr>
          </a:p>
          <a:p>
            <a:pPr marL="3089275">
              <a:lnSpc>
                <a:spcPts val="3529"/>
              </a:lnSpc>
            </a:pPr>
            <a:r>
              <a:rPr sz="3000" i="1" spc="-25" dirty="0">
                <a:latin typeface="Times New Roman"/>
                <a:cs typeface="Times New Roman"/>
              </a:rPr>
              <a:t>x</a:t>
            </a:r>
            <a:r>
              <a:rPr sz="3150" spc="-37" baseline="-19841" dirty="0">
                <a:latin typeface="Cambria"/>
                <a:cs typeface="Cambria"/>
              </a:rPr>
              <a:t>1</a:t>
            </a:r>
            <a:endParaRPr sz="3150" baseline="-19841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Gradient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78337" y="2831403"/>
            <a:ext cx="7620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latin typeface="MingLiU_HKSCS-ExtB"/>
                <a:cs typeface="MingLiU_HKSCS-ExtB"/>
              </a:rPr>
              <a:t>[</a:t>
            </a:r>
            <a:r>
              <a:rPr sz="4500" i="1" spc="-30" baseline="8333" dirty="0">
                <a:latin typeface="Times New Roman"/>
                <a:cs typeface="Times New Roman"/>
              </a:rPr>
              <a:t>x</a:t>
            </a:r>
            <a:r>
              <a:rPr sz="3150" spc="-30" baseline="-7936" dirty="0">
                <a:latin typeface="Cambria"/>
                <a:cs typeface="Cambria"/>
              </a:rPr>
              <a:t>2</a:t>
            </a:r>
            <a:r>
              <a:rPr sz="3000" spc="-20" dirty="0">
                <a:latin typeface="MingLiU_HKSCS-ExtB"/>
                <a:cs typeface="MingLiU_HKSCS-ExtB"/>
              </a:rPr>
              <a:t>]</a:t>
            </a:r>
            <a:endParaRPr sz="3000">
              <a:latin typeface="MingLiU_HKSCS-ExtB"/>
              <a:cs typeface="MingLiU_HKSCS-ExtB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78996" y="2843206"/>
            <a:ext cx="16129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Cambria"/>
                <a:cs typeface="Cambria"/>
              </a:rPr>
              <a:t>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14985" y="2615286"/>
            <a:ext cx="716089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942715" algn="l"/>
              </a:tabLst>
            </a:pPr>
            <a:r>
              <a:rPr sz="3000" b="1" dirty="0">
                <a:latin typeface="Times New Roman"/>
                <a:cs typeface="Times New Roman"/>
              </a:rPr>
              <a:t>x</a:t>
            </a:r>
            <a:r>
              <a:rPr sz="3000" b="1" spc="70" dirty="0">
                <a:latin typeface="Times New Roman"/>
                <a:cs typeface="Times New Roman"/>
              </a:rPr>
              <a:t> </a:t>
            </a:r>
            <a:r>
              <a:rPr sz="3000" spc="330" dirty="0">
                <a:latin typeface="Cambria"/>
                <a:cs typeface="Cambria"/>
              </a:rPr>
              <a:t>=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i="1" dirty="0">
                <a:latin typeface="Times New Roman"/>
                <a:cs typeface="Times New Roman"/>
              </a:rPr>
              <a:t>f</a:t>
            </a:r>
            <a:r>
              <a:rPr sz="3000" dirty="0">
                <a:latin typeface="Cambria"/>
                <a:cs typeface="Cambria"/>
              </a:rPr>
              <a:t>(</a:t>
            </a:r>
            <a:r>
              <a:rPr sz="3000" b="1" dirty="0">
                <a:latin typeface="Times New Roman"/>
                <a:cs typeface="Times New Roman"/>
              </a:rPr>
              <a:t>x</a:t>
            </a:r>
            <a:r>
              <a:rPr sz="3000" dirty="0">
                <a:latin typeface="Cambria"/>
                <a:cs typeface="Cambria"/>
              </a:rPr>
              <a:t>)</a:t>
            </a:r>
            <a:r>
              <a:rPr sz="3000" spc="150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155" dirty="0">
                <a:latin typeface="Cambria"/>
                <a:cs typeface="Cambria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x</a:t>
            </a:r>
            <a:r>
              <a:rPr sz="3150" i="1" baseline="29100" dirty="0">
                <a:latin typeface="Times New Roman"/>
                <a:cs typeface="Times New Roman"/>
              </a:rPr>
              <a:t>T</a:t>
            </a:r>
            <a:r>
              <a:rPr sz="3150" i="1" spc="-450" baseline="2910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x</a:t>
            </a:r>
            <a:r>
              <a:rPr sz="3000" b="1" spc="70" dirty="0">
                <a:latin typeface="Times New Roman"/>
                <a:cs typeface="Times New Roman"/>
              </a:rPr>
              <a:t> </a:t>
            </a: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155" dirty="0">
                <a:latin typeface="Cambria"/>
                <a:cs typeface="Cambria"/>
              </a:rPr>
              <a:t> </a:t>
            </a:r>
            <a:r>
              <a:rPr sz="3000" i="1" dirty="0">
                <a:latin typeface="Times New Roman"/>
                <a:cs typeface="Times New Roman"/>
              </a:rPr>
              <a:t>x</a:t>
            </a:r>
            <a:r>
              <a:rPr sz="3150" baseline="29100" dirty="0">
                <a:latin typeface="Cambria"/>
                <a:cs typeface="Cambria"/>
              </a:rPr>
              <a:t>2</a:t>
            </a:r>
            <a:r>
              <a:rPr sz="3150" spc="284" baseline="29100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+</a:t>
            </a:r>
            <a:r>
              <a:rPr sz="3000" spc="-5" dirty="0">
                <a:latin typeface="Cambria"/>
                <a:cs typeface="Cambria"/>
              </a:rPr>
              <a:t> </a:t>
            </a:r>
            <a:r>
              <a:rPr sz="3000" i="1" spc="-25" dirty="0">
                <a:latin typeface="Times New Roman"/>
                <a:cs typeface="Times New Roman"/>
              </a:rPr>
              <a:t>x</a:t>
            </a:r>
            <a:r>
              <a:rPr sz="3150" spc="-37" baseline="29100" dirty="0">
                <a:latin typeface="Cambria"/>
                <a:cs typeface="Cambria"/>
              </a:rPr>
              <a:t>2</a:t>
            </a:r>
            <a:endParaRPr sz="3150" baseline="291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40232" y="2843206"/>
            <a:ext cx="16129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Cambria"/>
                <a:cs typeface="Cambria"/>
              </a:rPr>
              <a:t>2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76735" y="4630884"/>
            <a:ext cx="548640" cy="25400"/>
          </a:xfrm>
          <a:custGeom>
            <a:avLst/>
            <a:gdLst/>
            <a:ahLst/>
            <a:cxnLst/>
            <a:rect l="l" t="t" r="r" b="b"/>
            <a:pathLst>
              <a:path w="548640" h="25400">
                <a:moveTo>
                  <a:pt x="548389" y="0"/>
                </a:moveTo>
                <a:lnTo>
                  <a:pt x="0" y="0"/>
                </a:lnTo>
                <a:lnTo>
                  <a:pt x="0" y="25149"/>
                </a:lnTo>
                <a:lnTo>
                  <a:pt x="548389" y="25149"/>
                </a:lnTo>
                <a:lnTo>
                  <a:pt x="5483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76742" y="3980274"/>
            <a:ext cx="548640" cy="113474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865"/>
              </a:spcBef>
            </a:pPr>
            <a:r>
              <a:rPr sz="3000" spc="-25" dirty="0">
                <a:latin typeface="Cambria"/>
                <a:cs typeface="Cambria"/>
              </a:rPr>
              <a:t>∂</a:t>
            </a:r>
            <a:r>
              <a:rPr sz="3000" i="1" spc="-25" dirty="0">
                <a:latin typeface="Times New Roman"/>
                <a:cs typeface="Times New Roman"/>
              </a:rPr>
              <a:t>f</a:t>
            </a:r>
            <a:endParaRPr sz="3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65"/>
              </a:spcBef>
            </a:pPr>
            <a:r>
              <a:rPr sz="3000" spc="-65" dirty="0">
                <a:latin typeface="Cambria"/>
                <a:cs typeface="Cambria"/>
              </a:rPr>
              <a:t>∂</a:t>
            </a:r>
            <a:r>
              <a:rPr sz="3000" i="1" spc="-65" dirty="0">
                <a:latin typeface="Times New Roman"/>
                <a:cs typeface="Times New Roman"/>
              </a:rPr>
              <a:t>x</a:t>
            </a:r>
            <a:r>
              <a:rPr sz="3150" spc="-97" baseline="-17195" dirty="0">
                <a:latin typeface="Cambria"/>
                <a:cs typeface="Cambria"/>
              </a:rPr>
              <a:t>1</a:t>
            </a:r>
            <a:endParaRPr sz="3150" baseline="-17195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1930" y="4346100"/>
            <a:ext cx="9290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170" dirty="0">
                <a:latin typeface="Cambria"/>
                <a:cs typeface="Cambria"/>
              </a:rPr>
              <a:t> </a:t>
            </a:r>
            <a:r>
              <a:rPr sz="3000" spc="-25" dirty="0">
                <a:latin typeface="Cambria"/>
                <a:cs typeface="Cambria"/>
              </a:rPr>
              <a:t>2</a:t>
            </a:r>
            <a:r>
              <a:rPr sz="3000" i="1" spc="-25" dirty="0">
                <a:latin typeface="Times New Roman"/>
                <a:cs typeface="Times New Roman"/>
              </a:rPr>
              <a:t>x</a:t>
            </a:r>
            <a:r>
              <a:rPr sz="3150" spc="-37" baseline="-19841" dirty="0">
                <a:latin typeface="Cambria"/>
                <a:cs typeface="Cambria"/>
              </a:rPr>
              <a:t>1</a:t>
            </a:r>
            <a:endParaRPr sz="3150" baseline="-19841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98364" y="5421107"/>
            <a:ext cx="31115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95" dirty="0">
                <a:latin typeface="Cambria"/>
                <a:cs typeface="Cambria"/>
              </a:rPr>
              <a:t>∂</a:t>
            </a:r>
            <a:r>
              <a:rPr sz="3000" i="1" spc="-95" dirty="0">
                <a:latin typeface="Times New Roman"/>
                <a:cs typeface="Times New Roman"/>
              </a:rPr>
              <a:t>f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76735" y="5974541"/>
            <a:ext cx="554355" cy="25400"/>
          </a:xfrm>
          <a:custGeom>
            <a:avLst/>
            <a:gdLst/>
            <a:ahLst/>
            <a:cxnLst/>
            <a:rect l="l" t="t" r="r" b="b"/>
            <a:pathLst>
              <a:path w="554355" h="25400">
                <a:moveTo>
                  <a:pt x="554076" y="0"/>
                </a:moveTo>
                <a:lnTo>
                  <a:pt x="0" y="0"/>
                </a:lnTo>
                <a:lnTo>
                  <a:pt x="0" y="25151"/>
                </a:lnTo>
                <a:lnTo>
                  <a:pt x="554076" y="25151"/>
                </a:lnTo>
                <a:lnTo>
                  <a:pt x="5540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76742" y="5975559"/>
            <a:ext cx="55435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latin typeface="Cambria"/>
                <a:cs typeface="Cambria"/>
              </a:rPr>
              <a:t>∂</a:t>
            </a:r>
            <a:r>
              <a:rPr sz="3000" i="1" spc="-50" dirty="0">
                <a:latin typeface="Times New Roman"/>
                <a:cs typeface="Times New Roman"/>
              </a:rPr>
              <a:t>x</a:t>
            </a:r>
            <a:r>
              <a:rPr sz="3150" spc="-75" baseline="-17195" dirty="0">
                <a:latin typeface="Cambria"/>
                <a:cs typeface="Cambria"/>
              </a:rPr>
              <a:t>2</a:t>
            </a:r>
            <a:endParaRPr sz="3150" baseline="-17195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7617" y="5689758"/>
            <a:ext cx="93599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170" dirty="0">
                <a:latin typeface="Cambria"/>
                <a:cs typeface="Cambria"/>
              </a:rPr>
              <a:t> </a:t>
            </a:r>
            <a:r>
              <a:rPr sz="3000" spc="-25" dirty="0">
                <a:latin typeface="Cambria"/>
                <a:cs typeface="Cambria"/>
              </a:rPr>
              <a:t>2</a:t>
            </a:r>
            <a:r>
              <a:rPr sz="3000" i="1" spc="-25" dirty="0">
                <a:latin typeface="Times New Roman"/>
                <a:cs typeface="Times New Roman"/>
              </a:rPr>
              <a:t>x</a:t>
            </a:r>
            <a:r>
              <a:rPr sz="3150" spc="-37" baseline="-19841" dirty="0">
                <a:latin typeface="Cambria"/>
                <a:cs typeface="Cambria"/>
              </a:rPr>
              <a:t>2</a:t>
            </a:r>
            <a:endParaRPr sz="3150" baseline="-19841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6058" y="7577706"/>
            <a:ext cx="8191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70" dirty="0">
                <a:latin typeface="Cambria"/>
                <a:cs typeface="Cambria"/>
              </a:rPr>
              <a:t>∇</a:t>
            </a:r>
            <a:r>
              <a:rPr sz="3000" i="1" spc="270" dirty="0">
                <a:latin typeface="Times New Roman"/>
                <a:cs typeface="Times New Roman"/>
              </a:rPr>
              <a:t>f</a:t>
            </a:r>
            <a:r>
              <a:rPr sz="3000" i="1" spc="250" dirty="0">
                <a:latin typeface="Times New Roman"/>
                <a:cs typeface="Times New Roman"/>
              </a:rPr>
              <a:t> </a:t>
            </a:r>
            <a:r>
              <a:rPr sz="3000" spc="320" dirty="0">
                <a:latin typeface="Cambria"/>
                <a:cs typeface="Cambria"/>
              </a:rPr>
              <a:t>=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90382" y="7029450"/>
            <a:ext cx="584200" cy="1691639"/>
          </a:xfrm>
          <a:custGeom>
            <a:avLst/>
            <a:gdLst/>
            <a:ahLst/>
            <a:cxnLst/>
            <a:rect l="l" t="t" r="r" b="b"/>
            <a:pathLst>
              <a:path w="584200" h="1691640">
                <a:moveTo>
                  <a:pt x="139052" y="0"/>
                </a:moveTo>
                <a:lnTo>
                  <a:pt x="0" y="0"/>
                </a:lnTo>
                <a:lnTo>
                  <a:pt x="0" y="19050"/>
                </a:lnTo>
                <a:lnTo>
                  <a:pt x="0" y="1672590"/>
                </a:lnTo>
                <a:lnTo>
                  <a:pt x="0" y="1691640"/>
                </a:lnTo>
                <a:lnTo>
                  <a:pt x="139052" y="1691640"/>
                </a:lnTo>
                <a:lnTo>
                  <a:pt x="139052" y="1672590"/>
                </a:lnTo>
                <a:lnTo>
                  <a:pt x="38100" y="1672590"/>
                </a:lnTo>
                <a:lnTo>
                  <a:pt x="38100" y="19050"/>
                </a:lnTo>
                <a:lnTo>
                  <a:pt x="139052" y="19050"/>
                </a:lnTo>
                <a:lnTo>
                  <a:pt x="139052" y="0"/>
                </a:lnTo>
                <a:close/>
              </a:path>
              <a:path w="584200" h="1691640">
                <a:moveTo>
                  <a:pt x="583590" y="409536"/>
                </a:moveTo>
                <a:lnTo>
                  <a:pt x="172250" y="409536"/>
                </a:lnTo>
                <a:lnTo>
                  <a:pt x="172250" y="434682"/>
                </a:lnTo>
                <a:lnTo>
                  <a:pt x="583590" y="434682"/>
                </a:lnTo>
                <a:lnTo>
                  <a:pt x="583590" y="409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062629" y="6936277"/>
            <a:ext cx="411480" cy="85090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819"/>
              </a:spcBef>
            </a:pPr>
            <a:r>
              <a:rPr sz="2100" spc="-25" dirty="0">
                <a:latin typeface="Cambria"/>
                <a:cs typeface="Cambria"/>
              </a:rPr>
              <a:t>∂</a:t>
            </a:r>
            <a:r>
              <a:rPr sz="2100" i="1" spc="-25" dirty="0">
                <a:latin typeface="Times New Roman"/>
                <a:cs typeface="Times New Roman"/>
              </a:rPr>
              <a:t>f</a:t>
            </a:r>
            <a:endParaRPr sz="2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30"/>
              </a:spcBef>
            </a:pPr>
            <a:r>
              <a:rPr sz="2100" spc="-25" dirty="0">
                <a:latin typeface="Cambria"/>
                <a:cs typeface="Cambria"/>
              </a:rPr>
              <a:t>∂</a:t>
            </a:r>
            <a:r>
              <a:rPr sz="2100" i="1" spc="-25" dirty="0">
                <a:latin typeface="Times New Roman"/>
                <a:cs typeface="Times New Roman"/>
              </a:rPr>
              <a:t>x</a:t>
            </a:r>
            <a:r>
              <a:rPr sz="2250" spc="-37" baseline="-16666" dirty="0">
                <a:latin typeface="Cambria"/>
                <a:cs typeface="Cambria"/>
              </a:rPr>
              <a:t>1</a:t>
            </a:r>
            <a:endParaRPr sz="2250" baseline="-16666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52557" y="7870431"/>
            <a:ext cx="23177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40" dirty="0">
                <a:latin typeface="Cambria"/>
                <a:cs typeface="Cambria"/>
              </a:rPr>
              <a:t>∂</a:t>
            </a:r>
            <a:r>
              <a:rPr sz="2100" i="1" spc="-40" dirty="0">
                <a:latin typeface="Times New Roman"/>
                <a:cs typeface="Times New Roman"/>
              </a:rPr>
              <a:t>f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058771" y="8285037"/>
            <a:ext cx="419100" cy="25400"/>
          </a:xfrm>
          <a:custGeom>
            <a:avLst/>
            <a:gdLst/>
            <a:ahLst/>
            <a:cxnLst/>
            <a:rect l="l" t="t" r="r" b="b"/>
            <a:pathLst>
              <a:path w="419100" h="25400">
                <a:moveTo>
                  <a:pt x="419068" y="0"/>
                </a:moveTo>
                <a:lnTo>
                  <a:pt x="0" y="0"/>
                </a:lnTo>
                <a:lnTo>
                  <a:pt x="0" y="25143"/>
                </a:lnTo>
                <a:lnTo>
                  <a:pt x="419068" y="25143"/>
                </a:lnTo>
                <a:lnTo>
                  <a:pt x="4190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058768" y="8283110"/>
            <a:ext cx="41910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100" spc="-25" dirty="0">
                <a:latin typeface="Cambria"/>
                <a:cs typeface="Cambria"/>
              </a:rPr>
              <a:t>∂</a:t>
            </a:r>
            <a:r>
              <a:rPr sz="2100" i="1" spc="-25" dirty="0">
                <a:latin typeface="Times New Roman"/>
                <a:cs typeface="Times New Roman"/>
              </a:rPr>
              <a:t>x</a:t>
            </a:r>
            <a:r>
              <a:rPr sz="2250" spc="-37" baseline="-16666" dirty="0">
                <a:latin typeface="Cambria"/>
                <a:cs typeface="Cambria"/>
              </a:rPr>
              <a:t>2</a:t>
            </a:r>
            <a:endParaRPr sz="2250" baseline="-16666">
              <a:latin typeface="Cambria"/>
              <a:cs typeface="Cambr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507170" y="7029450"/>
            <a:ext cx="139065" cy="1691639"/>
          </a:xfrm>
          <a:custGeom>
            <a:avLst/>
            <a:gdLst/>
            <a:ahLst/>
            <a:cxnLst/>
            <a:rect l="l" t="t" r="r" b="b"/>
            <a:pathLst>
              <a:path w="139064" h="1691640">
                <a:moveTo>
                  <a:pt x="139052" y="0"/>
                </a:moveTo>
                <a:lnTo>
                  <a:pt x="0" y="0"/>
                </a:lnTo>
                <a:lnTo>
                  <a:pt x="0" y="19050"/>
                </a:lnTo>
                <a:lnTo>
                  <a:pt x="100952" y="19050"/>
                </a:lnTo>
                <a:lnTo>
                  <a:pt x="100952" y="1672590"/>
                </a:lnTo>
                <a:lnTo>
                  <a:pt x="0" y="1672590"/>
                </a:lnTo>
                <a:lnTo>
                  <a:pt x="0" y="1691640"/>
                </a:lnTo>
                <a:lnTo>
                  <a:pt x="139052" y="1691640"/>
                </a:lnTo>
                <a:lnTo>
                  <a:pt x="139052" y="1672590"/>
                </a:lnTo>
                <a:lnTo>
                  <a:pt x="139052" y="19050"/>
                </a:lnTo>
                <a:lnTo>
                  <a:pt x="1390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851733" y="7577706"/>
            <a:ext cx="2863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30" dirty="0">
                <a:latin typeface="Cambria"/>
                <a:cs typeface="Cambria"/>
              </a:rPr>
              <a:t>=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4" name="object 24"/>
          <p:cNvSpPr txBox="1"/>
          <p:nvPr/>
        </p:nvSpPr>
        <p:spPr>
          <a:xfrm>
            <a:off x="3193117" y="7239028"/>
            <a:ext cx="956310" cy="10439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3000" spc="-25" dirty="0">
                <a:latin typeface="Cambria"/>
                <a:cs typeface="Cambria"/>
              </a:rPr>
              <a:t>2</a:t>
            </a:r>
            <a:r>
              <a:rPr sz="3000" i="1" spc="-25" dirty="0">
                <a:latin typeface="Times New Roman"/>
                <a:cs typeface="Times New Roman"/>
              </a:rPr>
              <a:t>x</a:t>
            </a:r>
            <a:r>
              <a:rPr sz="3150" spc="-37" baseline="-19841" dirty="0">
                <a:latin typeface="Cambria"/>
                <a:cs typeface="Cambria"/>
              </a:rPr>
              <a:t>1</a:t>
            </a:r>
            <a:endParaRPr sz="3150" baseline="-19841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3000" spc="-10" dirty="0">
                <a:latin typeface="MingLiU_HKSCS-ExtB"/>
                <a:cs typeface="MingLiU_HKSCS-ExtB"/>
              </a:rPr>
              <a:t>[</a:t>
            </a:r>
            <a:r>
              <a:rPr sz="4500" spc="-15" baseline="-4629" dirty="0">
                <a:latin typeface="Cambria"/>
                <a:cs typeface="Cambria"/>
              </a:rPr>
              <a:t>2</a:t>
            </a:r>
            <a:r>
              <a:rPr sz="4500" i="1" spc="-15" baseline="-4629" dirty="0">
                <a:latin typeface="Times New Roman"/>
                <a:cs typeface="Times New Roman"/>
              </a:rPr>
              <a:t>x</a:t>
            </a:r>
            <a:r>
              <a:rPr sz="3150" spc="-15" baseline="-26455" dirty="0">
                <a:latin typeface="Cambria"/>
                <a:cs typeface="Cambria"/>
              </a:rPr>
              <a:t>2</a:t>
            </a:r>
            <a:r>
              <a:rPr sz="3000" spc="-10" dirty="0">
                <a:latin typeface="MingLiU_HKSCS-ExtB"/>
                <a:cs typeface="MingLiU_HKSCS-ExtB"/>
              </a:rPr>
              <a:t>]</a:t>
            </a:r>
            <a:endParaRPr sz="3000">
              <a:latin typeface="MingLiU_HKSCS-ExtB"/>
              <a:cs typeface="MingLiU_HKSCS-ExtB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04039" y="7577706"/>
            <a:ext cx="7734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170" dirty="0">
                <a:latin typeface="Cambria"/>
                <a:cs typeface="Cambria"/>
              </a:rPr>
              <a:t> </a:t>
            </a:r>
            <a:r>
              <a:rPr sz="3000" spc="-55" dirty="0">
                <a:latin typeface="Cambria"/>
                <a:cs typeface="Cambria"/>
              </a:rPr>
              <a:t>2</a:t>
            </a:r>
            <a:r>
              <a:rPr sz="3000" b="1" spc="-55" dirty="0">
                <a:latin typeface="Times New Roman"/>
                <a:cs typeface="Times New Roman"/>
              </a:rPr>
              <a:t>x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67627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20" dirty="0">
                <a:latin typeface="Trebuchet MS"/>
                <a:cs typeface="Trebuchet MS"/>
              </a:rPr>
              <a:t>Recall</a:t>
            </a:r>
            <a:r>
              <a:rPr sz="2500" spc="-140" dirty="0">
                <a:latin typeface="Trebuchet MS"/>
                <a:cs typeface="Trebuchet MS"/>
              </a:rPr>
              <a:t> 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univariate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linear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regression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problem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0" y="3481883"/>
            <a:ext cx="348361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dirty="0">
                <a:latin typeface="Trebuchet MS"/>
                <a:cs typeface="Trebuchet MS"/>
              </a:rPr>
              <a:t>Find</a:t>
            </a:r>
            <a:r>
              <a:rPr sz="2500" spc="-145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partial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derivatives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Back</a:t>
            </a:r>
            <a:r>
              <a:rPr spc="-229" dirty="0"/>
              <a:t> </a:t>
            </a:r>
            <a:r>
              <a:rPr spc="-195" dirty="0"/>
              <a:t>to</a:t>
            </a:r>
            <a:r>
              <a:rPr spc="-225" dirty="0"/>
              <a:t> </a:t>
            </a:r>
            <a:r>
              <a:rPr spc="-180" dirty="0"/>
              <a:t>our</a:t>
            </a:r>
            <a:r>
              <a:rPr spc="-225" dirty="0"/>
              <a:t> </a:t>
            </a:r>
            <a:r>
              <a:rPr spc="-204" dirty="0"/>
              <a:t>previous</a:t>
            </a:r>
            <a:r>
              <a:rPr spc="-229" dirty="0"/>
              <a:t> </a:t>
            </a:r>
            <a:r>
              <a:rPr spc="-265" dirty="0"/>
              <a:t>example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47145" y="2244731"/>
            <a:ext cx="1634489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i="1" spc="-65" dirty="0">
                <a:latin typeface="Times New Roman"/>
                <a:cs typeface="Times New Roman"/>
              </a:rPr>
              <a:t>J</a:t>
            </a:r>
            <a:r>
              <a:rPr sz="3000" spc="-65" dirty="0">
                <a:latin typeface="Cambria"/>
                <a:cs typeface="Cambria"/>
              </a:rPr>
              <a:t>(</a:t>
            </a:r>
            <a:r>
              <a:rPr sz="3000" i="1" spc="-65" dirty="0">
                <a:latin typeface="Times New Roman"/>
                <a:cs typeface="Times New Roman"/>
              </a:rPr>
              <a:t>θ</a:t>
            </a:r>
            <a:r>
              <a:rPr sz="3150" spc="-97" baseline="-19841" dirty="0">
                <a:latin typeface="Cambria"/>
                <a:cs typeface="Cambria"/>
              </a:rPr>
              <a:t>0</a:t>
            </a:r>
            <a:r>
              <a:rPr sz="3000" spc="-65" dirty="0">
                <a:latin typeface="Cambria"/>
                <a:cs typeface="Cambria"/>
              </a:rPr>
              <a:t>,</a:t>
            </a:r>
            <a:r>
              <a:rPr sz="3000" spc="-165" dirty="0">
                <a:latin typeface="Cambria"/>
                <a:cs typeface="Cambria"/>
              </a:rPr>
              <a:t> </a:t>
            </a:r>
            <a:r>
              <a:rPr sz="3000" i="1" spc="-50" dirty="0">
                <a:latin typeface="Times New Roman"/>
                <a:cs typeface="Times New Roman"/>
              </a:rPr>
              <a:t>θ</a:t>
            </a:r>
            <a:r>
              <a:rPr sz="3150" spc="-75" baseline="-19841" dirty="0">
                <a:latin typeface="Cambria"/>
                <a:cs typeface="Cambria"/>
              </a:rPr>
              <a:t>1</a:t>
            </a:r>
            <a:r>
              <a:rPr sz="3000" spc="-50" dirty="0">
                <a:latin typeface="Cambria"/>
                <a:cs typeface="Cambria"/>
              </a:rPr>
              <a:t>)</a:t>
            </a:r>
            <a:r>
              <a:rPr sz="3000" spc="-75" dirty="0">
                <a:latin typeface="Cambria"/>
                <a:cs typeface="Cambria"/>
              </a:rPr>
              <a:t> </a:t>
            </a:r>
            <a:r>
              <a:rPr sz="3000" spc="330" dirty="0">
                <a:latin typeface="Cambria"/>
                <a:cs typeface="Cambria"/>
              </a:rPr>
              <a:t>=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4511" y="1976117"/>
            <a:ext cx="2165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14" dirty="0">
                <a:latin typeface="Cambria"/>
                <a:cs typeface="Cambria"/>
              </a:rPr>
              <a:t>1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49111" y="2529474"/>
            <a:ext cx="267335" cy="25400"/>
          </a:xfrm>
          <a:custGeom>
            <a:avLst/>
            <a:gdLst/>
            <a:ahLst/>
            <a:cxnLst/>
            <a:rect l="l" t="t" r="r" b="b"/>
            <a:pathLst>
              <a:path w="267335" h="25400">
                <a:moveTo>
                  <a:pt x="266708" y="0"/>
                </a:moveTo>
                <a:lnTo>
                  <a:pt x="0" y="0"/>
                </a:lnTo>
                <a:lnTo>
                  <a:pt x="0" y="25147"/>
                </a:lnTo>
                <a:lnTo>
                  <a:pt x="266708" y="25147"/>
                </a:lnTo>
                <a:lnTo>
                  <a:pt x="2667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743009" y="1921061"/>
            <a:ext cx="16065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i="1" spc="-50" dirty="0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4564504" y="2443239"/>
            <a:ext cx="518159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900" dirty="0">
                <a:latin typeface="Sitka Small"/>
                <a:cs typeface="Sitka Small"/>
              </a:rPr>
              <a:t>∑</a:t>
            </a:r>
            <a:endParaRPr sz="3000">
              <a:latin typeface="Sitka Small"/>
              <a:cs typeface="Sitka Smal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49111" y="2710330"/>
            <a:ext cx="81026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75920" algn="l"/>
              </a:tabLst>
            </a:pPr>
            <a:r>
              <a:rPr sz="4500" spc="-75" baseline="25925" dirty="0">
                <a:latin typeface="Cambria"/>
                <a:cs typeface="Cambria"/>
              </a:rPr>
              <a:t>2</a:t>
            </a:r>
            <a:r>
              <a:rPr sz="4500" baseline="25925" dirty="0">
                <a:latin typeface="Cambria"/>
                <a:cs typeface="Cambria"/>
              </a:rPr>
              <a:t>	</a:t>
            </a:r>
            <a:r>
              <a:rPr sz="2100" i="1" spc="35" dirty="0">
                <a:latin typeface="Times New Roman"/>
                <a:cs typeface="Times New Roman"/>
              </a:rPr>
              <a:t>i</a:t>
            </a:r>
            <a:r>
              <a:rPr sz="2100" spc="35" dirty="0">
                <a:latin typeface="Cambria"/>
                <a:cs typeface="Cambria"/>
              </a:rPr>
              <a:t>=1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20275" y="2320171"/>
            <a:ext cx="2038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latin typeface="Sitka Small"/>
                <a:cs typeface="Sitka Small"/>
              </a:rPr>
              <a:t>(</a:t>
            </a:r>
            <a:endParaRPr sz="3000">
              <a:latin typeface="Sitka Small"/>
              <a:cs typeface="Sitka Smal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04956" y="2214250"/>
            <a:ext cx="28130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Cambria"/>
                <a:cs typeface="Cambria"/>
              </a:rPr>
              <a:t>(</a:t>
            </a:r>
            <a:r>
              <a:rPr sz="2100" i="1" spc="-50" dirty="0">
                <a:latin typeface="Times New Roman"/>
                <a:cs typeface="Times New Roman"/>
              </a:rPr>
              <a:t>i</a:t>
            </a:r>
            <a:r>
              <a:rPr sz="2100" spc="-50" dirty="0">
                <a:latin typeface="Cambria"/>
                <a:cs typeface="Cambria"/>
              </a:rPr>
              <a:t>)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98589" y="2244731"/>
            <a:ext cx="151384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sz="3000" i="1" spc="-25" dirty="0">
                <a:latin typeface="Times New Roman"/>
                <a:cs typeface="Times New Roman"/>
              </a:rPr>
              <a:t>h</a:t>
            </a:r>
            <a:r>
              <a:rPr sz="3000" spc="-25" dirty="0">
                <a:latin typeface="Cambria"/>
                <a:cs typeface="Cambria"/>
              </a:rPr>
              <a:t>(</a:t>
            </a:r>
            <a:r>
              <a:rPr sz="3000" i="1" spc="-25" dirty="0">
                <a:latin typeface="Times New Roman"/>
                <a:cs typeface="Times New Roman"/>
              </a:rPr>
              <a:t>x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3000" dirty="0">
                <a:latin typeface="Cambria"/>
                <a:cs typeface="Cambria"/>
              </a:rPr>
              <a:t>)</a:t>
            </a:r>
            <a:r>
              <a:rPr sz="3000" spc="-75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−</a:t>
            </a:r>
            <a:r>
              <a:rPr sz="3000" spc="-75" dirty="0">
                <a:latin typeface="Cambria"/>
                <a:cs typeface="Cambria"/>
              </a:rPr>
              <a:t> </a:t>
            </a:r>
            <a:r>
              <a:rPr sz="3000" i="1" spc="-50" dirty="0">
                <a:latin typeface="Times New Roman"/>
                <a:cs typeface="Times New Roman"/>
              </a:rPr>
              <a:t>y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06518" y="2214250"/>
            <a:ext cx="28130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Cambria"/>
                <a:cs typeface="Cambria"/>
              </a:rPr>
              <a:t>(</a:t>
            </a:r>
            <a:r>
              <a:rPr sz="2100" i="1" spc="-50" dirty="0">
                <a:latin typeface="Times New Roman"/>
                <a:cs typeface="Times New Roman"/>
              </a:rPr>
              <a:t>i</a:t>
            </a:r>
            <a:r>
              <a:rPr sz="2100" spc="-50" dirty="0">
                <a:latin typeface="Cambria"/>
                <a:cs typeface="Cambria"/>
              </a:rPr>
              <a:t>)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61888" y="2320171"/>
            <a:ext cx="2038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latin typeface="Sitka Small"/>
                <a:cs typeface="Sitka Small"/>
              </a:rPr>
              <a:t>)</a:t>
            </a:r>
            <a:endParaRPr sz="3000">
              <a:latin typeface="Sitka Small"/>
              <a:cs typeface="Sitka Smal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40202" y="2119188"/>
            <a:ext cx="16065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Cambria"/>
                <a:cs typeface="Cambria"/>
              </a:rPr>
              <a:t>2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83003" y="2214250"/>
            <a:ext cx="28130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Cambria"/>
                <a:cs typeface="Cambria"/>
              </a:rPr>
              <a:t>(</a:t>
            </a:r>
            <a:r>
              <a:rPr sz="2100" i="1" spc="-50" dirty="0">
                <a:latin typeface="Times New Roman"/>
                <a:cs typeface="Times New Roman"/>
              </a:rPr>
              <a:t>i</a:t>
            </a:r>
            <a:r>
              <a:rPr sz="2100" spc="-50" dirty="0">
                <a:latin typeface="Cambria"/>
                <a:cs typeface="Cambria"/>
              </a:rPr>
              <a:t>)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75462" y="2244731"/>
            <a:ext cx="1758314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5360" algn="l"/>
              </a:tabLst>
            </a:pPr>
            <a:r>
              <a:rPr sz="3000" spc="130" dirty="0">
                <a:latin typeface="Cambria"/>
                <a:cs typeface="Cambria"/>
              </a:rPr>
              <a:t>,</a:t>
            </a:r>
            <a:r>
              <a:rPr sz="3000" spc="170" dirty="0">
                <a:latin typeface="Cambria"/>
                <a:cs typeface="Cambria"/>
              </a:rPr>
              <a:t> </a:t>
            </a:r>
            <a:r>
              <a:rPr sz="3000" i="1" spc="-25" dirty="0">
                <a:latin typeface="Times New Roman"/>
                <a:cs typeface="Times New Roman"/>
              </a:rPr>
              <a:t>h</a:t>
            </a:r>
            <a:r>
              <a:rPr sz="3000" spc="-25" dirty="0">
                <a:latin typeface="Cambria"/>
                <a:cs typeface="Cambria"/>
              </a:rPr>
              <a:t>(</a:t>
            </a:r>
            <a:r>
              <a:rPr sz="3000" i="1" spc="-25" dirty="0">
                <a:latin typeface="Times New Roman"/>
                <a:cs typeface="Times New Roman"/>
              </a:rPr>
              <a:t>x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3000" dirty="0">
                <a:latin typeface="Cambria"/>
                <a:cs typeface="Cambria"/>
              </a:rPr>
              <a:t>)</a:t>
            </a:r>
            <a:r>
              <a:rPr sz="3000" spc="90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90" dirty="0">
                <a:latin typeface="Cambria"/>
                <a:cs typeface="Cambria"/>
              </a:rPr>
              <a:t> </a:t>
            </a:r>
            <a:r>
              <a:rPr sz="3000" i="1" spc="-65" dirty="0">
                <a:latin typeface="Times New Roman"/>
                <a:cs typeface="Times New Roman"/>
              </a:rPr>
              <a:t>θ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07417" y="2450479"/>
            <a:ext cx="16065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Cambria"/>
                <a:cs typeface="Cambria"/>
              </a:rPr>
              <a:t>0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842509" y="2450479"/>
            <a:ext cx="16065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Cambria"/>
                <a:cs typeface="Cambria"/>
              </a:rPr>
              <a:t>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327346" y="2244731"/>
            <a:ext cx="8451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80" dirty="0">
                <a:latin typeface="Cambria"/>
                <a:cs typeface="Cambria"/>
              </a:rPr>
              <a:t>+</a:t>
            </a:r>
            <a:r>
              <a:rPr sz="3000" spc="-15" dirty="0">
                <a:latin typeface="Cambria"/>
                <a:cs typeface="Cambria"/>
              </a:rPr>
              <a:t> </a:t>
            </a:r>
            <a:r>
              <a:rPr sz="3000" i="1" dirty="0">
                <a:latin typeface="Times New Roman"/>
                <a:cs typeface="Times New Roman"/>
              </a:rPr>
              <a:t>θ</a:t>
            </a:r>
            <a:r>
              <a:rPr sz="3000" i="1" spc="180" dirty="0">
                <a:latin typeface="Times New Roman"/>
                <a:cs typeface="Times New Roman"/>
              </a:rPr>
              <a:t> </a:t>
            </a:r>
            <a:r>
              <a:rPr sz="3000" i="1" spc="-60" dirty="0">
                <a:latin typeface="Times New Roman"/>
                <a:cs typeface="Times New Roman"/>
              </a:rPr>
              <a:t>x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166751" y="2214250"/>
            <a:ext cx="28130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Cambria"/>
                <a:cs typeface="Cambria"/>
              </a:rPr>
              <a:t>(</a:t>
            </a:r>
            <a:r>
              <a:rPr sz="2100" i="1" spc="-50" dirty="0">
                <a:latin typeface="Times New Roman"/>
                <a:cs typeface="Times New Roman"/>
              </a:rPr>
              <a:t>i</a:t>
            </a:r>
            <a:r>
              <a:rPr sz="2100" spc="-50" dirty="0">
                <a:latin typeface="Cambria"/>
                <a:cs typeface="Cambria"/>
              </a:rPr>
              <a:t>)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67627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20" dirty="0">
                <a:latin typeface="Trebuchet MS"/>
                <a:cs typeface="Trebuchet MS"/>
              </a:rPr>
              <a:t>Recall</a:t>
            </a:r>
            <a:r>
              <a:rPr sz="2500" spc="-140" dirty="0">
                <a:latin typeface="Trebuchet MS"/>
                <a:cs typeface="Trebuchet MS"/>
              </a:rPr>
              <a:t> 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univariate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linear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regression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problem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Back</a:t>
            </a:r>
            <a:r>
              <a:rPr spc="-229" dirty="0"/>
              <a:t> </a:t>
            </a:r>
            <a:r>
              <a:rPr spc="-195" dirty="0"/>
              <a:t>to</a:t>
            </a:r>
            <a:r>
              <a:rPr spc="-225" dirty="0"/>
              <a:t> </a:t>
            </a:r>
            <a:r>
              <a:rPr spc="-180" dirty="0"/>
              <a:t>our</a:t>
            </a:r>
            <a:r>
              <a:rPr spc="-225" dirty="0"/>
              <a:t> </a:t>
            </a:r>
            <a:r>
              <a:rPr spc="-204" dirty="0"/>
              <a:t>previous</a:t>
            </a:r>
            <a:r>
              <a:rPr spc="-229" dirty="0"/>
              <a:t> </a:t>
            </a:r>
            <a:r>
              <a:rPr spc="-265" dirty="0"/>
              <a:t>example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47145" y="2244731"/>
            <a:ext cx="1634489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i="1" spc="-65" dirty="0">
                <a:latin typeface="Times New Roman"/>
                <a:cs typeface="Times New Roman"/>
              </a:rPr>
              <a:t>J</a:t>
            </a:r>
            <a:r>
              <a:rPr sz="3000" spc="-65" dirty="0">
                <a:latin typeface="Cambria"/>
                <a:cs typeface="Cambria"/>
              </a:rPr>
              <a:t>(</a:t>
            </a:r>
            <a:r>
              <a:rPr sz="3000" i="1" spc="-65" dirty="0">
                <a:latin typeface="Times New Roman"/>
                <a:cs typeface="Times New Roman"/>
              </a:rPr>
              <a:t>θ</a:t>
            </a:r>
            <a:r>
              <a:rPr sz="3150" spc="-97" baseline="-19841" dirty="0">
                <a:latin typeface="Cambria"/>
                <a:cs typeface="Cambria"/>
              </a:rPr>
              <a:t>0</a:t>
            </a:r>
            <a:r>
              <a:rPr sz="3000" spc="-65" dirty="0">
                <a:latin typeface="Cambria"/>
                <a:cs typeface="Cambria"/>
              </a:rPr>
              <a:t>,</a:t>
            </a:r>
            <a:r>
              <a:rPr sz="3000" spc="-165" dirty="0">
                <a:latin typeface="Cambria"/>
                <a:cs typeface="Cambria"/>
              </a:rPr>
              <a:t> </a:t>
            </a:r>
            <a:r>
              <a:rPr sz="3000" i="1" spc="-50" dirty="0">
                <a:latin typeface="Times New Roman"/>
                <a:cs typeface="Times New Roman"/>
              </a:rPr>
              <a:t>θ</a:t>
            </a:r>
            <a:r>
              <a:rPr sz="3150" spc="-75" baseline="-19841" dirty="0">
                <a:latin typeface="Cambria"/>
                <a:cs typeface="Cambria"/>
              </a:rPr>
              <a:t>1</a:t>
            </a:r>
            <a:r>
              <a:rPr sz="3000" spc="-50" dirty="0">
                <a:latin typeface="Cambria"/>
                <a:cs typeface="Cambria"/>
              </a:rPr>
              <a:t>)</a:t>
            </a:r>
            <a:r>
              <a:rPr sz="3000" spc="-75" dirty="0">
                <a:latin typeface="Cambria"/>
                <a:cs typeface="Cambria"/>
              </a:rPr>
              <a:t> </a:t>
            </a:r>
            <a:r>
              <a:rPr sz="3000" spc="330" dirty="0">
                <a:latin typeface="Cambria"/>
                <a:cs typeface="Cambria"/>
              </a:rPr>
              <a:t>=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4511" y="1976117"/>
            <a:ext cx="2165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14" dirty="0">
                <a:latin typeface="Cambria"/>
                <a:cs typeface="Cambria"/>
              </a:rPr>
              <a:t>1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49111" y="2529474"/>
            <a:ext cx="267335" cy="25400"/>
          </a:xfrm>
          <a:custGeom>
            <a:avLst/>
            <a:gdLst/>
            <a:ahLst/>
            <a:cxnLst/>
            <a:rect l="l" t="t" r="r" b="b"/>
            <a:pathLst>
              <a:path w="267335" h="25400">
                <a:moveTo>
                  <a:pt x="266708" y="0"/>
                </a:moveTo>
                <a:lnTo>
                  <a:pt x="0" y="0"/>
                </a:lnTo>
                <a:lnTo>
                  <a:pt x="0" y="25147"/>
                </a:lnTo>
                <a:lnTo>
                  <a:pt x="266708" y="25147"/>
                </a:lnTo>
                <a:lnTo>
                  <a:pt x="2667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43009" y="1921061"/>
            <a:ext cx="16065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i="1" spc="-50" dirty="0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64504" y="2443239"/>
            <a:ext cx="518159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900" dirty="0">
                <a:latin typeface="Sitka Small"/>
                <a:cs typeface="Sitka Small"/>
              </a:rPr>
              <a:t>∑</a:t>
            </a:r>
            <a:endParaRPr sz="3000">
              <a:latin typeface="Sitka Small"/>
              <a:cs typeface="Sitka Smal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49111" y="2710330"/>
            <a:ext cx="81026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75920" algn="l"/>
              </a:tabLst>
            </a:pPr>
            <a:r>
              <a:rPr sz="4500" spc="-75" baseline="25925" dirty="0">
                <a:latin typeface="Cambria"/>
                <a:cs typeface="Cambria"/>
              </a:rPr>
              <a:t>2</a:t>
            </a:r>
            <a:r>
              <a:rPr sz="4500" baseline="25925" dirty="0">
                <a:latin typeface="Cambria"/>
                <a:cs typeface="Cambria"/>
              </a:rPr>
              <a:t>	</a:t>
            </a:r>
            <a:r>
              <a:rPr sz="2100" i="1" spc="35" dirty="0">
                <a:latin typeface="Times New Roman"/>
                <a:cs typeface="Times New Roman"/>
              </a:rPr>
              <a:t>i</a:t>
            </a:r>
            <a:r>
              <a:rPr sz="2100" spc="35" dirty="0">
                <a:latin typeface="Cambria"/>
                <a:cs typeface="Cambria"/>
              </a:rPr>
              <a:t>=1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20275" y="2320171"/>
            <a:ext cx="2038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latin typeface="Sitka Small"/>
                <a:cs typeface="Sitka Small"/>
              </a:rPr>
              <a:t>(</a:t>
            </a:r>
            <a:endParaRPr sz="3000">
              <a:latin typeface="Sitka Small"/>
              <a:cs typeface="Sitka Smal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04956" y="2214250"/>
            <a:ext cx="28130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Cambria"/>
                <a:cs typeface="Cambria"/>
              </a:rPr>
              <a:t>(</a:t>
            </a:r>
            <a:r>
              <a:rPr sz="2100" i="1" spc="-50" dirty="0">
                <a:latin typeface="Times New Roman"/>
                <a:cs typeface="Times New Roman"/>
              </a:rPr>
              <a:t>i</a:t>
            </a:r>
            <a:r>
              <a:rPr sz="2100" spc="-50" dirty="0">
                <a:latin typeface="Cambria"/>
                <a:cs typeface="Cambria"/>
              </a:rPr>
              <a:t>)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98589" y="2244731"/>
            <a:ext cx="151384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sz="3000" i="1" spc="-25" dirty="0">
                <a:latin typeface="Times New Roman"/>
                <a:cs typeface="Times New Roman"/>
              </a:rPr>
              <a:t>h</a:t>
            </a:r>
            <a:r>
              <a:rPr sz="3000" spc="-25" dirty="0">
                <a:latin typeface="Cambria"/>
                <a:cs typeface="Cambria"/>
              </a:rPr>
              <a:t>(</a:t>
            </a:r>
            <a:r>
              <a:rPr sz="3000" i="1" spc="-25" dirty="0">
                <a:latin typeface="Times New Roman"/>
                <a:cs typeface="Times New Roman"/>
              </a:rPr>
              <a:t>x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3000" dirty="0">
                <a:latin typeface="Cambria"/>
                <a:cs typeface="Cambria"/>
              </a:rPr>
              <a:t>)</a:t>
            </a:r>
            <a:r>
              <a:rPr sz="3000" spc="-75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−</a:t>
            </a:r>
            <a:r>
              <a:rPr sz="3000" spc="-75" dirty="0">
                <a:latin typeface="Cambria"/>
                <a:cs typeface="Cambria"/>
              </a:rPr>
              <a:t> </a:t>
            </a:r>
            <a:r>
              <a:rPr sz="3000" i="1" spc="-50" dirty="0">
                <a:latin typeface="Times New Roman"/>
                <a:cs typeface="Times New Roman"/>
              </a:rPr>
              <a:t>y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06518" y="2214250"/>
            <a:ext cx="28130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Cambria"/>
                <a:cs typeface="Cambria"/>
              </a:rPr>
              <a:t>(</a:t>
            </a:r>
            <a:r>
              <a:rPr sz="2100" i="1" spc="-50" dirty="0">
                <a:latin typeface="Times New Roman"/>
                <a:cs typeface="Times New Roman"/>
              </a:rPr>
              <a:t>i</a:t>
            </a:r>
            <a:r>
              <a:rPr sz="2100" spc="-50" dirty="0">
                <a:latin typeface="Cambria"/>
                <a:cs typeface="Cambria"/>
              </a:rPr>
              <a:t>)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61888" y="2320171"/>
            <a:ext cx="2038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latin typeface="Sitka Small"/>
                <a:cs typeface="Sitka Small"/>
              </a:rPr>
              <a:t>)</a:t>
            </a:r>
            <a:endParaRPr sz="3000">
              <a:latin typeface="Sitka Small"/>
              <a:cs typeface="Sitka Smal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40202" y="2119188"/>
            <a:ext cx="16065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Cambria"/>
                <a:cs typeface="Cambria"/>
              </a:rPr>
              <a:t>2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83003" y="2214250"/>
            <a:ext cx="28130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Cambria"/>
                <a:cs typeface="Cambria"/>
              </a:rPr>
              <a:t>(</a:t>
            </a:r>
            <a:r>
              <a:rPr sz="2100" i="1" spc="-50" dirty="0">
                <a:latin typeface="Times New Roman"/>
                <a:cs typeface="Times New Roman"/>
              </a:rPr>
              <a:t>i</a:t>
            </a:r>
            <a:r>
              <a:rPr sz="2100" spc="-50" dirty="0">
                <a:latin typeface="Cambria"/>
                <a:cs typeface="Cambria"/>
              </a:rPr>
              <a:t>)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75462" y="2244731"/>
            <a:ext cx="148209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5360" algn="l"/>
              </a:tabLst>
            </a:pPr>
            <a:r>
              <a:rPr sz="3000" spc="130" dirty="0">
                <a:latin typeface="Cambria"/>
                <a:cs typeface="Cambria"/>
              </a:rPr>
              <a:t>,</a:t>
            </a:r>
            <a:r>
              <a:rPr sz="3000" spc="170" dirty="0">
                <a:latin typeface="Cambria"/>
                <a:cs typeface="Cambria"/>
              </a:rPr>
              <a:t> </a:t>
            </a:r>
            <a:r>
              <a:rPr sz="3000" i="1" spc="-25" dirty="0">
                <a:latin typeface="Times New Roman"/>
                <a:cs typeface="Times New Roman"/>
              </a:rPr>
              <a:t>h</a:t>
            </a:r>
            <a:r>
              <a:rPr sz="3000" spc="-25" dirty="0">
                <a:latin typeface="Cambria"/>
                <a:cs typeface="Cambria"/>
              </a:rPr>
              <a:t>(</a:t>
            </a:r>
            <a:r>
              <a:rPr sz="3000" i="1" spc="-25" dirty="0">
                <a:latin typeface="Times New Roman"/>
                <a:cs typeface="Times New Roman"/>
              </a:rPr>
              <a:t>x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3000" dirty="0">
                <a:latin typeface="Cambria"/>
                <a:cs typeface="Cambria"/>
              </a:rPr>
              <a:t>)</a:t>
            </a:r>
            <a:r>
              <a:rPr sz="3000" spc="5" dirty="0">
                <a:latin typeface="Cambria"/>
                <a:cs typeface="Cambria"/>
              </a:rPr>
              <a:t> </a:t>
            </a:r>
            <a:r>
              <a:rPr sz="3000" spc="330" dirty="0">
                <a:latin typeface="Cambria"/>
                <a:cs typeface="Cambria"/>
              </a:rPr>
              <a:t>=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07417" y="2450479"/>
            <a:ext cx="16065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Cambria"/>
                <a:cs typeface="Cambria"/>
              </a:rPr>
              <a:t>0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842509" y="2450479"/>
            <a:ext cx="16065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Cambria"/>
                <a:cs typeface="Cambria"/>
              </a:rPr>
              <a:t>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937918" y="2244731"/>
            <a:ext cx="123444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1955" algn="l"/>
              </a:tabLst>
            </a:pPr>
            <a:r>
              <a:rPr sz="3000" i="1" spc="-50" dirty="0">
                <a:latin typeface="Times New Roman"/>
                <a:cs typeface="Times New Roman"/>
              </a:rPr>
              <a:t>θ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3000" spc="380" dirty="0">
                <a:latin typeface="Cambria"/>
                <a:cs typeface="Cambria"/>
              </a:rPr>
              <a:t>+</a:t>
            </a:r>
            <a:r>
              <a:rPr sz="3000" spc="-15" dirty="0">
                <a:latin typeface="Cambria"/>
                <a:cs typeface="Cambria"/>
              </a:rPr>
              <a:t> </a:t>
            </a:r>
            <a:r>
              <a:rPr sz="3000" i="1" dirty="0">
                <a:latin typeface="Times New Roman"/>
                <a:cs typeface="Times New Roman"/>
              </a:rPr>
              <a:t>θ</a:t>
            </a:r>
            <a:r>
              <a:rPr sz="3000" i="1" spc="180" dirty="0">
                <a:latin typeface="Times New Roman"/>
                <a:cs typeface="Times New Roman"/>
              </a:rPr>
              <a:t> </a:t>
            </a:r>
            <a:r>
              <a:rPr sz="3000" i="1" spc="-50" dirty="0">
                <a:latin typeface="Times New Roman"/>
                <a:cs typeface="Times New Roman"/>
              </a:rPr>
              <a:t>x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66751" y="2214250"/>
            <a:ext cx="28130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Cambria"/>
                <a:cs typeface="Cambria"/>
              </a:rPr>
              <a:t>(</a:t>
            </a:r>
            <a:r>
              <a:rPr sz="2100" i="1" spc="-50" dirty="0">
                <a:latin typeface="Times New Roman"/>
                <a:cs typeface="Times New Roman"/>
              </a:rPr>
              <a:t>i</a:t>
            </a:r>
            <a:r>
              <a:rPr sz="2100" spc="-50" dirty="0">
                <a:latin typeface="Cambria"/>
                <a:cs typeface="Cambria"/>
              </a:rPr>
              <a:t>)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21753" y="4139040"/>
            <a:ext cx="375285" cy="48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85" dirty="0">
                <a:latin typeface="Cambria"/>
                <a:cs typeface="Cambria"/>
              </a:rPr>
              <a:t>∂</a:t>
            </a:r>
            <a:r>
              <a:rPr sz="3000" i="1" spc="-85" dirty="0">
                <a:latin typeface="Times New Roman"/>
                <a:cs typeface="Times New Roman"/>
              </a:rPr>
              <a:t>J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6600" y="3481883"/>
            <a:ext cx="3483610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dirty="0">
                <a:latin typeface="Trebuchet MS"/>
                <a:cs typeface="Trebuchet MS"/>
              </a:rPr>
              <a:t>Find</a:t>
            </a:r>
            <a:r>
              <a:rPr sz="2500" spc="-145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partial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derivatives</a:t>
            </a:r>
            <a:endParaRPr sz="2500">
              <a:latin typeface="Trebuchet MS"/>
              <a:cs typeface="Trebuchet MS"/>
            </a:endParaRPr>
          </a:p>
          <a:p>
            <a:pPr marR="713105" algn="r">
              <a:lnSpc>
                <a:spcPct val="100000"/>
              </a:lnSpc>
              <a:spcBef>
                <a:spcPts val="1775"/>
              </a:spcBef>
            </a:pPr>
            <a:r>
              <a:rPr sz="2100" i="1" spc="-50" dirty="0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127451" y="4693928"/>
            <a:ext cx="563880" cy="25400"/>
          </a:xfrm>
          <a:custGeom>
            <a:avLst/>
            <a:gdLst/>
            <a:ahLst/>
            <a:cxnLst/>
            <a:rect l="l" t="t" r="r" b="b"/>
            <a:pathLst>
              <a:path w="563880" h="25400">
                <a:moveTo>
                  <a:pt x="563617" y="0"/>
                </a:moveTo>
                <a:lnTo>
                  <a:pt x="0" y="0"/>
                </a:lnTo>
                <a:lnTo>
                  <a:pt x="0" y="25218"/>
                </a:lnTo>
                <a:lnTo>
                  <a:pt x="563617" y="25218"/>
                </a:lnTo>
                <a:lnTo>
                  <a:pt x="5636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152961" y="4694984"/>
            <a:ext cx="389255" cy="48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105" dirty="0">
                <a:latin typeface="Cambria"/>
                <a:cs typeface="Cambria"/>
              </a:rPr>
              <a:t>∂</a:t>
            </a:r>
            <a:r>
              <a:rPr sz="3000" i="1" spc="-105" dirty="0">
                <a:latin typeface="Times New Roman"/>
                <a:cs typeface="Times New Roman"/>
              </a:rPr>
              <a:t>θ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04517" y="4889851"/>
            <a:ext cx="16129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-50" dirty="0">
                <a:latin typeface="Cambria"/>
                <a:cs typeface="Cambria"/>
              </a:rPr>
              <a:t>0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415445" y="4377847"/>
            <a:ext cx="128651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016635" algn="l"/>
              </a:tabLst>
            </a:pPr>
            <a:r>
              <a:rPr sz="2100" spc="-25" dirty="0">
                <a:latin typeface="Cambria"/>
                <a:cs typeface="Cambria"/>
              </a:rPr>
              <a:t>(</a:t>
            </a:r>
            <a:r>
              <a:rPr sz="2100" i="1" spc="-25" dirty="0">
                <a:latin typeface="Times New Roman"/>
                <a:cs typeface="Times New Roman"/>
              </a:rPr>
              <a:t>i</a:t>
            </a:r>
            <a:r>
              <a:rPr sz="2100" spc="-25" dirty="0">
                <a:latin typeface="Cambria"/>
                <a:cs typeface="Cambria"/>
              </a:rPr>
              <a:t>)</a:t>
            </a:r>
            <a:r>
              <a:rPr sz="2100" dirty="0">
                <a:latin typeface="Cambria"/>
                <a:cs typeface="Cambria"/>
              </a:rPr>
              <a:t>	</a:t>
            </a:r>
            <a:r>
              <a:rPr sz="2100" spc="-45" dirty="0">
                <a:latin typeface="Cambria"/>
                <a:cs typeface="Cambria"/>
              </a:rPr>
              <a:t>(</a:t>
            </a:r>
            <a:r>
              <a:rPr sz="2100" i="1" spc="-45" dirty="0">
                <a:latin typeface="Times New Roman"/>
                <a:cs typeface="Times New Roman"/>
              </a:rPr>
              <a:t>i</a:t>
            </a:r>
            <a:r>
              <a:rPr sz="2100" spc="-45" dirty="0">
                <a:latin typeface="Cambria"/>
                <a:cs typeface="Cambria"/>
              </a:rPr>
              <a:t>)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78210" y="4240507"/>
            <a:ext cx="3127375" cy="1439545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30"/>
              </a:spcBef>
              <a:tabLst>
                <a:tab pos="1905635" algn="l"/>
                <a:tab pos="2910205" algn="l"/>
              </a:tabLst>
            </a:pP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175" dirty="0">
                <a:latin typeface="Cambria"/>
                <a:cs typeface="Cambria"/>
              </a:rPr>
              <a:t> </a:t>
            </a:r>
            <a:r>
              <a:rPr sz="4500" spc="2947" baseline="-28703" dirty="0">
                <a:latin typeface="Sitka Small"/>
                <a:cs typeface="Sitka Small"/>
              </a:rPr>
              <a:t>∑</a:t>
            </a:r>
            <a:r>
              <a:rPr sz="4500" spc="-637" baseline="-28703" dirty="0">
                <a:latin typeface="Sitka Small"/>
                <a:cs typeface="Sitka Small"/>
              </a:rPr>
              <a:t> </a:t>
            </a:r>
            <a:r>
              <a:rPr sz="4500" spc="-30" baseline="-11111" dirty="0">
                <a:latin typeface="Sitka Small"/>
                <a:cs typeface="Sitka Small"/>
              </a:rPr>
              <a:t>(</a:t>
            </a:r>
            <a:r>
              <a:rPr sz="3000" i="1" spc="-20" dirty="0">
                <a:latin typeface="Times New Roman"/>
                <a:cs typeface="Times New Roman"/>
              </a:rPr>
              <a:t>h</a:t>
            </a:r>
            <a:r>
              <a:rPr sz="3000" spc="-20" dirty="0">
                <a:latin typeface="Cambria"/>
                <a:cs typeface="Cambria"/>
              </a:rPr>
              <a:t>(</a:t>
            </a:r>
            <a:r>
              <a:rPr sz="3000" i="1" spc="-20" dirty="0">
                <a:latin typeface="Times New Roman"/>
                <a:cs typeface="Times New Roman"/>
              </a:rPr>
              <a:t>x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3000" dirty="0">
                <a:latin typeface="Cambria"/>
                <a:cs typeface="Cambria"/>
              </a:rPr>
              <a:t>)</a:t>
            </a:r>
            <a:r>
              <a:rPr sz="3000" spc="-70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−</a:t>
            </a:r>
            <a:r>
              <a:rPr sz="3000" spc="-70" dirty="0">
                <a:latin typeface="Cambria"/>
                <a:cs typeface="Cambria"/>
              </a:rPr>
              <a:t> </a:t>
            </a:r>
            <a:r>
              <a:rPr sz="3000" i="1" spc="-50" dirty="0">
                <a:latin typeface="Times New Roman"/>
                <a:cs typeface="Times New Roman"/>
              </a:rPr>
              <a:t>y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4500" spc="-75" baseline="-11111" dirty="0">
                <a:latin typeface="Sitka Small"/>
                <a:cs typeface="Sitka Small"/>
              </a:rPr>
              <a:t>)</a:t>
            </a:r>
            <a:endParaRPr sz="4500" baseline="-11111">
              <a:latin typeface="Sitka Small"/>
              <a:cs typeface="Sitka Small"/>
            </a:endParaRPr>
          </a:p>
          <a:p>
            <a:pPr marL="454025">
              <a:lnSpc>
                <a:spcPct val="100000"/>
              </a:lnSpc>
              <a:spcBef>
                <a:spcPts val="975"/>
              </a:spcBef>
            </a:pPr>
            <a:r>
              <a:rPr sz="2100" i="1" spc="35" dirty="0">
                <a:latin typeface="Times New Roman"/>
                <a:cs typeface="Times New Roman"/>
              </a:rPr>
              <a:t>i</a:t>
            </a:r>
            <a:r>
              <a:rPr sz="2100" spc="35" dirty="0">
                <a:latin typeface="Cambria"/>
                <a:cs typeface="Cambria"/>
              </a:rPr>
              <a:t>=1</a:t>
            </a:r>
            <a:endParaRPr sz="2100">
              <a:latin typeface="Cambria"/>
              <a:cs typeface="Cambria"/>
            </a:endParaRPr>
          </a:p>
          <a:p>
            <a:pPr marL="583565">
              <a:lnSpc>
                <a:spcPct val="100000"/>
              </a:lnSpc>
              <a:spcBef>
                <a:spcPts val="180"/>
              </a:spcBef>
            </a:pPr>
            <a:r>
              <a:rPr sz="2100" i="1" spc="-50" dirty="0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23998" y="5384699"/>
            <a:ext cx="37465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95" dirty="0">
                <a:latin typeface="Cambria"/>
                <a:cs typeface="Cambria"/>
              </a:rPr>
              <a:t>∂</a:t>
            </a:r>
            <a:r>
              <a:rPr sz="3000" i="1" spc="-95" dirty="0">
                <a:latin typeface="Times New Roman"/>
                <a:cs typeface="Times New Roman"/>
              </a:rPr>
              <a:t>J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129995" y="5938072"/>
            <a:ext cx="562610" cy="25400"/>
          </a:xfrm>
          <a:custGeom>
            <a:avLst/>
            <a:gdLst/>
            <a:ahLst/>
            <a:cxnLst/>
            <a:rect l="l" t="t" r="r" b="b"/>
            <a:pathLst>
              <a:path w="562610" h="25400">
                <a:moveTo>
                  <a:pt x="562042" y="0"/>
                </a:moveTo>
                <a:lnTo>
                  <a:pt x="0" y="0"/>
                </a:lnTo>
                <a:lnTo>
                  <a:pt x="0" y="25147"/>
                </a:lnTo>
                <a:lnTo>
                  <a:pt x="562042" y="25147"/>
                </a:lnTo>
                <a:lnTo>
                  <a:pt x="562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155398" y="5939089"/>
            <a:ext cx="3879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10" dirty="0">
                <a:latin typeface="Cambria"/>
                <a:cs typeface="Cambria"/>
              </a:rPr>
              <a:t>∂</a:t>
            </a:r>
            <a:r>
              <a:rPr sz="3000" i="1" spc="-110" dirty="0">
                <a:latin typeface="Times New Roman"/>
                <a:cs typeface="Times New Roman"/>
              </a:rPr>
              <a:t>θ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3" name="object 33"/>
          <p:cNvSpPr txBox="1"/>
          <p:nvPr/>
        </p:nvSpPr>
        <p:spPr>
          <a:xfrm>
            <a:off x="2505971" y="6133412"/>
            <a:ext cx="16129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Cambria"/>
                <a:cs typeface="Cambria"/>
              </a:rPr>
              <a:t>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78829" y="5485884"/>
            <a:ext cx="3288029" cy="1094105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15"/>
              </a:spcBef>
              <a:tabLst>
                <a:tab pos="1900555" algn="l"/>
                <a:tab pos="2901950" algn="l"/>
              </a:tabLst>
            </a:pP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170" dirty="0">
                <a:latin typeface="Cambria"/>
                <a:cs typeface="Cambria"/>
              </a:rPr>
              <a:t> </a:t>
            </a:r>
            <a:r>
              <a:rPr sz="4500" spc="2925" baseline="-28703" dirty="0">
                <a:latin typeface="Sitka Small"/>
                <a:cs typeface="Sitka Small"/>
              </a:rPr>
              <a:t>∑</a:t>
            </a:r>
            <a:r>
              <a:rPr sz="4500" spc="-644" baseline="-28703" dirty="0">
                <a:latin typeface="Sitka Small"/>
                <a:cs typeface="Sitka Small"/>
              </a:rPr>
              <a:t> </a:t>
            </a:r>
            <a:r>
              <a:rPr sz="4500" spc="-30" baseline="-11111" dirty="0">
                <a:latin typeface="Sitka Small"/>
                <a:cs typeface="Sitka Small"/>
              </a:rPr>
              <a:t>(</a:t>
            </a:r>
            <a:r>
              <a:rPr sz="3000" i="1" spc="-20" dirty="0">
                <a:latin typeface="Times New Roman"/>
                <a:cs typeface="Times New Roman"/>
              </a:rPr>
              <a:t>h</a:t>
            </a:r>
            <a:r>
              <a:rPr sz="3000" spc="-20" dirty="0">
                <a:latin typeface="Cambria"/>
                <a:cs typeface="Cambria"/>
              </a:rPr>
              <a:t>(</a:t>
            </a:r>
            <a:r>
              <a:rPr sz="3000" i="1" spc="-20" dirty="0">
                <a:latin typeface="Times New Roman"/>
                <a:cs typeface="Times New Roman"/>
              </a:rPr>
              <a:t>x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3000" dirty="0">
                <a:latin typeface="Cambria"/>
                <a:cs typeface="Cambria"/>
              </a:rPr>
              <a:t>)</a:t>
            </a:r>
            <a:r>
              <a:rPr sz="3000" spc="-75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−</a:t>
            </a:r>
            <a:r>
              <a:rPr sz="3000" spc="-75" dirty="0">
                <a:latin typeface="Cambria"/>
                <a:cs typeface="Cambria"/>
              </a:rPr>
              <a:t> </a:t>
            </a:r>
            <a:r>
              <a:rPr sz="3000" i="1" spc="-50" dirty="0">
                <a:latin typeface="Times New Roman"/>
                <a:cs typeface="Times New Roman"/>
              </a:rPr>
              <a:t>y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4500" spc="-37" baseline="-11111" dirty="0">
                <a:latin typeface="Sitka Small"/>
                <a:cs typeface="Sitka Small"/>
              </a:rPr>
              <a:t>)</a:t>
            </a:r>
            <a:r>
              <a:rPr sz="3000" i="1" spc="-25" dirty="0">
                <a:latin typeface="Times New Roman"/>
                <a:cs typeface="Times New Roman"/>
              </a:rPr>
              <a:t>x</a:t>
            </a:r>
            <a:endParaRPr sz="3000">
              <a:latin typeface="Times New Roman"/>
              <a:cs typeface="Times New Roman"/>
            </a:endParaRPr>
          </a:p>
          <a:p>
            <a:pPr marL="452755">
              <a:lnSpc>
                <a:spcPct val="100000"/>
              </a:lnSpc>
              <a:spcBef>
                <a:spcPts val="970"/>
              </a:spcBef>
            </a:pPr>
            <a:r>
              <a:rPr sz="2100" i="1" spc="35" dirty="0">
                <a:latin typeface="Times New Roman"/>
                <a:cs typeface="Times New Roman"/>
              </a:rPr>
              <a:t>i</a:t>
            </a:r>
            <a:r>
              <a:rPr sz="2100" spc="35" dirty="0">
                <a:latin typeface="Cambria"/>
                <a:cs typeface="Cambria"/>
              </a:rPr>
              <a:t>=1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11561" y="5622839"/>
            <a:ext cx="190563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14094" algn="l"/>
                <a:tab pos="1636395" algn="l"/>
              </a:tabLst>
            </a:pPr>
            <a:r>
              <a:rPr sz="2100" spc="-25" dirty="0">
                <a:latin typeface="Cambria"/>
                <a:cs typeface="Cambria"/>
              </a:rPr>
              <a:t>(</a:t>
            </a:r>
            <a:r>
              <a:rPr sz="2100" i="1" spc="-25" dirty="0">
                <a:latin typeface="Times New Roman"/>
                <a:cs typeface="Times New Roman"/>
              </a:rPr>
              <a:t>i</a:t>
            </a:r>
            <a:r>
              <a:rPr sz="2100" spc="-25" dirty="0">
                <a:latin typeface="Cambria"/>
                <a:cs typeface="Cambria"/>
              </a:rPr>
              <a:t>)</a:t>
            </a:r>
            <a:r>
              <a:rPr sz="2100" dirty="0">
                <a:latin typeface="Cambria"/>
                <a:cs typeface="Cambria"/>
              </a:rPr>
              <a:t>	</a:t>
            </a:r>
            <a:r>
              <a:rPr sz="2100" spc="-25" dirty="0">
                <a:latin typeface="Cambria"/>
                <a:cs typeface="Cambria"/>
              </a:rPr>
              <a:t>(</a:t>
            </a:r>
            <a:r>
              <a:rPr sz="2100" i="1" spc="-25" dirty="0">
                <a:latin typeface="Times New Roman"/>
                <a:cs typeface="Times New Roman"/>
              </a:rPr>
              <a:t>i</a:t>
            </a:r>
            <a:r>
              <a:rPr sz="2100" spc="-25" dirty="0">
                <a:latin typeface="Cambria"/>
                <a:cs typeface="Cambria"/>
              </a:rPr>
              <a:t>)</a:t>
            </a:r>
            <a:r>
              <a:rPr sz="2100" dirty="0">
                <a:latin typeface="Cambria"/>
                <a:cs typeface="Cambria"/>
              </a:rPr>
              <a:t>	</a:t>
            </a:r>
            <a:r>
              <a:rPr sz="2100" spc="-45" dirty="0">
                <a:latin typeface="Cambria"/>
                <a:cs typeface="Cambria"/>
              </a:rPr>
              <a:t>(</a:t>
            </a:r>
            <a:r>
              <a:rPr sz="2100" i="1" spc="-45" dirty="0">
                <a:latin typeface="Times New Roman"/>
                <a:cs typeface="Times New Roman"/>
              </a:rPr>
              <a:t>i</a:t>
            </a:r>
            <a:r>
              <a:rPr sz="2100" spc="-45" dirty="0">
                <a:latin typeface="Cambria"/>
                <a:cs typeface="Cambria"/>
              </a:rPr>
              <a:t>)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23900" y="1127088"/>
            <a:ext cx="9610725" cy="177863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406400" indent="-381000">
              <a:lnSpc>
                <a:spcPct val="100000"/>
              </a:lnSpc>
              <a:spcBef>
                <a:spcPts val="550"/>
              </a:spcBef>
              <a:buSzPct val="122000"/>
              <a:buChar char="•"/>
              <a:tabLst>
                <a:tab pos="406400" algn="l"/>
              </a:tabLst>
            </a:pPr>
            <a:r>
              <a:rPr sz="2500" spc="-35" dirty="0">
                <a:latin typeface="Trebuchet MS"/>
                <a:cs typeface="Trebuchet MS"/>
              </a:rPr>
              <a:t>Assumption:</a:t>
            </a:r>
            <a:r>
              <a:rPr sz="2500" spc="-150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parametric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where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800" i="1" spc="-35" dirty="0">
                <a:latin typeface="Times New Roman"/>
                <a:cs typeface="Times New Roman"/>
              </a:rPr>
              <a:t>h</a:t>
            </a:r>
            <a:r>
              <a:rPr sz="2800" spc="-35" dirty="0">
                <a:latin typeface="Cambria"/>
                <a:cs typeface="Cambria"/>
              </a:rPr>
              <a:t>(</a:t>
            </a:r>
            <a:r>
              <a:rPr sz="2800" b="1" spc="-35" dirty="0">
                <a:latin typeface="Times New Roman"/>
                <a:cs typeface="Times New Roman"/>
              </a:rPr>
              <a:t>x</a:t>
            </a:r>
            <a:r>
              <a:rPr sz="2800" spc="-35" dirty="0">
                <a:latin typeface="Cambria"/>
                <a:cs typeface="Cambria"/>
              </a:rPr>
              <a:t>)</a:t>
            </a:r>
            <a:r>
              <a:rPr sz="2800" spc="20" dirty="0">
                <a:latin typeface="Cambria"/>
                <a:cs typeface="Cambria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linear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function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of</a:t>
            </a:r>
            <a:endParaRPr sz="2500">
              <a:latin typeface="Trebuchet MS"/>
              <a:cs typeface="Trebuchet MS"/>
            </a:endParaRPr>
          </a:p>
          <a:p>
            <a:pPr marL="8712835">
              <a:lnSpc>
                <a:spcPct val="100000"/>
              </a:lnSpc>
              <a:spcBef>
                <a:spcPts val="380"/>
              </a:spcBef>
            </a:pPr>
            <a:r>
              <a:rPr sz="2100" i="1" spc="-50" dirty="0">
                <a:latin typeface="Times New Roman"/>
                <a:cs typeface="Times New Roman"/>
              </a:rPr>
              <a:t>d</a:t>
            </a:r>
            <a:endParaRPr sz="2100">
              <a:latin typeface="Times New Roman"/>
              <a:cs typeface="Times New Roman"/>
            </a:endParaRPr>
          </a:p>
          <a:p>
            <a:pPr marL="1967864">
              <a:lnSpc>
                <a:spcPct val="100000"/>
              </a:lnSpc>
            </a:pPr>
            <a:r>
              <a:rPr sz="3000" i="1" spc="-10" dirty="0">
                <a:latin typeface="Times New Roman"/>
                <a:cs typeface="Times New Roman"/>
              </a:rPr>
              <a:t>h</a:t>
            </a:r>
            <a:r>
              <a:rPr sz="3000" spc="-10" dirty="0">
                <a:latin typeface="Cambria"/>
                <a:cs typeface="Cambria"/>
              </a:rPr>
              <a:t>(</a:t>
            </a:r>
            <a:r>
              <a:rPr sz="3000" b="1" spc="-10" dirty="0">
                <a:latin typeface="Times New Roman"/>
                <a:cs typeface="Times New Roman"/>
              </a:rPr>
              <a:t>x</a:t>
            </a:r>
            <a:r>
              <a:rPr sz="3000" spc="-10" dirty="0">
                <a:latin typeface="Cambria"/>
                <a:cs typeface="Cambria"/>
              </a:rPr>
              <a:t>) </a:t>
            </a: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80" dirty="0">
                <a:latin typeface="Cambria"/>
                <a:cs typeface="Cambria"/>
              </a:rPr>
              <a:t> </a:t>
            </a:r>
            <a:r>
              <a:rPr sz="3000" i="1" spc="-20" dirty="0">
                <a:latin typeface="Times New Roman"/>
                <a:cs typeface="Times New Roman"/>
              </a:rPr>
              <a:t>θ</a:t>
            </a:r>
            <a:r>
              <a:rPr sz="3150" spc="-30" baseline="-19841" dirty="0">
                <a:latin typeface="Cambria"/>
                <a:cs typeface="Cambria"/>
              </a:rPr>
              <a:t>0</a:t>
            </a:r>
            <a:r>
              <a:rPr sz="3150" spc="187" baseline="-19841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+</a:t>
            </a:r>
            <a:r>
              <a:rPr sz="3000" spc="-70" dirty="0">
                <a:latin typeface="Cambria"/>
                <a:cs typeface="Cambria"/>
              </a:rPr>
              <a:t> </a:t>
            </a:r>
            <a:r>
              <a:rPr sz="3000" i="1" spc="-70" dirty="0">
                <a:latin typeface="Times New Roman"/>
                <a:cs typeface="Times New Roman"/>
              </a:rPr>
              <a:t>θ</a:t>
            </a:r>
            <a:r>
              <a:rPr sz="3150" spc="-104" baseline="-19841" dirty="0">
                <a:latin typeface="Cambria"/>
                <a:cs typeface="Cambria"/>
              </a:rPr>
              <a:t>1</a:t>
            </a:r>
            <a:r>
              <a:rPr sz="3000" i="1" spc="-70" dirty="0">
                <a:latin typeface="Times New Roman"/>
                <a:cs typeface="Times New Roman"/>
              </a:rPr>
              <a:t>x</a:t>
            </a:r>
            <a:r>
              <a:rPr sz="3150" spc="-104" baseline="-19841" dirty="0">
                <a:latin typeface="Cambria"/>
                <a:cs typeface="Cambria"/>
              </a:rPr>
              <a:t>1</a:t>
            </a:r>
            <a:r>
              <a:rPr sz="3150" spc="187" baseline="-19841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+</a:t>
            </a:r>
            <a:r>
              <a:rPr sz="3000" spc="-70" dirty="0">
                <a:latin typeface="Cambria"/>
                <a:cs typeface="Cambria"/>
              </a:rPr>
              <a:t> </a:t>
            </a:r>
            <a:r>
              <a:rPr sz="3000" i="1" spc="-25" dirty="0">
                <a:latin typeface="Times New Roman"/>
                <a:cs typeface="Times New Roman"/>
              </a:rPr>
              <a:t>θ</a:t>
            </a:r>
            <a:r>
              <a:rPr sz="3150" spc="-37" baseline="-19841" dirty="0">
                <a:latin typeface="Cambria"/>
                <a:cs typeface="Cambria"/>
              </a:rPr>
              <a:t>2</a:t>
            </a:r>
            <a:r>
              <a:rPr sz="3000" i="1" spc="-25" dirty="0">
                <a:latin typeface="Times New Roman"/>
                <a:cs typeface="Times New Roman"/>
              </a:rPr>
              <a:t>x</a:t>
            </a:r>
            <a:r>
              <a:rPr sz="3150" spc="-37" baseline="-19841" dirty="0">
                <a:latin typeface="Cambria"/>
                <a:cs typeface="Cambria"/>
              </a:rPr>
              <a:t>2</a:t>
            </a:r>
            <a:r>
              <a:rPr sz="3150" spc="187" baseline="-19841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+</a:t>
            </a:r>
            <a:r>
              <a:rPr sz="3000" spc="-70" dirty="0">
                <a:latin typeface="Cambria"/>
                <a:cs typeface="Cambria"/>
              </a:rPr>
              <a:t> </a:t>
            </a:r>
            <a:r>
              <a:rPr sz="3000" spc="740" dirty="0">
                <a:latin typeface="Cambria"/>
                <a:cs typeface="Cambria"/>
              </a:rPr>
              <a:t>…</a:t>
            </a:r>
            <a:r>
              <a:rPr sz="3000" spc="-70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+</a:t>
            </a:r>
            <a:r>
              <a:rPr sz="3000" spc="-70" dirty="0">
                <a:latin typeface="Cambria"/>
                <a:cs typeface="Cambria"/>
              </a:rPr>
              <a:t> </a:t>
            </a:r>
            <a:r>
              <a:rPr sz="3000" i="1" spc="-80" dirty="0">
                <a:latin typeface="Times New Roman"/>
                <a:cs typeface="Times New Roman"/>
              </a:rPr>
              <a:t>θ</a:t>
            </a:r>
            <a:r>
              <a:rPr sz="3150" i="1" spc="-120" baseline="-19841" dirty="0">
                <a:latin typeface="Times New Roman"/>
                <a:cs typeface="Times New Roman"/>
              </a:rPr>
              <a:t>d</a:t>
            </a:r>
            <a:r>
              <a:rPr sz="3150" i="1" spc="-434" baseline="-19841" dirty="0">
                <a:latin typeface="Times New Roman"/>
                <a:cs typeface="Times New Roman"/>
              </a:rPr>
              <a:t> </a:t>
            </a:r>
            <a:r>
              <a:rPr sz="3000" i="1" dirty="0">
                <a:latin typeface="Times New Roman"/>
                <a:cs typeface="Times New Roman"/>
              </a:rPr>
              <a:t>x</a:t>
            </a:r>
            <a:r>
              <a:rPr sz="3150" i="1" baseline="-19841" dirty="0">
                <a:latin typeface="Times New Roman"/>
                <a:cs typeface="Times New Roman"/>
              </a:rPr>
              <a:t>d</a:t>
            </a:r>
            <a:r>
              <a:rPr sz="3150" i="1" spc="337" baseline="-19841" dirty="0">
                <a:latin typeface="Times New Roman"/>
                <a:cs typeface="Times New Roman"/>
              </a:rPr>
              <a:t> </a:t>
            </a: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75" dirty="0">
                <a:latin typeface="Cambria"/>
                <a:cs typeface="Cambria"/>
              </a:rPr>
              <a:t> </a:t>
            </a:r>
            <a:r>
              <a:rPr sz="3000" i="1" spc="-20" dirty="0">
                <a:latin typeface="Times New Roman"/>
                <a:cs typeface="Times New Roman"/>
              </a:rPr>
              <a:t>θ</a:t>
            </a:r>
            <a:r>
              <a:rPr sz="3150" spc="-30" baseline="-19841" dirty="0">
                <a:latin typeface="Cambria"/>
                <a:cs typeface="Cambria"/>
              </a:rPr>
              <a:t>0</a:t>
            </a:r>
            <a:r>
              <a:rPr sz="3150" spc="187" baseline="-19841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+</a:t>
            </a:r>
            <a:r>
              <a:rPr sz="3000" spc="-70" dirty="0">
                <a:latin typeface="Cambria"/>
                <a:cs typeface="Cambria"/>
              </a:rPr>
              <a:t> </a:t>
            </a:r>
            <a:r>
              <a:rPr sz="4500" spc="2925" baseline="-28703" dirty="0">
                <a:latin typeface="Sitka Small"/>
                <a:cs typeface="Sitka Small"/>
              </a:rPr>
              <a:t>∑</a:t>
            </a:r>
            <a:r>
              <a:rPr sz="4500" spc="-644" baseline="-28703" dirty="0">
                <a:latin typeface="Sitka Small"/>
                <a:cs typeface="Sitka Small"/>
              </a:rPr>
              <a:t> </a:t>
            </a:r>
            <a:r>
              <a:rPr sz="3000" i="1" spc="-20" dirty="0">
                <a:latin typeface="Times New Roman"/>
                <a:cs typeface="Times New Roman"/>
              </a:rPr>
              <a:t>θ</a:t>
            </a:r>
            <a:r>
              <a:rPr sz="3150" i="1" spc="-30" baseline="-19841" dirty="0">
                <a:latin typeface="Times New Roman"/>
                <a:cs typeface="Times New Roman"/>
              </a:rPr>
              <a:t>i</a:t>
            </a:r>
            <a:r>
              <a:rPr sz="3000" i="1" spc="-20" dirty="0">
                <a:latin typeface="Times New Roman"/>
                <a:cs typeface="Times New Roman"/>
              </a:rPr>
              <a:t>x</a:t>
            </a:r>
            <a:r>
              <a:rPr sz="3150" i="1" spc="-30" baseline="-19841" dirty="0">
                <a:latin typeface="Times New Roman"/>
                <a:cs typeface="Times New Roman"/>
              </a:rPr>
              <a:t>i</a:t>
            </a:r>
            <a:endParaRPr sz="3150" baseline="-19841">
              <a:latin typeface="Times New Roman"/>
              <a:cs typeface="Times New Roman"/>
            </a:endParaRPr>
          </a:p>
          <a:p>
            <a:pPr marL="8582025">
              <a:lnSpc>
                <a:spcPct val="100000"/>
              </a:lnSpc>
              <a:spcBef>
                <a:spcPts val="965"/>
              </a:spcBef>
            </a:pPr>
            <a:r>
              <a:rPr sz="2100" i="1" spc="35" dirty="0">
                <a:latin typeface="Times New Roman"/>
                <a:cs typeface="Times New Roman"/>
              </a:rPr>
              <a:t>i</a:t>
            </a:r>
            <a:r>
              <a:rPr sz="2100" spc="35" dirty="0">
                <a:latin typeface="Cambria"/>
                <a:cs typeface="Cambria"/>
              </a:rPr>
              <a:t>=1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200" y="4263140"/>
            <a:ext cx="2505075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9100" indent="-381000">
              <a:lnSpc>
                <a:spcPct val="100000"/>
              </a:lnSpc>
              <a:spcBef>
                <a:spcPts val="90"/>
              </a:spcBef>
              <a:buSzPct val="122000"/>
              <a:buChar char="•"/>
              <a:tabLst>
                <a:tab pos="419100" algn="l"/>
              </a:tabLst>
            </a:pPr>
            <a:r>
              <a:rPr sz="2500" spc="-110" dirty="0">
                <a:latin typeface="Trebuchet MS"/>
                <a:cs typeface="Trebuchet MS"/>
              </a:rPr>
              <a:t>Tick: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55" dirty="0">
                <a:latin typeface="Trebuchet MS"/>
                <a:cs typeface="Trebuchet MS"/>
              </a:rPr>
              <a:t>let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x</a:t>
            </a:r>
            <a:r>
              <a:rPr sz="2925" baseline="-19943" dirty="0">
                <a:latin typeface="Cambria"/>
                <a:cs typeface="Cambria"/>
              </a:rPr>
              <a:t>0</a:t>
            </a:r>
            <a:r>
              <a:rPr sz="2925" spc="390" baseline="-19943" dirty="0">
                <a:latin typeface="Cambria"/>
                <a:cs typeface="Cambria"/>
              </a:rPr>
              <a:t> </a:t>
            </a:r>
            <a:r>
              <a:rPr sz="2800" spc="355" dirty="0">
                <a:latin typeface="Cambria"/>
                <a:cs typeface="Cambria"/>
              </a:rPr>
              <a:t>=</a:t>
            </a:r>
            <a:r>
              <a:rPr sz="2800" spc="120" dirty="0">
                <a:latin typeface="Cambria"/>
                <a:cs typeface="Cambria"/>
              </a:rPr>
              <a:t> </a:t>
            </a:r>
            <a:r>
              <a:rPr sz="2800" spc="-50" dirty="0">
                <a:latin typeface="Cambria"/>
                <a:cs typeface="Cambria"/>
              </a:rPr>
              <a:t>1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Multivariate</a:t>
            </a:r>
            <a:r>
              <a:rPr spc="-185" dirty="0"/>
              <a:t> </a:t>
            </a:r>
            <a:r>
              <a:rPr spc="-245" dirty="0"/>
              <a:t>Linear</a:t>
            </a:r>
            <a:r>
              <a:rPr spc="-185" dirty="0"/>
              <a:t> </a:t>
            </a:r>
            <a:r>
              <a:rPr spc="-190" dirty="0"/>
              <a:t>Regression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67026" y="4666670"/>
            <a:ext cx="16129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i="1" spc="-50" dirty="0">
                <a:latin typeface="Times New Roman"/>
                <a:cs typeface="Times New Roman"/>
              </a:rPr>
              <a:t>d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8921" y="4822937"/>
            <a:ext cx="8589645" cy="109410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20"/>
              </a:spcBef>
            </a:pPr>
            <a:r>
              <a:rPr sz="3000" i="1" spc="-10" dirty="0">
                <a:latin typeface="Times New Roman"/>
                <a:cs typeface="Times New Roman"/>
              </a:rPr>
              <a:t>h</a:t>
            </a:r>
            <a:r>
              <a:rPr sz="3000" spc="-10" dirty="0">
                <a:latin typeface="Cambria"/>
                <a:cs typeface="Cambria"/>
              </a:rPr>
              <a:t>(</a:t>
            </a:r>
            <a:r>
              <a:rPr sz="3000" b="1" spc="-10" dirty="0">
                <a:latin typeface="Times New Roman"/>
                <a:cs typeface="Times New Roman"/>
              </a:rPr>
              <a:t>x</a:t>
            </a:r>
            <a:r>
              <a:rPr sz="3000" spc="-10" dirty="0">
                <a:latin typeface="Cambria"/>
                <a:cs typeface="Cambria"/>
              </a:rPr>
              <a:t>)</a:t>
            </a:r>
            <a:r>
              <a:rPr sz="3000" spc="-25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95" dirty="0">
                <a:latin typeface="Cambria"/>
                <a:cs typeface="Cambria"/>
              </a:rPr>
              <a:t> </a:t>
            </a:r>
            <a:r>
              <a:rPr sz="3000" i="1" spc="-30" dirty="0">
                <a:latin typeface="Times New Roman"/>
                <a:cs typeface="Times New Roman"/>
              </a:rPr>
              <a:t>θ</a:t>
            </a:r>
            <a:r>
              <a:rPr sz="3150" spc="-44" baseline="-19841" dirty="0">
                <a:latin typeface="Cambria"/>
                <a:cs typeface="Cambria"/>
              </a:rPr>
              <a:t>0</a:t>
            </a:r>
            <a:r>
              <a:rPr sz="3000" i="1" spc="-30" dirty="0">
                <a:latin typeface="Times New Roman"/>
                <a:cs typeface="Times New Roman"/>
              </a:rPr>
              <a:t>x</a:t>
            </a:r>
            <a:r>
              <a:rPr sz="3150" spc="-44" baseline="-19841" dirty="0">
                <a:latin typeface="Cambria"/>
                <a:cs typeface="Cambria"/>
              </a:rPr>
              <a:t>0</a:t>
            </a:r>
            <a:r>
              <a:rPr sz="3150" spc="202" baseline="-19841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+</a:t>
            </a:r>
            <a:r>
              <a:rPr sz="3000" spc="-55" dirty="0">
                <a:latin typeface="Cambria"/>
                <a:cs typeface="Cambria"/>
              </a:rPr>
              <a:t> </a:t>
            </a:r>
            <a:r>
              <a:rPr sz="3000" i="1" spc="-70" dirty="0">
                <a:latin typeface="Times New Roman"/>
                <a:cs typeface="Times New Roman"/>
              </a:rPr>
              <a:t>θ</a:t>
            </a:r>
            <a:r>
              <a:rPr sz="3150" spc="-104" baseline="-19841" dirty="0">
                <a:latin typeface="Cambria"/>
                <a:cs typeface="Cambria"/>
              </a:rPr>
              <a:t>1</a:t>
            </a:r>
            <a:r>
              <a:rPr sz="3000" i="1" spc="-70" dirty="0">
                <a:latin typeface="Times New Roman"/>
                <a:cs typeface="Times New Roman"/>
              </a:rPr>
              <a:t>x</a:t>
            </a:r>
            <a:r>
              <a:rPr sz="3150" spc="-104" baseline="-19841" dirty="0">
                <a:latin typeface="Cambria"/>
                <a:cs typeface="Cambria"/>
              </a:rPr>
              <a:t>1</a:t>
            </a:r>
            <a:r>
              <a:rPr sz="3150" spc="202" baseline="-19841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+</a:t>
            </a:r>
            <a:r>
              <a:rPr sz="3000" spc="-55" dirty="0">
                <a:latin typeface="Cambria"/>
                <a:cs typeface="Cambria"/>
              </a:rPr>
              <a:t> </a:t>
            </a:r>
            <a:r>
              <a:rPr sz="3000" i="1" spc="-25" dirty="0">
                <a:latin typeface="Times New Roman"/>
                <a:cs typeface="Times New Roman"/>
              </a:rPr>
              <a:t>θ</a:t>
            </a:r>
            <a:r>
              <a:rPr sz="3150" spc="-37" baseline="-19841" dirty="0">
                <a:latin typeface="Cambria"/>
                <a:cs typeface="Cambria"/>
              </a:rPr>
              <a:t>2</a:t>
            </a:r>
            <a:r>
              <a:rPr sz="3000" i="1" spc="-25" dirty="0">
                <a:latin typeface="Times New Roman"/>
                <a:cs typeface="Times New Roman"/>
              </a:rPr>
              <a:t>x</a:t>
            </a:r>
            <a:r>
              <a:rPr sz="3150" spc="-37" baseline="-19841" dirty="0">
                <a:latin typeface="Cambria"/>
                <a:cs typeface="Cambria"/>
              </a:rPr>
              <a:t>2</a:t>
            </a:r>
            <a:r>
              <a:rPr sz="3150" spc="209" baseline="-19841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+</a:t>
            </a:r>
            <a:r>
              <a:rPr sz="3000" spc="-60" dirty="0">
                <a:latin typeface="Cambria"/>
                <a:cs typeface="Cambria"/>
              </a:rPr>
              <a:t> </a:t>
            </a:r>
            <a:r>
              <a:rPr sz="3000" spc="740" dirty="0">
                <a:latin typeface="Cambria"/>
                <a:cs typeface="Cambria"/>
              </a:rPr>
              <a:t>…</a:t>
            </a:r>
            <a:r>
              <a:rPr sz="3000" spc="-55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+</a:t>
            </a:r>
            <a:r>
              <a:rPr sz="3000" spc="-60" dirty="0">
                <a:latin typeface="Cambria"/>
                <a:cs typeface="Cambria"/>
              </a:rPr>
              <a:t> </a:t>
            </a:r>
            <a:r>
              <a:rPr sz="3000" i="1" spc="-80" dirty="0">
                <a:latin typeface="Times New Roman"/>
                <a:cs typeface="Times New Roman"/>
              </a:rPr>
              <a:t>θ</a:t>
            </a:r>
            <a:r>
              <a:rPr sz="3150" i="1" spc="-120" baseline="-19841" dirty="0">
                <a:latin typeface="Times New Roman"/>
                <a:cs typeface="Times New Roman"/>
              </a:rPr>
              <a:t>d</a:t>
            </a:r>
            <a:r>
              <a:rPr sz="3150" i="1" spc="-434" baseline="-19841" dirty="0">
                <a:latin typeface="Times New Roman"/>
                <a:cs typeface="Times New Roman"/>
              </a:rPr>
              <a:t> </a:t>
            </a:r>
            <a:r>
              <a:rPr sz="3000" i="1" dirty="0">
                <a:latin typeface="Times New Roman"/>
                <a:cs typeface="Times New Roman"/>
              </a:rPr>
              <a:t>x</a:t>
            </a:r>
            <a:r>
              <a:rPr sz="3150" i="1" baseline="-19841" dirty="0">
                <a:latin typeface="Times New Roman"/>
                <a:cs typeface="Times New Roman"/>
              </a:rPr>
              <a:t>d</a:t>
            </a:r>
            <a:r>
              <a:rPr sz="3150" i="1" spc="359" baseline="-19841" dirty="0">
                <a:latin typeface="Times New Roman"/>
                <a:cs typeface="Times New Roman"/>
              </a:rPr>
              <a:t> </a:t>
            </a: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95" dirty="0">
                <a:latin typeface="Cambria"/>
                <a:cs typeface="Cambria"/>
              </a:rPr>
              <a:t> </a:t>
            </a:r>
            <a:r>
              <a:rPr sz="4500" spc="2925" baseline="-28703" dirty="0">
                <a:latin typeface="Sitka Small"/>
                <a:cs typeface="Sitka Small"/>
              </a:rPr>
              <a:t>∑</a:t>
            </a:r>
            <a:r>
              <a:rPr sz="4500" spc="-644" baseline="-28703" dirty="0">
                <a:latin typeface="Sitka Small"/>
                <a:cs typeface="Sitka Small"/>
              </a:rPr>
              <a:t> </a:t>
            </a:r>
            <a:r>
              <a:rPr sz="3000" i="1" dirty="0">
                <a:latin typeface="Times New Roman"/>
                <a:cs typeface="Times New Roman"/>
              </a:rPr>
              <a:t>θ</a:t>
            </a:r>
            <a:r>
              <a:rPr sz="3150" i="1" baseline="-19841" dirty="0">
                <a:latin typeface="Times New Roman"/>
                <a:cs typeface="Times New Roman"/>
              </a:rPr>
              <a:t>i</a:t>
            </a:r>
            <a:r>
              <a:rPr sz="3000" i="1" dirty="0">
                <a:latin typeface="Times New Roman"/>
                <a:cs typeface="Times New Roman"/>
              </a:rPr>
              <a:t>x</a:t>
            </a:r>
            <a:r>
              <a:rPr sz="3150" i="1" baseline="-19841" dirty="0">
                <a:latin typeface="Times New Roman"/>
                <a:cs typeface="Times New Roman"/>
              </a:rPr>
              <a:t>i</a:t>
            </a:r>
            <a:r>
              <a:rPr sz="3150" i="1" spc="337" baseline="-19841" dirty="0">
                <a:latin typeface="Times New Roman"/>
                <a:cs typeface="Times New Roman"/>
              </a:rPr>
              <a:t> </a:t>
            </a: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95" dirty="0">
                <a:latin typeface="Cambria"/>
                <a:cs typeface="Cambria"/>
              </a:rPr>
              <a:t> </a:t>
            </a:r>
            <a:r>
              <a:rPr sz="3000" spc="80" dirty="0">
                <a:latin typeface="Cambria"/>
                <a:cs typeface="Cambria"/>
              </a:rPr>
              <a:t>⟨</a:t>
            </a:r>
            <a:r>
              <a:rPr sz="3000" b="1" spc="80" dirty="0">
                <a:latin typeface="Times New Roman"/>
                <a:cs typeface="Times New Roman"/>
              </a:rPr>
              <a:t>x</a:t>
            </a:r>
            <a:r>
              <a:rPr sz="3000" spc="80" dirty="0">
                <a:latin typeface="Cambria"/>
                <a:cs typeface="Cambria"/>
              </a:rPr>
              <a:t>,</a:t>
            </a:r>
            <a:r>
              <a:rPr sz="3000" spc="-165" dirty="0">
                <a:latin typeface="Cambria"/>
                <a:cs typeface="Cambria"/>
              </a:rPr>
              <a:t> </a:t>
            </a:r>
            <a:r>
              <a:rPr sz="3000" b="1" i="1" spc="-25" dirty="0">
                <a:latin typeface="Arial"/>
                <a:cs typeface="Arial"/>
              </a:rPr>
              <a:t>θ</a:t>
            </a:r>
            <a:r>
              <a:rPr sz="3000" spc="-25" dirty="0">
                <a:latin typeface="Cambria"/>
                <a:cs typeface="Cambria"/>
              </a:rPr>
              <a:t>⟩</a:t>
            </a:r>
            <a:endParaRPr sz="3000">
              <a:latin typeface="Cambria"/>
              <a:cs typeface="Cambria"/>
            </a:endParaRPr>
          </a:p>
          <a:p>
            <a:pPr marR="1954530" algn="r">
              <a:lnSpc>
                <a:spcPct val="100000"/>
              </a:lnSpc>
              <a:spcBef>
                <a:spcPts val="965"/>
              </a:spcBef>
            </a:pPr>
            <a:r>
              <a:rPr sz="2100" i="1" spc="35" dirty="0">
                <a:latin typeface="Times New Roman"/>
                <a:cs typeface="Times New Roman"/>
              </a:rPr>
              <a:t>i</a:t>
            </a:r>
            <a:r>
              <a:rPr sz="2100" spc="35" dirty="0">
                <a:latin typeface="Cambria"/>
                <a:cs typeface="Cambria"/>
              </a:rPr>
              <a:t>=0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23900" y="1185421"/>
            <a:ext cx="8716645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06400" indent="-381000">
              <a:lnSpc>
                <a:spcPct val="100000"/>
              </a:lnSpc>
              <a:spcBef>
                <a:spcPts val="90"/>
              </a:spcBef>
              <a:buSzPct val="122000"/>
              <a:buChar char="•"/>
              <a:tabLst>
                <a:tab pos="406400" algn="l"/>
              </a:tabLst>
            </a:pPr>
            <a:r>
              <a:rPr sz="2500" dirty="0">
                <a:latin typeface="Trebuchet MS"/>
                <a:cs typeface="Trebuchet MS"/>
              </a:rPr>
              <a:t>Given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160" dirty="0">
                <a:latin typeface="Trebuchet MS"/>
                <a:cs typeface="Trebuchet MS"/>
              </a:rPr>
              <a:t>set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Cambria"/>
                <a:cs typeface="Cambria"/>
              </a:rPr>
              <a:t>(</a:t>
            </a:r>
            <a:r>
              <a:rPr sz="2800" b="1" spc="-45" dirty="0">
                <a:latin typeface="Times New Roman"/>
                <a:cs typeface="Times New Roman"/>
              </a:rPr>
              <a:t>x</a:t>
            </a:r>
            <a:r>
              <a:rPr sz="2925" spc="-67" baseline="29914" dirty="0">
                <a:latin typeface="Cambria"/>
                <a:cs typeface="Cambria"/>
              </a:rPr>
              <a:t>(</a:t>
            </a:r>
            <a:r>
              <a:rPr sz="2925" i="1" spc="-67" baseline="29914" dirty="0">
                <a:latin typeface="Times New Roman"/>
                <a:cs typeface="Times New Roman"/>
              </a:rPr>
              <a:t>i</a:t>
            </a:r>
            <a:r>
              <a:rPr sz="2925" spc="-67" baseline="29914" dirty="0">
                <a:latin typeface="Cambria"/>
                <a:cs typeface="Cambria"/>
              </a:rPr>
              <a:t>)</a:t>
            </a:r>
            <a:r>
              <a:rPr sz="2800" spc="-45" dirty="0">
                <a:latin typeface="Cambria"/>
                <a:cs typeface="Cambria"/>
              </a:rPr>
              <a:t>,</a:t>
            </a:r>
            <a:r>
              <a:rPr sz="2800" spc="-150" dirty="0">
                <a:latin typeface="Cambria"/>
                <a:cs typeface="Cambria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y</a:t>
            </a:r>
            <a:r>
              <a:rPr sz="2925" spc="-15" baseline="29914" dirty="0">
                <a:latin typeface="Cambria"/>
                <a:cs typeface="Cambria"/>
              </a:rPr>
              <a:t>(</a:t>
            </a:r>
            <a:r>
              <a:rPr sz="2925" i="1" spc="-15" baseline="29914" dirty="0">
                <a:latin typeface="Times New Roman"/>
                <a:cs typeface="Times New Roman"/>
              </a:rPr>
              <a:t>i</a:t>
            </a:r>
            <a:r>
              <a:rPr sz="2925" spc="-15" baseline="29914" dirty="0">
                <a:latin typeface="Cambria"/>
                <a:cs typeface="Cambria"/>
              </a:rPr>
              <a:t>)</a:t>
            </a:r>
            <a:r>
              <a:rPr sz="2800" spc="-10" dirty="0">
                <a:latin typeface="Cambria"/>
                <a:cs typeface="Cambria"/>
              </a:rPr>
              <a:t>),</a:t>
            </a:r>
            <a:r>
              <a:rPr sz="2800" spc="-155" dirty="0">
                <a:latin typeface="Cambria"/>
                <a:cs typeface="Cambria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i</a:t>
            </a:r>
            <a:r>
              <a:rPr sz="2800" i="1" spc="80" dirty="0">
                <a:latin typeface="Times New Roman"/>
                <a:cs typeface="Times New Roman"/>
              </a:rPr>
              <a:t> </a:t>
            </a:r>
            <a:r>
              <a:rPr sz="2800" spc="355" dirty="0">
                <a:latin typeface="Cambria"/>
                <a:cs typeface="Cambria"/>
              </a:rPr>
              <a:t>=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185" dirty="0">
                <a:latin typeface="Cambria"/>
                <a:cs typeface="Cambria"/>
              </a:rPr>
              <a:t>1,…,</a:t>
            </a:r>
            <a:r>
              <a:rPr sz="2800" spc="-150" dirty="0">
                <a:latin typeface="Cambria"/>
                <a:cs typeface="Cambria"/>
              </a:rPr>
              <a:t> </a:t>
            </a:r>
            <a:r>
              <a:rPr sz="2800" i="1" spc="-110" dirty="0">
                <a:latin typeface="Times New Roman"/>
                <a:cs typeface="Times New Roman"/>
              </a:rPr>
              <a:t>n</a:t>
            </a:r>
            <a:r>
              <a:rPr sz="2500" spc="-110" dirty="0">
                <a:latin typeface="Trebuchet MS"/>
                <a:cs typeface="Trebuchet MS"/>
              </a:rPr>
              <a:t>,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use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dot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products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0" y="5798080"/>
            <a:ext cx="561594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70" dirty="0">
                <a:latin typeface="Trebuchet MS"/>
                <a:cs typeface="Trebuchet MS"/>
              </a:rPr>
              <a:t>Thus,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can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rewrite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cost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function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Compact</a:t>
            </a:r>
            <a:r>
              <a:rPr spc="-245" dirty="0"/>
              <a:t> </a:t>
            </a:r>
            <a:r>
              <a:rPr spc="-280" dirty="0"/>
              <a:t>representation</a:t>
            </a:r>
          </a:p>
        </p:txBody>
      </p:sp>
      <p:sp>
        <p:nvSpPr>
          <p:cNvPr id="6" name="object 6"/>
          <p:cNvSpPr/>
          <p:nvPr/>
        </p:nvSpPr>
        <p:spPr>
          <a:xfrm>
            <a:off x="1412862" y="2216149"/>
            <a:ext cx="139065" cy="1624330"/>
          </a:xfrm>
          <a:custGeom>
            <a:avLst/>
            <a:gdLst/>
            <a:ahLst/>
            <a:cxnLst/>
            <a:rect l="l" t="t" r="r" b="b"/>
            <a:pathLst>
              <a:path w="139065" h="1624329">
                <a:moveTo>
                  <a:pt x="139039" y="0"/>
                </a:moveTo>
                <a:lnTo>
                  <a:pt x="0" y="0"/>
                </a:lnTo>
                <a:lnTo>
                  <a:pt x="0" y="19050"/>
                </a:lnTo>
                <a:lnTo>
                  <a:pt x="0" y="1605280"/>
                </a:lnTo>
                <a:lnTo>
                  <a:pt x="0" y="1624330"/>
                </a:lnTo>
                <a:lnTo>
                  <a:pt x="139039" y="1624330"/>
                </a:lnTo>
                <a:lnTo>
                  <a:pt x="139039" y="1605280"/>
                </a:lnTo>
                <a:lnTo>
                  <a:pt x="38087" y="1605280"/>
                </a:lnTo>
                <a:lnTo>
                  <a:pt x="38087" y="19050"/>
                </a:lnTo>
                <a:lnTo>
                  <a:pt x="139039" y="19050"/>
                </a:lnTo>
                <a:lnTo>
                  <a:pt x="139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24091" y="2210323"/>
            <a:ext cx="1026794" cy="155702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sz="3000" i="1" spc="-10" dirty="0">
                <a:latin typeface="Times New Roman"/>
                <a:cs typeface="Times New Roman"/>
              </a:rPr>
              <a:t>h</a:t>
            </a:r>
            <a:r>
              <a:rPr sz="3000" spc="-10" dirty="0">
                <a:latin typeface="Cambria"/>
                <a:cs typeface="Cambria"/>
              </a:rPr>
              <a:t>(</a:t>
            </a:r>
            <a:r>
              <a:rPr sz="3000" b="1" spc="-10" dirty="0">
                <a:latin typeface="Times New Roman"/>
                <a:cs typeface="Times New Roman"/>
              </a:rPr>
              <a:t>x</a:t>
            </a:r>
            <a:r>
              <a:rPr sz="3150" spc="-15" baseline="29100" dirty="0">
                <a:latin typeface="Cambria"/>
                <a:cs typeface="Cambria"/>
              </a:rPr>
              <a:t>(1)</a:t>
            </a:r>
            <a:r>
              <a:rPr sz="3000" spc="-10" dirty="0">
                <a:latin typeface="Cambria"/>
                <a:cs typeface="Cambria"/>
              </a:rPr>
              <a:t>)</a:t>
            </a:r>
            <a:endParaRPr sz="3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sz="3000" spc="540" dirty="0">
                <a:latin typeface="Cambria"/>
                <a:cs typeface="Cambria"/>
              </a:rPr>
              <a:t>⋮</a:t>
            </a:r>
            <a:endParaRPr sz="3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3000" i="1" spc="-10" dirty="0">
                <a:latin typeface="Times New Roman"/>
                <a:cs typeface="Times New Roman"/>
              </a:rPr>
              <a:t>h</a:t>
            </a:r>
            <a:r>
              <a:rPr sz="3000" spc="-10" dirty="0">
                <a:latin typeface="Cambria"/>
                <a:cs typeface="Cambria"/>
              </a:rPr>
              <a:t>(</a:t>
            </a:r>
            <a:r>
              <a:rPr sz="3000" b="1" spc="-10" dirty="0">
                <a:latin typeface="Times New Roman"/>
                <a:cs typeface="Times New Roman"/>
              </a:rPr>
              <a:t>x</a:t>
            </a:r>
            <a:r>
              <a:rPr sz="3150" spc="-15" baseline="29100" dirty="0">
                <a:latin typeface="Cambria"/>
                <a:cs typeface="Cambria"/>
              </a:rPr>
              <a:t>(</a:t>
            </a:r>
            <a:r>
              <a:rPr sz="3150" i="1" spc="-15" baseline="29100" dirty="0">
                <a:latin typeface="Times New Roman"/>
                <a:cs typeface="Times New Roman"/>
              </a:rPr>
              <a:t>n</a:t>
            </a:r>
            <a:r>
              <a:rPr sz="3150" spc="-15" baseline="29100" dirty="0">
                <a:latin typeface="Cambria"/>
                <a:cs typeface="Cambria"/>
              </a:rPr>
              <a:t>)</a:t>
            </a:r>
            <a:r>
              <a:rPr sz="3000" spc="-10" dirty="0">
                <a:latin typeface="Cambria"/>
                <a:cs typeface="Cambria"/>
              </a:rPr>
              <a:t>)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22474" y="2216149"/>
            <a:ext cx="139065" cy="1624330"/>
          </a:xfrm>
          <a:custGeom>
            <a:avLst/>
            <a:gdLst/>
            <a:ahLst/>
            <a:cxnLst/>
            <a:rect l="l" t="t" r="r" b="b"/>
            <a:pathLst>
              <a:path w="139064" h="1624329">
                <a:moveTo>
                  <a:pt x="139039" y="0"/>
                </a:moveTo>
                <a:lnTo>
                  <a:pt x="0" y="0"/>
                </a:lnTo>
                <a:lnTo>
                  <a:pt x="0" y="19050"/>
                </a:lnTo>
                <a:lnTo>
                  <a:pt x="100952" y="19050"/>
                </a:lnTo>
                <a:lnTo>
                  <a:pt x="100952" y="1605280"/>
                </a:lnTo>
                <a:lnTo>
                  <a:pt x="0" y="1605280"/>
                </a:lnTo>
                <a:lnTo>
                  <a:pt x="0" y="1624330"/>
                </a:lnTo>
                <a:lnTo>
                  <a:pt x="139039" y="1624330"/>
                </a:lnTo>
                <a:lnTo>
                  <a:pt x="139039" y="1605280"/>
                </a:lnTo>
                <a:lnTo>
                  <a:pt x="139039" y="19050"/>
                </a:lnTo>
                <a:lnTo>
                  <a:pt x="139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67010" y="2731445"/>
            <a:ext cx="2863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30" dirty="0">
                <a:latin typeface="Cambria"/>
                <a:cs typeface="Cambria"/>
              </a:rPr>
              <a:t>=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58832" y="2203449"/>
            <a:ext cx="139065" cy="1651000"/>
          </a:xfrm>
          <a:custGeom>
            <a:avLst/>
            <a:gdLst/>
            <a:ahLst/>
            <a:cxnLst/>
            <a:rect l="l" t="t" r="r" b="b"/>
            <a:pathLst>
              <a:path w="139064" h="1651000">
                <a:moveTo>
                  <a:pt x="139052" y="0"/>
                </a:moveTo>
                <a:lnTo>
                  <a:pt x="0" y="0"/>
                </a:lnTo>
                <a:lnTo>
                  <a:pt x="0" y="19050"/>
                </a:lnTo>
                <a:lnTo>
                  <a:pt x="0" y="1631950"/>
                </a:lnTo>
                <a:lnTo>
                  <a:pt x="0" y="1651000"/>
                </a:lnTo>
                <a:lnTo>
                  <a:pt x="139052" y="1651000"/>
                </a:lnTo>
                <a:lnTo>
                  <a:pt x="139052" y="1631950"/>
                </a:lnTo>
                <a:lnTo>
                  <a:pt x="38100" y="1631950"/>
                </a:lnTo>
                <a:lnTo>
                  <a:pt x="38100" y="19050"/>
                </a:lnTo>
                <a:lnTo>
                  <a:pt x="139052" y="19050"/>
                </a:lnTo>
                <a:lnTo>
                  <a:pt x="1390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70071" y="2182897"/>
            <a:ext cx="1236345" cy="158432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sz="3000" spc="-10" dirty="0">
                <a:latin typeface="Cambria"/>
                <a:cs typeface="Cambria"/>
              </a:rPr>
              <a:t>⟨</a:t>
            </a:r>
            <a:r>
              <a:rPr sz="3000" b="1" spc="-10" dirty="0">
                <a:latin typeface="Times New Roman"/>
                <a:cs typeface="Times New Roman"/>
              </a:rPr>
              <a:t>x</a:t>
            </a:r>
            <a:r>
              <a:rPr sz="3150" spc="-15" baseline="29100" dirty="0">
                <a:latin typeface="Cambria"/>
                <a:cs typeface="Cambria"/>
              </a:rPr>
              <a:t>(1)</a:t>
            </a:r>
            <a:r>
              <a:rPr sz="3000" spc="-10" dirty="0">
                <a:latin typeface="Cambria"/>
                <a:cs typeface="Cambria"/>
              </a:rPr>
              <a:t>,</a:t>
            </a:r>
            <a:r>
              <a:rPr sz="3000" spc="-150" dirty="0">
                <a:latin typeface="Cambria"/>
                <a:cs typeface="Cambria"/>
              </a:rPr>
              <a:t> </a:t>
            </a:r>
            <a:r>
              <a:rPr sz="3000" b="1" i="1" spc="-25" dirty="0">
                <a:latin typeface="Arial"/>
                <a:cs typeface="Arial"/>
              </a:rPr>
              <a:t>θ</a:t>
            </a:r>
            <a:r>
              <a:rPr sz="3000" spc="-25" dirty="0">
                <a:latin typeface="Cambria"/>
                <a:cs typeface="Cambria"/>
              </a:rPr>
              <a:t>⟩</a:t>
            </a:r>
            <a:endParaRPr sz="3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sz="3000" spc="540" dirty="0">
                <a:latin typeface="Cambria"/>
                <a:cs typeface="Cambria"/>
              </a:rPr>
              <a:t>⋮</a:t>
            </a:r>
            <a:endParaRPr sz="3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3000" dirty="0">
                <a:latin typeface="Cambria"/>
                <a:cs typeface="Cambria"/>
              </a:rPr>
              <a:t>⟨</a:t>
            </a:r>
            <a:r>
              <a:rPr sz="3000" b="1" dirty="0">
                <a:latin typeface="Times New Roman"/>
                <a:cs typeface="Times New Roman"/>
              </a:rPr>
              <a:t>x</a:t>
            </a:r>
            <a:r>
              <a:rPr sz="3150" baseline="29100" dirty="0">
                <a:latin typeface="Cambria"/>
                <a:cs typeface="Cambria"/>
              </a:rPr>
              <a:t>(</a:t>
            </a:r>
            <a:r>
              <a:rPr sz="3150" i="1" baseline="29100" dirty="0">
                <a:latin typeface="Times New Roman"/>
                <a:cs typeface="Times New Roman"/>
              </a:rPr>
              <a:t>n</a:t>
            </a:r>
            <a:r>
              <a:rPr sz="3150" baseline="29100" dirty="0">
                <a:latin typeface="Cambria"/>
                <a:cs typeface="Cambria"/>
              </a:rPr>
              <a:t>)</a:t>
            </a:r>
            <a:r>
              <a:rPr sz="3000" dirty="0">
                <a:latin typeface="Cambria"/>
                <a:cs typeface="Cambria"/>
              </a:rPr>
              <a:t>,</a:t>
            </a:r>
            <a:r>
              <a:rPr sz="3000" spc="-95" dirty="0">
                <a:latin typeface="Cambria"/>
                <a:cs typeface="Cambria"/>
              </a:rPr>
              <a:t> </a:t>
            </a:r>
            <a:r>
              <a:rPr sz="3000" b="1" i="1" spc="-25" dirty="0">
                <a:latin typeface="Arial"/>
                <a:cs typeface="Arial"/>
              </a:rPr>
              <a:t>θ</a:t>
            </a:r>
            <a:r>
              <a:rPr sz="3000" spc="-25" dirty="0">
                <a:latin typeface="Cambria"/>
                <a:cs typeface="Cambria"/>
              </a:rPr>
              <a:t>⟩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78603" y="2203449"/>
            <a:ext cx="139065" cy="1651000"/>
          </a:xfrm>
          <a:custGeom>
            <a:avLst/>
            <a:gdLst/>
            <a:ahLst/>
            <a:cxnLst/>
            <a:rect l="l" t="t" r="r" b="b"/>
            <a:pathLst>
              <a:path w="139064" h="1651000">
                <a:moveTo>
                  <a:pt x="139039" y="0"/>
                </a:moveTo>
                <a:lnTo>
                  <a:pt x="0" y="0"/>
                </a:lnTo>
                <a:lnTo>
                  <a:pt x="0" y="19050"/>
                </a:lnTo>
                <a:lnTo>
                  <a:pt x="100939" y="19050"/>
                </a:lnTo>
                <a:lnTo>
                  <a:pt x="100939" y="1631950"/>
                </a:lnTo>
                <a:lnTo>
                  <a:pt x="0" y="1631950"/>
                </a:lnTo>
                <a:lnTo>
                  <a:pt x="0" y="1651000"/>
                </a:lnTo>
                <a:lnTo>
                  <a:pt x="139039" y="1651000"/>
                </a:lnTo>
                <a:lnTo>
                  <a:pt x="139039" y="1631950"/>
                </a:lnTo>
                <a:lnTo>
                  <a:pt x="139039" y="19050"/>
                </a:lnTo>
                <a:lnTo>
                  <a:pt x="139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023140" y="2731445"/>
            <a:ext cx="2863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30" dirty="0">
                <a:latin typeface="Cambria"/>
                <a:cs typeface="Cambria"/>
              </a:rPr>
              <a:t>=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21044" y="2282512"/>
            <a:ext cx="5822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500" b="1" spc="-30" baseline="-20370" dirty="0">
                <a:latin typeface="Times New Roman"/>
                <a:cs typeface="Times New Roman"/>
              </a:rPr>
              <a:t>x</a:t>
            </a:r>
            <a:r>
              <a:rPr sz="2100" spc="-20" dirty="0">
                <a:latin typeface="Cambria"/>
                <a:cs typeface="Cambria"/>
              </a:rPr>
              <a:t>(1)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64496" y="2652019"/>
            <a:ext cx="1708150" cy="86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715" algn="ctr">
              <a:lnSpc>
                <a:spcPts val="3285"/>
              </a:lnSpc>
              <a:spcBef>
                <a:spcPts val="100"/>
              </a:spcBef>
            </a:pPr>
            <a:r>
              <a:rPr sz="3000" spc="690" dirty="0">
                <a:latin typeface="Cambria"/>
                <a:cs typeface="Cambria"/>
              </a:rPr>
              <a:t>…</a:t>
            </a:r>
            <a:endParaRPr sz="3000">
              <a:latin typeface="Cambria"/>
              <a:cs typeface="Cambria"/>
            </a:endParaRPr>
          </a:p>
          <a:p>
            <a:pPr marR="5080" algn="ctr">
              <a:lnSpc>
                <a:spcPts val="3285"/>
              </a:lnSpc>
              <a:tabLst>
                <a:tab pos="556260" algn="l"/>
                <a:tab pos="1366520" algn="l"/>
              </a:tabLst>
            </a:pPr>
            <a:r>
              <a:rPr sz="3000" spc="560" dirty="0">
                <a:latin typeface="Verdana"/>
                <a:cs typeface="Verdana"/>
              </a:rPr>
              <a:t>[</a:t>
            </a:r>
            <a:r>
              <a:rPr sz="3000" dirty="0">
                <a:latin typeface="Verdana"/>
                <a:cs typeface="Verdana"/>
              </a:rPr>
              <a:t>	</a:t>
            </a:r>
            <a:r>
              <a:rPr sz="4500" b="1" spc="-30" baseline="-20370" dirty="0">
                <a:latin typeface="Times New Roman"/>
                <a:cs typeface="Times New Roman"/>
              </a:rPr>
              <a:t>x</a:t>
            </a:r>
            <a:r>
              <a:rPr sz="2100" spc="-20" dirty="0">
                <a:latin typeface="Cambria"/>
                <a:cs typeface="Cambria"/>
              </a:rPr>
              <a:t>(</a:t>
            </a:r>
            <a:r>
              <a:rPr sz="2100" i="1" spc="-20" dirty="0">
                <a:latin typeface="Times New Roman"/>
                <a:cs typeface="Times New Roman"/>
              </a:rPr>
              <a:t>n</a:t>
            </a:r>
            <a:r>
              <a:rPr sz="2100" spc="-20" dirty="0">
                <a:latin typeface="Cambria"/>
                <a:cs typeface="Cambria"/>
              </a:rPr>
              <a:t>)</a:t>
            </a:r>
            <a:r>
              <a:rPr sz="2100" dirty="0">
                <a:latin typeface="Cambria"/>
                <a:cs typeface="Cambria"/>
              </a:rPr>
              <a:t>	</a:t>
            </a:r>
            <a:r>
              <a:rPr sz="3000" spc="560" dirty="0">
                <a:latin typeface="Verdana"/>
                <a:cs typeface="Verdana"/>
              </a:rPr>
              <a:t>]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01282" y="2394414"/>
            <a:ext cx="337820" cy="1270000"/>
          </a:xfrm>
          <a:prstGeom prst="rect">
            <a:avLst/>
          </a:prstGeom>
          <a:solidFill>
            <a:srgbClr val="FFD932">
              <a:alpha val="45028"/>
            </a:srgbClr>
          </a:solidFill>
        </p:spPr>
        <p:txBody>
          <a:bodyPr vert="horz" wrap="square" lIns="0" tIns="349250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2750"/>
              </a:spcBef>
            </a:pPr>
            <a:r>
              <a:rPr sz="3000" b="1" i="1" spc="-50" dirty="0">
                <a:latin typeface="Arial"/>
                <a:cs typeface="Arial"/>
              </a:rPr>
              <a:t>θ</a:t>
            </a:r>
            <a:endParaRPr sz="3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69102" y="2731445"/>
            <a:ext cx="85851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170" dirty="0">
                <a:latin typeface="Cambria"/>
                <a:cs typeface="Cambria"/>
              </a:rPr>
              <a:t> </a:t>
            </a:r>
            <a:r>
              <a:rPr sz="3000" b="1" spc="-60" dirty="0">
                <a:latin typeface="Times New Roman"/>
                <a:cs typeface="Times New Roman"/>
              </a:rPr>
              <a:t>X</a:t>
            </a:r>
            <a:r>
              <a:rPr sz="3000" b="1" i="1" spc="-60" dirty="0">
                <a:latin typeface="Arial"/>
                <a:cs typeface="Arial"/>
              </a:rPr>
              <a:t>θ</a:t>
            </a:r>
            <a:endParaRPr sz="3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584126" y="2503534"/>
            <a:ext cx="1270000" cy="337820"/>
          </a:xfrm>
          <a:custGeom>
            <a:avLst/>
            <a:gdLst/>
            <a:ahLst/>
            <a:cxnLst/>
            <a:rect l="l" t="t" r="r" b="b"/>
            <a:pathLst>
              <a:path w="1270000" h="337819">
                <a:moveTo>
                  <a:pt x="1269999" y="0"/>
                </a:moveTo>
                <a:lnTo>
                  <a:pt x="0" y="0"/>
                </a:lnTo>
                <a:lnTo>
                  <a:pt x="0" y="337821"/>
                </a:lnTo>
                <a:lnTo>
                  <a:pt x="1269999" y="337821"/>
                </a:lnTo>
                <a:lnTo>
                  <a:pt x="1269999" y="0"/>
                </a:lnTo>
                <a:close/>
              </a:path>
            </a:pathLst>
          </a:custGeom>
          <a:solidFill>
            <a:srgbClr val="73FDEA">
              <a:alpha val="307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84126" y="3222831"/>
            <a:ext cx="1270000" cy="337820"/>
          </a:xfrm>
          <a:custGeom>
            <a:avLst/>
            <a:gdLst/>
            <a:ahLst/>
            <a:cxnLst/>
            <a:rect l="l" t="t" r="r" b="b"/>
            <a:pathLst>
              <a:path w="1270000" h="337820">
                <a:moveTo>
                  <a:pt x="1269999" y="0"/>
                </a:moveTo>
                <a:lnTo>
                  <a:pt x="0" y="0"/>
                </a:lnTo>
                <a:lnTo>
                  <a:pt x="0" y="337821"/>
                </a:lnTo>
                <a:lnTo>
                  <a:pt x="1269999" y="337821"/>
                </a:lnTo>
                <a:lnTo>
                  <a:pt x="1269999" y="0"/>
                </a:lnTo>
                <a:close/>
              </a:path>
            </a:pathLst>
          </a:custGeom>
          <a:solidFill>
            <a:srgbClr val="61D836">
              <a:alpha val="273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97809" y="6892942"/>
            <a:ext cx="267335" cy="25400"/>
          </a:xfrm>
          <a:custGeom>
            <a:avLst/>
            <a:gdLst/>
            <a:ahLst/>
            <a:cxnLst/>
            <a:rect l="l" t="t" r="r" b="b"/>
            <a:pathLst>
              <a:path w="267335" h="25400">
                <a:moveTo>
                  <a:pt x="266724" y="0"/>
                </a:moveTo>
                <a:lnTo>
                  <a:pt x="0" y="0"/>
                </a:lnTo>
                <a:lnTo>
                  <a:pt x="0" y="25148"/>
                </a:lnTo>
                <a:lnTo>
                  <a:pt x="266724" y="25148"/>
                </a:lnTo>
                <a:lnTo>
                  <a:pt x="2667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123213" y="6893961"/>
            <a:ext cx="2165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14" dirty="0">
                <a:latin typeface="Cambria"/>
                <a:cs typeface="Cambria"/>
              </a:rPr>
              <a:t>2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22" name="object 22"/>
          <p:cNvSpPr txBox="1"/>
          <p:nvPr/>
        </p:nvSpPr>
        <p:spPr>
          <a:xfrm>
            <a:off x="4971724" y="6608185"/>
            <a:ext cx="307086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163955" algn="l"/>
              </a:tabLst>
            </a:pPr>
            <a:r>
              <a:rPr sz="3000" i="1" spc="-60" dirty="0">
                <a:latin typeface="Times New Roman"/>
                <a:cs typeface="Times New Roman"/>
              </a:rPr>
              <a:t>J</a:t>
            </a:r>
            <a:r>
              <a:rPr sz="3000" spc="-60" dirty="0">
                <a:latin typeface="Cambria"/>
                <a:cs typeface="Cambria"/>
              </a:rPr>
              <a:t>(</a:t>
            </a:r>
            <a:r>
              <a:rPr sz="3000" b="1" i="1" spc="-60" dirty="0">
                <a:latin typeface="Arial"/>
                <a:cs typeface="Arial"/>
              </a:rPr>
              <a:t>θ</a:t>
            </a:r>
            <a:r>
              <a:rPr sz="3000" spc="-60" dirty="0">
                <a:latin typeface="Cambria"/>
                <a:cs typeface="Cambria"/>
              </a:rPr>
              <a:t>)</a:t>
            </a:r>
            <a:r>
              <a:rPr sz="3000" spc="-100" dirty="0">
                <a:latin typeface="Cambria"/>
                <a:cs typeface="Cambria"/>
              </a:rPr>
              <a:t> </a:t>
            </a:r>
            <a:r>
              <a:rPr sz="3000" spc="330" dirty="0">
                <a:latin typeface="Cambria"/>
                <a:cs typeface="Cambria"/>
              </a:rPr>
              <a:t>=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4500" spc="-262" baseline="38888" dirty="0">
                <a:latin typeface="Cambria"/>
                <a:cs typeface="Cambria"/>
              </a:rPr>
              <a:t>1</a:t>
            </a:r>
            <a:r>
              <a:rPr sz="4500" spc="-322" baseline="38888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∥</a:t>
            </a:r>
            <a:r>
              <a:rPr sz="3000" b="1" dirty="0">
                <a:latin typeface="Times New Roman"/>
                <a:cs typeface="Times New Roman"/>
              </a:rPr>
              <a:t>X</a:t>
            </a:r>
            <a:r>
              <a:rPr sz="3000" b="1" i="1" dirty="0">
                <a:latin typeface="Arial"/>
                <a:cs typeface="Arial"/>
              </a:rPr>
              <a:t>θ</a:t>
            </a:r>
            <a:r>
              <a:rPr sz="3000" b="1" i="1" spc="-170" dirty="0">
                <a:latin typeface="Arial"/>
                <a:cs typeface="Arial"/>
              </a:rPr>
              <a:t> </a:t>
            </a:r>
            <a:r>
              <a:rPr sz="3000" spc="380" dirty="0">
                <a:latin typeface="Cambria"/>
                <a:cs typeface="Cambria"/>
              </a:rPr>
              <a:t>−</a:t>
            </a:r>
            <a:r>
              <a:rPr sz="3000" spc="10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Times New Roman"/>
                <a:cs typeface="Times New Roman"/>
              </a:rPr>
              <a:t>y</a:t>
            </a:r>
            <a:r>
              <a:rPr sz="3000" spc="-25" dirty="0">
                <a:latin typeface="Cambria"/>
                <a:cs typeface="Cambria"/>
              </a:rPr>
              <a:t>∥</a:t>
            </a:r>
            <a:r>
              <a:rPr sz="3150" spc="-37" baseline="29100" dirty="0">
                <a:latin typeface="Cambria"/>
                <a:cs typeface="Cambria"/>
              </a:rPr>
              <a:t>2</a:t>
            </a:r>
            <a:endParaRPr sz="3150" baseline="29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80899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85" dirty="0">
                <a:latin typeface="Trebuchet MS"/>
                <a:cs typeface="Trebuchet MS"/>
              </a:rPr>
              <a:t>The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partial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derivatives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are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all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zero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90" dirty="0">
                <a:latin typeface="Trebuchet MS"/>
                <a:cs typeface="Trebuchet MS"/>
              </a:rPr>
              <a:t>at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minimum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value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0" y="6527978"/>
            <a:ext cx="10906125" cy="76200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393700" marR="5080" indent="-381000">
              <a:lnSpc>
                <a:spcPts val="2800"/>
              </a:lnSpc>
              <a:spcBef>
                <a:spcPts val="359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35" dirty="0">
                <a:latin typeface="Trebuchet MS"/>
                <a:cs typeface="Trebuchet MS"/>
              </a:rPr>
              <a:t>This</a:t>
            </a:r>
            <a:r>
              <a:rPr sz="2500" spc="-15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expression</a:t>
            </a:r>
            <a:r>
              <a:rPr sz="2500" spc="-1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known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as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normal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equation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solution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20" dirty="0">
                <a:latin typeface="Trebuchet MS"/>
                <a:cs typeface="Trebuchet MS"/>
              </a:rPr>
              <a:t>least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squares problem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A</a:t>
            </a:r>
            <a:r>
              <a:rPr spc="-229" dirty="0"/>
              <a:t> </a:t>
            </a:r>
            <a:r>
              <a:rPr spc="-200" dirty="0"/>
              <a:t>closed</a:t>
            </a:r>
            <a:r>
              <a:rPr spc="-229" dirty="0"/>
              <a:t> </a:t>
            </a:r>
            <a:r>
              <a:rPr spc="-195" dirty="0"/>
              <a:t>form</a:t>
            </a:r>
            <a:r>
              <a:rPr spc="-229" dirty="0"/>
              <a:t> </a:t>
            </a:r>
            <a:r>
              <a:rPr spc="-170" dirty="0"/>
              <a:t>solution</a:t>
            </a:r>
          </a:p>
        </p:txBody>
      </p:sp>
      <p:sp>
        <p:nvSpPr>
          <p:cNvPr id="6" name="object 6"/>
          <p:cNvSpPr/>
          <p:nvPr/>
        </p:nvSpPr>
        <p:spPr>
          <a:xfrm>
            <a:off x="4718377" y="2651897"/>
            <a:ext cx="267335" cy="25400"/>
          </a:xfrm>
          <a:custGeom>
            <a:avLst/>
            <a:gdLst/>
            <a:ahLst/>
            <a:cxnLst/>
            <a:rect l="l" t="t" r="r" b="b"/>
            <a:pathLst>
              <a:path w="267335" h="25400">
                <a:moveTo>
                  <a:pt x="266768" y="0"/>
                </a:moveTo>
                <a:lnTo>
                  <a:pt x="0" y="0"/>
                </a:lnTo>
                <a:lnTo>
                  <a:pt x="0" y="25152"/>
                </a:lnTo>
                <a:lnTo>
                  <a:pt x="266768" y="25152"/>
                </a:lnTo>
                <a:lnTo>
                  <a:pt x="2667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43787" y="2652916"/>
            <a:ext cx="2165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14" dirty="0">
                <a:latin typeface="Cambria"/>
                <a:cs typeface="Cambria"/>
              </a:rPr>
              <a:t>2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18387" y="2098418"/>
            <a:ext cx="3615690" cy="751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860"/>
              </a:lnSpc>
              <a:spcBef>
                <a:spcPts val="100"/>
              </a:spcBef>
            </a:pPr>
            <a:r>
              <a:rPr sz="3000" spc="-50" dirty="0">
                <a:latin typeface="Cambria"/>
                <a:cs typeface="Cambria"/>
              </a:rPr>
              <a:t>1</a:t>
            </a:r>
            <a:endParaRPr sz="3000">
              <a:latin typeface="Cambria"/>
              <a:cs typeface="Cambria"/>
            </a:endParaRPr>
          </a:p>
          <a:p>
            <a:pPr marL="285750">
              <a:lnSpc>
                <a:spcPts val="2860"/>
              </a:lnSpc>
            </a:pPr>
            <a:r>
              <a:rPr sz="3000" spc="-85" dirty="0">
                <a:latin typeface="Cambria"/>
                <a:cs typeface="Cambria"/>
              </a:rPr>
              <a:t>(2</a:t>
            </a:r>
            <a:r>
              <a:rPr sz="3000" b="1" spc="-85" dirty="0">
                <a:latin typeface="Times New Roman"/>
                <a:cs typeface="Times New Roman"/>
              </a:rPr>
              <a:t>X</a:t>
            </a:r>
            <a:r>
              <a:rPr sz="3150" i="1" spc="-127" baseline="29100" dirty="0">
                <a:latin typeface="Times New Roman"/>
                <a:cs typeface="Times New Roman"/>
              </a:rPr>
              <a:t>T</a:t>
            </a:r>
            <a:r>
              <a:rPr sz="3150" i="1" spc="-465" baseline="29100" dirty="0">
                <a:latin typeface="Times New Roman"/>
                <a:cs typeface="Times New Roman"/>
              </a:rPr>
              <a:t> </a:t>
            </a:r>
            <a:r>
              <a:rPr sz="3000" b="1" spc="-100" dirty="0">
                <a:latin typeface="Times New Roman"/>
                <a:cs typeface="Times New Roman"/>
              </a:rPr>
              <a:t>X</a:t>
            </a:r>
            <a:r>
              <a:rPr sz="3000" b="1" i="1" spc="-100" dirty="0">
                <a:latin typeface="Arial"/>
                <a:cs typeface="Arial"/>
              </a:rPr>
              <a:t>θ</a:t>
            </a:r>
            <a:r>
              <a:rPr sz="3000" b="1" i="1" spc="-170" dirty="0">
                <a:latin typeface="Arial"/>
                <a:cs typeface="Arial"/>
              </a:rPr>
              <a:t> </a:t>
            </a:r>
            <a:r>
              <a:rPr sz="3000" spc="380" dirty="0">
                <a:latin typeface="Cambria"/>
                <a:cs typeface="Cambria"/>
              </a:rPr>
              <a:t>−</a:t>
            </a:r>
            <a:r>
              <a:rPr sz="3000" spc="-45" dirty="0">
                <a:latin typeface="Cambria"/>
                <a:cs typeface="Cambria"/>
              </a:rPr>
              <a:t> </a:t>
            </a:r>
            <a:r>
              <a:rPr sz="3000" spc="-60" dirty="0">
                <a:latin typeface="Cambria"/>
                <a:cs typeface="Cambria"/>
              </a:rPr>
              <a:t>2</a:t>
            </a:r>
            <a:r>
              <a:rPr sz="3000" b="1" spc="-60" dirty="0">
                <a:latin typeface="Times New Roman"/>
                <a:cs typeface="Times New Roman"/>
              </a:rPr>
              <a:t>X</a:t>
            </a:r>
            <a:r>
              <a:rPr sz="3150" i="1" spc="-89" baseline="29100" dirty="0">
                <a:latin typeface="Times New Roman"/>
                <a:cs typeface="Times New Roman"/>
              </a:rPr>
              <a:t>T</a:t>
            </a:r>
            <a:r>
              <a:rPr sz="3150" i="1" spc="-465" baseline="2910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y</a:t>
            </a:r>
            <a:r>
              <a:rPr sz="3000" dirty="0">
                <a:latin typeface="Cambria"/>
                <a:cs typeface="Cambria"/>
              </a:rPr>
              <a:t>)</a:t>
            </a:r>
            <a:r>
              <a:rPr sz="3000" spc="150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145" dirty="0">
                <a:latin typeface="Cambria"/>
                <a:cs typeface="Cambria"/>
              </a:rPr>
              <a:t> </a:t>
            </a:r>
            <a:r>
              <a:rPr sz="3000" b="1" spc="-60" dirty="0">
                <a:latin typeface="Times New Roman"/>
                <a:cs typeface="Times New Roman"/>
              </a:rPr>
              <a:t>0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50514" y="3637462"/>
            <a:ext cx="2712085" cy="1551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X</a:t>
            </a:r>
            <a:r>
              <a:rPr sz="3150" i="1" baseline="29100" dirty="0">
                <a:latin typeface="Times New Roman"/>
                <a:cs typeface="Times New Roman"/>
              </a:rPr>
              <a:t>T</a:t>
            </a:r>
            <a:r>
              <a:rPr sz="3150" i="1" spc="-465" baseline="2910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X</a:t>
            </a:r>
            <a:r>
              <a:rPr sz="3000" b="1" i="1" dirty="0">
                <a:latin typeface="Arial"/>
                <a:cs typeface="Arial"/>
              </a:rPr>
              <a:t>θ</a:t>
            </a:r>
            <a:r>
              <a:rPr sz="3000" b="1" i="1" spc="-100" dirty="0">
                <a:latin typeface="Arial"/>
                <a:cs typeface="Arial"/>
              </a:rPr>
              <a:t> </a:t>
            </a: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110" dirty="0">
                <a:latin typeface="Cambria"/>
                <a:cs typeface="Cambria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X</a:t>
            </a:r>
            <a:r>
              <a:rPr sz="3150" i="1" baseline="29100" dirty="0">
                <a:latin typeface="Times New Roman"/>
                <a:cs typeface="Times New Roman"/>
              </a:rPr>
              <a:t>T</a:t>
            </a:r>
            <a:r>
              <a:rPr sz="3150" i="1" spc="-465" baseline="29100" dirty="0">
                <a:latin typeface="Times New Roman"/>
                <a:cs typeface="Times New Roman"/>
              </a:rPr>
              <a:t> </a:t>
            </a:r>
            <a:r>
              <a:rPr sz="3000" b="1" spc="-50" dirty="0">
                <a:latin typeface="Times New Roman"/>
                <a:cs typeface="Times New Roman"/>
              </a:rPr>
              <a:t>y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3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000" b="1" i="1" dirty="0">
                <a:latin typeface="Arial"/>
                <a:cs typeface="Arial"/>
              </a:rPr>
              <a:t>θ</a:t>
            </a:r>
            <a:r>
              <a:rPr sz="3000" b="1" i="1" spc="-80" dirty="0">
                <a:latin typeface="Arial"/>
                <a:cs typeface="Arial"/>
              </a:rPr>
              <a:t> </a:t>
            </a: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120" dirty="0">
                <a:latin typeface="Cambria"/>
                <a:cs typeface="Cambria"/>
              </a:rPr>
              <a:t> </a:t>
            </a:r>
            <a:r>
              <a:rPr sz="3000" spc="-55" dirty="0">
                <a:latin typeface="Cambria"/>
                <a:cs typeface="Cambria"/>
              </a:rPr>
              <a:t>(</a:t>
            </a:r>
            <a:r>
              <a:rPr sz="3000" b="1" spc="-55" dirty="0">
                <a:latin typeface="Times New Roman"/>
                <a:cs typeface="Times New Roman"/>
              </a:rPr>
              <a:t>X</a:t>
            </a:r>
            <a:r>
              <a:rPr sz="3150" i="1" spc="-82" baseline="29100" dirty="0">
                <a:latin typeface="Times New Roman"/>
                <a:cs typeface="Times New Roman"/>
              </a:rPr>
              <a:t>T</a:t>
            </a:r>
            <a:r>
              <a:rPr sz="3150" i="1" spc="-465" baseline="2910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X</a:t>
            </a:r>
            <a:r>
              <a:rPr sz="3000" dirty="0">
                <a:latin typeface="Cambria"/>
                <a:cs typeface="Cambria"/>
              </a:rPr>
              <a:t>)</a:t>
            </a:r>
            <a:r>
              <a:rPr sz="3150" baseline="29100" dirty="0">
                <a:latin typeface="Cambria"/>
                <a:cs typeface="Cambria"/>
              </a:rPr>
              <a:t>−1</a:t>
            </a:r>
            <a:r>
              <a:rPr sz="3000" b="1" dirty="0">
                <a:latin typeface="Times New Roman"/>
                <a:cs typeface="Times New Roman"/>
              </a:rPr>
              <a:t>X</a:t>
            </a:r>
            <a:r>
              <a:rPr sz="3150" i="1" baseline="29100" dirty="0">
                <a:latin typeface="Times New Roman"/>
                <a:cs typeface="Times New Roman"/>
              </a:rPr>
              <a:t>T</a:t>
            </a:r>
            <a:r>
              <a:rPr sz="3150" i="1" spc="-465" baseline="29100" dirty="0">
                <a:latin typeface="Times New Roman"/>
                <a:cs typeface="Times New Roman"/>
              </a:rPr>
              <a:t> </a:t>
            </a:r>
            <a:r>
              <a:rPr sz="3000" b="1" spc="-50" dirty="0">
                <a:latin typeface="Times New Roman"/>
                <a:cs typeface="Times New Roman"/>
              </a:rPr>
              <a:t>y</a:t>
            </a:r>
            <a:endParaRPr sz="30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41440" y="2960311"/>
            <a:ext cx="121920" cy="573405"/>
            <a:chOff x="6441440" y="2960311"/>
            <a:chExt cx="121920" cy="573405"/>
          </a:xfrm>
        </p:grpSpPr>
        <p:sp>
          <p:nvSpPr>
            <p:cNvPr id="11" name="object 11"/>
            <p:cNvSpPr/>
            <p:nvPr/>
          </p:nvSpPr>
          <p:spPr>
            <a:xfrm>
              <a:off x="6502400" y="2960311"/>
              <a:ext cx="0" cy="464184"/>
            </a:xfrm>
            <a:custGeom>
              <a:avLst/>
              <a:gdLst/>
              <a:ahLst/>
              <a:cxnLst/>
              <a:rect l="l" t="t" r="r" b="b"/>
              <a:pathLst>
                <a:path h="464185">
                  <a:moveTo>
                    <a:pt x="0" y="0"/>
                  </a:moveTo>
                  <a:lnTo>
                    <a:pt x="0" y="451353"/>
                  </a:lnTo>
                  <a:lnTo>
                    <a:pt x="0" y="46405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41440" y="3411665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19" y="0"/>
                  </a:moveTo>
                  <a:lnTo>
                    <a:pt x="0" y="0"/>
                  </a:lnTo>
                  <a:lnTo>
                    <a:pt x="60960" y="121919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441440" y="4109676"/>
            <a:ext cx="121920" cy="573405"/>
            <a:chOff x="6441440" y="4109676"/>
            <a:chExt cx="121920" cy="573405"/>
          </a:xfrm>
        </p:grpSpPr>
        <p:sp>
          <p:nvSpPr>
            <p:cNvPr id="14" name="object 14"/>
            <p:cNvSpPr/>
            <p:nvPr/>
          </p:nvSpPr>
          <p:spPr>
            <a:xfrm>
              <a:off x="6502400" y="4109676"/>
              <a:ext cx="0" cy="464184"/>
            </a:xfrm>
            <a:custGeom>
              <a:avLst/>
              <a:gdLst/>
              <a:ahLst/>
              <a:cxnLst/>
              <a:rect l="l" t="t" r="r" b="b"/>
              <a:pathLst>
                <a:path h="464185">
                  <a:moveTo>
                    <a:pt x="0" y="0"/>
                  </a:moveTo>
                  <a:lnTo>
                    <a:pt x="0" y="451353"/>
                  </a:lnTo>
                  <a:lnTo>
                    <a:pt x="0" y="46405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41440" y="4561030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19" y="0"/>
                  </a:moveTo>
                  <a:lnTo>
                    <a:pt x="0" y="0"/>
                  </a:lnTo>
                  <a:lnTo>
                    <a:pt x="60960" y="121920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57023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190" dirty="0">
                <a:latin typeface="Trebuchet MS"/>
                <a:cs typeface="Trebuchet MS"/>
              </a:rPr>
              <a:t>Let’s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14" dirty="0">
                <a:latin typeface="Trebuchet MS"/>
                <a:cs typeface="Trebuchet MS"/>
              </a:rPr>
              <a:t>generate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some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linear-</a:t>
            </a:r>
            <a:r>
              <a:rPr sz="2500" dirty="0">
                <a:latin typeface="Trebuchet MS"/>
                <a:cs typeface="Trebuchet MS"/>
              </a:rPr>
              <a:t>looking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data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897128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Linear</a:t>
            </a:r>
            <a:r>
              <a:rPr spc="-229" dirty="0"/>
              <a:t> </a:t>
            </a:r>
            <a:r>
              <a:rPr spc="-220" dirty="0"/>
              <a:t>regression</a:t>
            </a:r>
            <a:r>
              <a:rPr spc="-225" dirty="0"/>
              <a:t> </a:t>
            </a:r>
            <a:r>
              <a:rPr spc="-175" dirty="0"/>
              <a:t>using</a:t>
            </a:r>
            <a:r>
              <a:rPr spc="-225" dirty="0"/>
              <a:t> </a:t>
            </a:r>
            <a:r>
              <a:rPr spc="-295" dirty="0"/>
              <a:t>the</a:t>
            </a:r>
            <a:r>
              <a:rPr spc="-229" dirty="0"/>
              <a:t> </a:t>
            </a:r>
            <a:r>
              <a:rPr spc="-90" dirty="0"/>
              <a:t>Normal</a:t>
            </a:r>
            <a:r>
              <a:rPr spc="-225" dirty="0"/>
              <a:t> </a:t>
            </a:r>
            <a:r>
              <a:rPr spc="-180" dirty="0"/>
              <a:t>equation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175" y="1817669"/>
            <a:ext cx="6199358" cy="733639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15087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60" dirty="0">
                <a:latin typeface="Trebuchet MS"/>
                <a:cs typeface="Trebuchet MS"/>
              </a:rPr>
              <a:t>Training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0" y="4243407"/>
            <a:ext cx="34296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190" dirty="0">
                <a:latin typeface="Trebuchet MS"/>
                <a:cs typeface="Trebuchet MS"/>
              </a:rPr>
              <a:t>Let’s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make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predictions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897128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Linear</a:t>
            </a:r>
            <a:r>
              <a:rPr spc="-229" dirty="0"/>
              <a:t> </a:t>
            </a:r>
            <a:r>
              <a:rPr spc="-220" dirty="0"/>
              <a:t>regression</a:t>
            </a:r>
            <a:r>
              <a:rPr spc="-225" dirty="0"/>
              <a:t> </a:t>
            </a:r>
            <a:r>
              <a:rPr spc="-175" dirty="0"/>
              <a:t>using</a:t>
            </a:r>
            <a:r>
              <a:rPr spc="-225" dirty="0"/>
              <a:t> </a:t>
            </a:r>
            <a:r>
              <a:rPr spc="-295" dirty="0"/>
              <a:t>the</a:t>
            </a:r>
            <a:r>
              <a:rPr spc="-229" dirty="0"/>
              <a:t> </a:t>
            </a:r>
            <a:r>
              <a:rPr spc="-90" dirty="0"/>
              <a:t>Normal</a:t>
            </a:r>
            <a:r>
              <a:rPr spc="-225" dirty="0"/>
              <a:t> </a:t>
            </a:r>
            <a:r>
              <a:rPr spc="-180" dirty="0"/>
              <a:t>equation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282" y="1807162"/>
            <a:ext cx="8185457" cy="211841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825487" y="4893339"/>
            <a:ext cx="11658600" cy="4530090"/>
            <a:chOff x="825487" y="4893339"/>
            <a:chExt cx="11658600" cy="453009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5487" y="4893339"/>
              <a:ext cx="9050897" cy="225530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9221" y="5605083"/>
              <a:ext cx="5514779" cy="381792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4992054"/>
            <a:ext cx="68738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130" dirty="0">
                <a:latin typeface="Trebuchet MS"/>
                <a:cs typeface="Trebuchet MS"/>
              </a:rPr>
              <a:t>How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does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LinearRegression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from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sklearn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work?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713422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Linear</a:t>
            </a:r>
            <a:r>
              <a:rPr spc="-204" dirty="0"/>
              <a:t> </a:t>
            </a:r>
            <a:r>
              <a:rPr spc="-220" dirty="0"/>
              <a:t>regression</a:t>
            </a:r>
            <a:r>
              <a:rPr spc="-204" dirty="0"/>
              <a:t> </a:t>
            </a:r>
            <a:r>
              <a:rPr spc="-175" dirty="0"/>
              <a:t>using</a:t>
            </a:r>
            <a:r>
              <a:rPr spc="-204" dirty="0"/>
              <a:t> </a:t>
            </a:r>
            <a:r>
              <a:rPr spc="-215" dirty="0"/>
              <a:t>Scikit-</a:t>
            </a:r>
            <a:r>
              <a:rPr spc="-190" dirty="0"/>
              <a:t>Learn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311" y="1579954"/>
            <a:ext cx="7097977" cy="21889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37566" y="7224745"/>
            <a:ext cx="5282381" cy="110823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9833" y="5653711"/>
            <a:ext cx="8033599" cy="134881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23900" y="1365686"/>
            <a:ext cx="11339195" cy="28124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06400" indent="-381000">
              <a:lnSpc>
                <a:spcPct val="100000"/>
              </a:lnSpc>
              <a:spcBef>
                <a:spcPts val="90"/>
              </a:spcBef>
              <a:buSzPct val="122000"/>
              <a:buChar char="•"/>
              <a:tabLst>
                <a:tab pos="406400" algn="l"/>
              </a:tabLst>
            </a:pPr>
            <a:r>
              <a:rPr sz="2500" spc="75" dirty="0">
                <a:latin typeface="Trebuchet MS"/>
                <a:cs typeface="Trebuchet MS"/>
              </a:rPr>
              <a:t>When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have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d</a:t>
            </a:r>
            <a:r>
              <a:rPr sz="2800" i="1" spc="-25" dirty="0">
                <a:latin typeface="Times New Roman"/>
                <a:cs typeface="Times New Roman"/>
              </a:rPr>
              <a:t> </a:t>
            </a:r>
            <a:r>
              <a:rPr sz="2500" spc="-145" dirty="0">
                <a:latin typeface="Trebuchet MS"/>
                <a:cs typeface="Trebuchet MS"/>
              </a:rPr>
              <a:t>features,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should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compute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inverse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d</a:t>
            </a:r>
            <a:r>
              <a:rPr sz="2800" i="1" spc="-50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Cambria"/>
                <a:cs typeface="Cambria"/>
              </a:rPr>
              <a:t>×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d</a:t>
            </a:r>
            <a:r>
              <a:rPr sz="2800" i="1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matrix</a:t>
            </a:r>
            <a:endParaRPr sz="2500">
              <a:latin typeface="Trebuchet MS"/>
              <a:cs typeface="Trebuchet MS"/>
            </a:endParaRPr>
          </a:p>
          <a:p>
            <a:pPr marL="787400" lvl="1" indent="-381000">
              <a:lnSpc>
                <a:spcPct val="100000"/>
              </a:lnSpc>
              <a:spcBef>
                <a:spcPts val="2885"/>
              </a:spcBef>
              <a:buSzPct val="122000"/>
              <a:buChar char="•"/>
              <a:tabLst>
                <a:tab pos="787400" algn="l"/>
              </a:tabLst>
            </a:pPr>
            <a:r>
              <a:rPr sz="2500" spc="50" dirty="0">
                <a:latin typeface="Trebuchet MS"/>
                <a:cs typeface="Trebuchet MS"/>
              </a:rPr>
              <a:t>Double</a:t>
            </a:r>
            <a:r>
              <a:rPr sz="2500" spc="-19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number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45" dirty="0">
                <a:latin typeface="Trebuchet MS"/>
                <a:cs typeface="Trebuchet MS"/>
              </a:rPr>
              <a:t>features,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you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multiply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computation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20" dirty="0">
                <a:latin typeface="Trebuchet MS"/>
                <a:cs typeface="Trebuchet MS"/>
              </a:rPr>
              <a:t>time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by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800" dirty="0">
                <a:latin typeface="Cambria"/>
                <a:cs typeface="Cambria"/>
              </a:rPr>
              <a:t>2</a:t>
            </a:r>
            <a:r>
              <a:rPr sz="2925" baseline="29914" dirty="0">
                <a:latin typeface="Cambria"/>
                <a:cs typeface="Cambria"/>
              </a:rPr>
              <a:t>3</a:t>
            </a:r>
            <a:r>
              <a:rPr sz="2925" spc="465" baseline="29914" dirty="0">
                <a:latin typeface="Cambria"/>
                <a:cs typeface="Cambria"/>
              </a:rPr>
              <a:t> </a:t>
            </a:r>
            <a:r>
              <a:rPr sz="2800" spc="355" dirty="0">
                <a:latin typeface="Cambria"/>
                <a:cs typeface="Cambria"/>
              </a:rPr>
              <a:t>=</a:t>
            </a:r>
            <a:r>
              <a:rPr sz="2800" spc="120" dirty="0">
                <a:latin typeface="Cambria"/>
                <a:cs typeface="Cambria"/>
              </a:rPr>
              <a:t> </a:t>
            </a:r>
            <a:r>
              <a:rPr sz="2800" spc="-50" dirty="0">
                <a:latin typeface="Cambria"/>
                <a:cs typeface="Cambria"/>
              </a:rPr>
              <a:t>8</a:t>
            </a:r>
            <a:endParaRPr sz="28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254"/>
              </a:spcBef>
              <a:buFont typeface="Trebuchet MS"/>
              <a:buChar char="•"/>
            </a:pPr>
            <a:endParaRPr sz="2500">
              <a:latin typeface="Cambria"/>
              <a:cs typeface="Cambria"/>
            </a:endParaRPr>
          </a:p>
          <a:p>
            <a:pPr marL="406400" indent="-381000">
              <a:lnSpc>
                <a:spcPct val="100000"/>
              </a:lnSpc>
              <a:buSzPct val="122000"/>
              <a:buChar char="•"/>
              <a:tabLst>
                <a:tab pos="406400" algn="l"/>
                <a:tab pos="4565650" algn="l"/>
              </a:tabLst>
            </a:pPr>
            <a:r>
              <a:rPr sz="2500" spc="-65" dirty="0">
                <a:latin typeface="Trebuchet MS"/>
                <a:cs typeface="Trebuchet MS"/>
              </a:rPr>
              <a:t>Too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many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instances</a:t>
            </a:r>
            <a:r>
              <a:rPr sz="2500" dirty="0">
                <a:latin typeface="Trebuchet MS"/>
                <a:cs typeface="Trebuchet MS"/>
              </a:rPr>
              <a:t>	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195" dirty="0">
                <a:latin typeface="Trebuchet MS"/>
                <a:cs typeface="Trebuchet MS"/>
              </a:rPr>
              <a:t>fit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in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memory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406400" indent="-381000">
              <a:lnSpc>
                <a:spcPct val="100000"/>
              </a:lnSpc>
              <a:buSzPct val="122000"/>
              <a:buChar char="•"/>
              <a:tabLst>
                <a:tab pos="406400" algn="l"/>
              </a:tabLst>
            </a:pPr>
            <a:r>
              <a:rPr sz="2500" spc="-70" dirty="0">
                <a:latin typeface="Trebuchet MS"/>
                <a:cs typeface="Trebuchet MS"/>
              </a:rPr>
              <a:t>Thus,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we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look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90" dirty="0">
                <a:latin typeface="Trebuchet MS"/>
                <a:cs typeface="Trebuchet MS"/>
              </a:rPr>
              <a:t>at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different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way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train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linear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regression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Computational</a:t>
            </a:r>
            <a:r>
              <a:rPr spc="-165" dirty="0"/>
              <a:t> </a:t>
            </a:r>
            <a:r>
              <a:rPr spc="-195" dirty="0"/>
              <a:t>complexity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9605" y="4532945"/>
            <a:ext cx="8051797" cy="444605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9222"/>
            <a:ext cx="11343005" cy="233108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393700" marR="5080" indent="-381000">
              <a:lnSpc>
                <a:spcPts val="2790"/>
              </a:lnSpc>
              <a:spcBef>
                <a:spcPts val="365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45" dirty="0">
                <a:latin typeface="Trebuchet MS"/>
                <a:cs typeface="Trebuchet MS"/>
              </a:rPr>
              <a:t>Gradient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Descent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generic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optimization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algorithm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capable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finding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optimal </a:t>
            </a:r>
            <a:r>
              <a:rPr sz="2500" spc="-25" dirty="0">
                <a:latin typeface="Trebuchet MS"/>
                <a:cs typeface="Trebuchet MS"/>
              </a:rPr>
              <a:t>solutions</a:t>
            </a:r>
            <a:r>
              <a:rPr sz="2500" spc="-15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wide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range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problems</a:t>
            </a:r>
            <a:endParaRPr sz="2500">
              <a:latin typeface="Trebuchet MS"/>
              <a:cs typeface="Trebuchet MS"/>
            </a:endParaRPr>
          </a:p>
          <a:p>
            <a:pPr marL="393700" indent="-381000">
              <a:lnSpc>
                <a:spcPct val="100000"/>
              </a:lnSpc>
              <a:spcBef>
                <a:spcPts val="2845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160" dirty="0">
                <a:latin typeface="Trebuchet MS"/>
                <a:cs typeface="Trebuchet MS"/>
              </a:rPr>
              <a:t>Start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by</a:t>
            </a:r>
            <a:r>
              <a:rPr sz="2500" spc="-18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filling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800" b="1" i="1" spc="-180" dirty="0">
                <a:latin typeface="Arial"/>
                <a:cs typeface="Arial"/>
              </a:rPr>
              <a:t>θ</a:t>
            </a:r>
            <a:r>
              <a:rPr sz="2800" b="1" i="1" spc="-85" dirty="0">
                <a:latin typeface="Arial"/>
                <a:cs typeface="Arial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with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random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values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spc="-130" dirty="0">
                <a:latin typeface="Trebuchet MS"/>
                <a:cs typeface="Trebuchet MS"/>
              </a:rPr>
              <a:t>Take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steps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decrease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cost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function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until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convergence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Gradient</a:t>
            </a:r>
            <a:r>
              <a:rPr spc="-220" dirty="0"/>
              <a:t> </a:t>
            </a:r>
            <a:r>
              <a:rPr spc="-270" dirty="0"/>
              <a:t>descent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3877" y="4018177"/>
            <a:ext cx="8201925" cy="47188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96748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120" dirty="0">
                <a:latin typeface="Trebuchet MS"/>
                <a:cs typeface="Trebuchet MS"/>
              </a:rPr>
              <a:t>If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learning</a:t>
            </a:r>
            <a:r>
              <a:rPr sz="2500" spc="-150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rate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4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too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small: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many</a:t>
            </a:r>
            <a:r>
              <a:rPr sz="2500" spc="-90" dirty="0">
                <a:latin typeface="Trebuchet MS"/>
                <a:cs typeface="Trebuchet MS"/>
              </a:rPr>
              <a:t> iterations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30" dirty="0">
                <a:latin typeface="Trebuchet MS"/>
                <a:cs typeface="Trebuchet MS"/>
              </a:rPr>
              <a:t>take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long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time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0" y="5004931"/>
            <a:ext cx="825627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120" dirty="0">
                <a:latin typeface="Trebuchet MS"/>
                <a:cs typeface="Trebuchet MS"/>
              </a:rPr>
              <a:t>If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learning</a:t>
            </a:r>
            <a:r>
              <a:rPr sz="2500" spc="-150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rate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too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large: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fail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find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good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solution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Hyperparameter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7980" y="1600466"/>
            <a:ext cx="6488840" cy="346071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5971" y="5560223"/>
            <a:ext cx="6388636" cy="344301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Challenges</a:t>
            </a:r>
            <a:r>
              <a:rPr spc="-235" dirty="0"/>
              <a:t> </a:t>
            </a:r>
            <a:r>
              <a:rPr spc="-170" dirty="0"/>
              <a:t>of</a:t>
            </a:r>
            <a:r>
              <a:rPr spc="-229" dirty="0"/>
              <a:t> </a:t>
            </a:r>
            <a:r>
              <a:rPr spc="-175" dirty="0"/>
              <a:t>using</a:t>
            </a:r>
            <a:r>
              <a:rPr spc="-229" dirty="0"/>
              <a:t> </a:t>
            </a:r>
            <a:r>
              <a:rPr spc="-225" dirty="0"/>
              <a:t>gradient</a:t>
            </a:r>
            <a:r>
              <a:rPr spc="-229" dirty="0"/>
              <a:t> </a:t>
            </a:r>
            <a:r>
              <a:rPr spc="-270" dirty="0"/>
              <a:t>descent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2769" y="2216478"/>
            <a:ext cx="8240924" cy="471624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Gradient</a:t>
            </a:r>
            <a:r>
              <a:rPr spc="-225" dirty="0"/>
              <a:t> </a:t>
            </a:r>
            <a:r>
              <a:rPr spc="-250" dirty="0"/>
              <a:t>descent</a:t>
            </a:r>
            <a:r>
              <a:rPr spc="-220" dirty="0"/>
              <a:t> </a:t>
            </a:r>
            <a:r>
              <a:rPr spc="-215" dirty="0"/>
              <a:t>implementation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42027" y="1760064"/>
            <a:ext cx="25406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i="1" dirty="0">
                <a:latin typeface="Arial"/>
                <a:cs typeface="Arial"/>
              </a:rPr>
              <a:t>θ</a:t>
            </a:r>
            <a:r>
              <a:rPr sz="3000" b="1" i="1" spc="-95" dirty="0">
                <a:latin typeface="Arial"/>
                <a:cs typeface="Arial"/>
              </a:rPr>
              <a:t> </a:t>
            </a:r>
            <a:r>
              <a:rPr sz="3000" spc="250" dirty="0">
                <a:latin typeface="Cambria"/>
                <a:cs typeface="Cambria"/>
              </a:rPr>
              <a:t>←</a:t>
            </a:r>
            <a:r>
              <a:rPr sz="3000" spc="125" dirty="0">
                <a:latin typeface="Cambria"/>
                <a:cs typeface="Cambria"/>
              </a:rPr>
              <a:t> </a:t>
            </a:r>
            <a:r>
              <a:rPr sz="3000" b="1" i="1" spc="-190" dirty="0">
                <a:latin typeface="Arial"/>
                <a:cs typeface="Arial"/>
              </a:rPr>
              <a:t>θ</a:t>
            </a:r>
            <a:r>
              <a:rPr sz="3000" b="1" i="1" spc="-170" dirty="0">
                <a:latin typeface="Arial"/>
                <a:cs typeface="Arial"/>
              </a:rPr>
              <a:t> </a:t>
            </a:r>
            <a:r>
              <a:rPr sz="3000" spc="380" dirty="0">
                <a:latin typeface="Cambria"/>
                <a:cs typeface="Cambria"/>
              </a:rPr>
              <a:t>−</a:t>
            </a:r>
            <a:r>
              <a:rPr sz="3000" spc="-25" dirty="0">
                <a:latin typeface="Cambria"/>
                <a:cs typeface="Cambria"/>
              </a:rPr>
              <a:t> </a:t>
            </a:r>
            <a:r>
              <a:rPr sz="3000" i="1" spc="-80" dirty="0">
                <a:latin typeface="Times New Roman"/>
                <a:cs typeface="Times New Roman"/>
              </a:rPr>
              <a:t>η</a:t>
            </a:r>
            <a:r>
              <a:rPr sz="3000" i="1" spc="-4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Cambria"/>
                <a:cs typeface="Cambria"/>
              </a:rPr>
              <a:t>∇</a:t>
            </a:r>
            <a:r>
              <a:rPr sz="3000" i="1" spc="-10" dirty="0">
                <a:latin typeface="Times New Roman"/>
                <a:cs typeface="Times New Roman"/>
              </a:rPr>
              <a:t>J</a:t>
            </a:r>
            <a:r>
              <a:rPr sz="3000" spc="-10" dirty="0">
                <a:latin typeface="Cambria"/>
                <a:cs typeface="Cambria"/>
              </a:rPr>
              <a:t>(</a:t>
            </a:r>
            <a:r>
              <a:rPr sz="3000" b="1" i="1" spc="-10" dirty="0">
                <a:latin typeface="Arial"/>
                <a:cs typeface="Arial"/>
              </a:rPr>
              <a:t>θ</a:t>
            </a:r>
            <a:r>
              <a:rPr sz="3000" spc="-10" dirty="0">
                <a:latin typeface="Cambria"/>
                <a:cs typeface="Cambria"/>
              </a:rPr>
              <a:t>)</a:t>
            </a:r>
            <a:endParaRPr sz="30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5234" y="2954092"/>
            <a:ext cx="7634331" cy="389735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697763" y="7499994"/>
            <a:ext cx="560959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35" dirty="0">
                <a:latin typeface="Trebuchet MS"/>
                <a:cs typeface="Trebuchet MS"/>
              </a:rPr>
              <a:t>This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known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as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Batch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Gradient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Descent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11108055" cy="229933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93700" marR="5080" indent="-381000">
              <a:lnSpc>
                <a:spcPts val="2800"/>
              </a:lnSpc>
              <a:spcBef>
                <a:spcPts val="36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60" dirty="0">
                <a:latin typeface="Trebuchet MS"/>
                <a:cs typeface="Trebuchet MS"/>
              </a:rPr>
              <a:t>Stochastic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gradient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descent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picks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random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instance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in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60" dirty="0">
                <a:latin typeface="Trebuchet MS"/>
                <a:cs typeface="Trebuchet MS"/>
              </a:rPr>
              <a:t>set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90" dirty="0">
                <a:latin typeface="Trebuchet MS"/>
                <a:cs typeface="Trebuchet MS"/>
              </a:rPr>
              <a:t>at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every </a:t>
            </a:r>
            <a:r>
              <a:rPr sz="2500" spc="-125" dirty="0">
                <a:latin typeface="Trebuchet MS"/>
                <a:cs typeface="Trebuchet MS"/>
              </a:rPr>
              <a:t>step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computes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gradient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based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on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that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single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instance.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spcBef>
                <a:spcPts val="5"/>
              </a:spcBef>
              <a:buSzPct val="122000"/>
              <a:buChar char="•"/>
              <a:tabLst>
                <a:tab pos="774700" algn="l"/>
              </a:tabLst>
            </a:pPr>
            <a:r>
              <a:rPr sz="2500" spc="-20" dirty="0">
                <a:latin typeface="Trebuchet MS"/>
                <a:cs typeface="Trebuchet MS"/>
              </a:rPr>
              <a:t>Each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25" dirty="0">
                <a:latin typeface="Trebuchet MS"/>
                <a:cs typeface="Trebuchet MS"/>
              </a:rPr>
              <a:t>step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much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60" dirty="0">
                <a:latin typeface="Trebuchet MS"/>
                <a:cs typeface="Trebuchet MS"/>
              </a:rPr>
              <a:t>faster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but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also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much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more</a:t>
            </a:r>
            <a:r>
              <a:rPr sz="2500" spc="-75" dirty="0">
                <a:latin typeface="Trebuchet MS"/>
                <a:cs typeface="Trebuchet MS"/>
              </a:rPr>
              <a:t> stochastic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(wiggly)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10" dirty="0">
                <a:latin typeface="Trebuchet MS"/>
                <a:cs typeface="Trebuchet MS"/>
              </a:rPr>
              <a:t>Randomness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can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be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good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escape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from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local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minima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Stochastic</a:t>
            </a:r>
            <a:r>
              <a:rPr spc="-225" dirty="0"/>
              <a:t> gradient </a:t>
            </a:r>
            <a:r>
              <a:rPr spc="-250" dirty="0"/>
              <a:t>descent</a:t>
            </a:r>
            <a:r>
              <a:rPr spc="-220" dirty="0"/>
              <a:t> </a:t>
            </a:r>
            <a:r>
              <a:rPr spc="-10" dirty="0"/>
              <a:t>(SGD)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6410" y="4122597"/>
            <a:ext cx="4575602" cy="34299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932942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0" dirty="0"/>
              <a:t>Implementation </a:t>
            </a:r>
            <a:r>
              <a:rPr spc="-170" dirty="0"/>
              <a:t>of</a:t>
            </a:r>
            <a:r>
              <a:rPr spc="-220" dirty="0"/>
              <a:t> </a:t>
            </a:r>
            <a:r>
              <a:rPr spc="-215" dirty="0"/>
              <a:t>stochastic</a:t>
            </a:r>
            <a:r>
              <a:rPr spc="-220" dirty="0"/>
              <a:t> </a:t>
            </a:r>
            <a:r>
              <a:rPr spc="-225" dirty="0"/>
              <a:t>gradient</a:t>
            </a:r>
            <a:r>
              <a:rPr spc="-220" dirty="0"/>
              <a:t> </a:t>
            </a:r>
            <a:r>
              <a:rPr spc="-270" dirty="0"/>
              <a:t>descent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47166" y="1102813"/>
            <a:ext cx="12094210" cy="8376284"/>
            <a:chOff x="747166" y="1102813"/>
            <a:chExt cx="12094210" cy="837628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7166" y="1102813"/>
              <a:ext cx="6826041" cy="837606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78540" y="4602807"/>
              <a:ext cx="5362282" cy="37123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31165" y="8316207"/>
              <a:ext cx="2857032" cy="108266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Linear</a:t>
            </a:r>
            <a:r>
              <a:rPr spc="-225" dirty="0"/>
              <a:t> </a:t>
            </a:r>
            <a:r>
              <a:rPr spc="-220" dirty="0"/>
              <a:t>regression </a:t>
            </a:r>
            <a:r>
              <a:rPr spc="-175" dirty="0"/>
              <a:t>using</a:t>
            </a:r>
            <a:r>
              <a:rPr spc="-225" dirty="0"/>
              <a:t> </a:t>
            </a:r>
            <a:r>
              <a:rPr spc="170" dirty="0"/>
              <a:t>SGD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714" y="1775432"/>
            <a:ext cx="11473370" cy="430635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1105090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20" dirty="0">
                <a:latin typeface="Trebuchet MS"/>
                <a:cs typeface="Trebuchet MS"/>
              </a:rPr>
              <a:t>Computes</a:t>
            </a:r>
            <a:r>
              <a:rPr sz="2500" spc="-16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gradients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on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small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random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sets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instances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called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mini-</a:t>
            </a:r>
            <a:r>
              <a:rPr sz="2500" spc="-10" dirty="0">
                <a:latin typeface="Trebuchet MS"/>
                <a:cs typeface="Trebuchet MS"/>
              </a:rPr>
              <a:t>batches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Mini-</a:t>
            </a:r>
            <a:r>
              <a:rPr spc="-155" dirty="0"/>
              <a:t>batch</a:t>
            </a:r>
            <a:r>
              <a:rPr spc="-225" dirty="0"/>
              <a:t> gradient </a:t>
            </a:r>
            <a:r>
              <a:rPr spc="-270" dirty="0"/>
              <a:t>descent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26810" y="1932327"/>
            <a:ext cx="12012295" cy="6808470"/>
            <a:chOff x="826810" y="1932327"/>
            <a:chExt cx="12012295" cy="68084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6810" y="1932327"/>
              <a:ext cx="9284872" cy="680784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63973" y="5585927"/>
              <a:ext cx="4174947" cy="83792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994283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Comparison</a:t>
            </a:r>
            <a:r>
              <a:rPr spc="-215" dirty="0"/>
              <a:t> </a:t>
            </a:r>
            <a:r>
              <a:rPr spc="-170" dirty="0"/>
              <a:t>of</a:t>
            </a:r>
            <a:r>
              <a:rPr spc="-215" dirty="0"/>
              <a:t> </a:t>
            </a:r>
            <a:r>
              <a:rPr spc="-229" dirty="0"/>
              <a:t>linear</a:t>
            </a:r>
            <a:r>
              <a:rPr spc="-215" dirty="0"/>
              <a:t> </a:t>
            </a:r>
            <a:r>
              <a:rPr spc="-220" dirty="0"/>
              <a:t>regression</a:t>
            </a:r>
            <a:r>
              <a:rPr spc="-215" dirty="0"/>
              <a:t> </a:t>
            </a:r>
            <a:r>
              <a:rPr spc="-200" dirty="0"/>
              <a:t>implementations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846" y="2247918"/>
            <a:ext cx="11464251" cy="275246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67522" y="5782482"/>
            <a:ext cx="946975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85" dirty="0">
                <a:latin typeface="Trebuchet MS"/>
                <a:cs typeface="Trebuchet MS"/>
              </a:rPr>
              <a:t>Textbook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notation: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m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(number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samples)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n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(number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features)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73100" y="1197313"/>
            <a:ext cx="8945880" cy="73380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457200" algn="l"/>
              </a:tabLst>
            </a:pPr>
            <a:r>
              <a:rPr sz="2500" spc="190" dirty="0">
                <a:latin typeface="Trebuchet MS"/>
                <a:cs typeface="Trebuchet MS"/>
              </a:rPr>
              <a:t>A</a:t>
            </a:r>
            <a:r>
              <a:rPr sz="2500" spc="-1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polynomial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degree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65" dirty="0">
                <a:latin typeface="Trebuchet MS"/>
                <a:cs typeface="Trebuchet MS"/>
              </a:rPr>
              <a:t>1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gives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us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linear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regression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6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2103755" algn="ctr">
              <a:lnSpc>
                <a:spcPct val="100000"/>
              </a:lnSpc>
            </a:pPr>
            <a:r>
              <a:rPr sz="3600" i="1" spc="-10" dirty="0">
                <a:latin typeface="Times New Roman"/>
                <a:cs typeface="Times New Roman"/>
              </a:rPr>
              <a:t>h</a:t>
            </a:r>
            <a:r>
              <a:rPr sz="3600" spc="-10" dirty="0">
                <a:latin typeface="Cambria"/>
                <a:cs typeface="Cambria"/>
              </a:rPr>
              <a:t>(</a:t>
            </a:r>
            <a:r>
              <a:rPr sz="3600" i="1" spc="-10" dirty="0">
                <a:latin typeface="Times New Roman"/>
                <a:cs typeface="Times New Roman"/>
              </a:rPr>
              <a:t>x</a:t>
            </a:r>
            <a:r>
              <a:rPr sz="3600" spc="-10" dirty="0">
                <a:latin typeface="Cambria"/>
                <a:cs typeface="Cambria"/>
              </a:rPr>
              <a:t>)</a:t>
            </a:r>
            <a:r>
              <a:rPr sz="3600" spc="35" dirty="0">
                <a:latin typeface="Cambria"/>
                <a:cs typeface="Cambria"/>
              </a:rPr>
              <a:t> </a:t>
            </a:r>
            <a:r>
              <a:rPr sz="3600" spc="475" dirty="0">
                <a:latin typeface="Cambria"/>
                <a:cs typeface="Cambria"/>
              </a:rPr>
              <a:t>=</a:t>
            </a:r>
            <a:r>
              <a:rPr sz="3600" spc="40" dirty="0">
                <a:latin typeface="Cambria"/>
                <a:cs typeface="Cambria"/>
              </a:rPr>
              <a:t> </a:t>
            </a:r>
            <a:r>
              <a:rPr sz="3600" i="1" spc="-20" dirty="0">
                <a:latin typeface="Times New Roman"/>
                <a:cs typeface="Times New Roman"/>
              </a:rPr>
              <a:t>θ</a:t>
            </a:r>
            <a:r>
              <a:rPr sz="3825" spc="-30" baseline="-19607" dirty="0">
                <a:latin typeface="Cambria"/>
                <a:cs typeface="Cambria"/>
              </a:rPr>
              <a:t>0</a:t>
            </a:r>
            <a:r>
              <a:rPr sz="3825" spc="157" baseline="-19607" dirty="0">
                <a:latin typeface="Cambria"/>
                <a:cs typeface="Cambria"/>
              </a:rPr>
              <a:t> </a:t>
            </a:r>
            <a:r>
              <a:rPr sz="3600" spc="475" dirty="0">
                <a:latin typeface="Cambria"/>
                <a:cs typeface="Cambria"/>
              </a:rPr>
              <a:t>+</a:t>
            </a:r>
            <a:r>
              <a:rPr sz="3600" spc="-130" dirty="0">
                <a:latin typeface="Cambria"/>
                <a:cs typeface="Cambria"/>
              </a:rPr>
              <a:t> </a:t>
            </a:r>
            <a:r>
              <a:rPr sz="3600" i="1" spc="-25" dirty="0">
                <a:latin typeface="Times New Roman"/>
                <a:cs typeface="Times New Roman"/>
              </a:rPr>
              <a:t>θ</a:t>
            </a:r>
            <a:r>
              <a:rPr sz="3825" spc="-37" baseline="-19607" dirty="0">
                <a:latin typeface="Cambria"/>
                <a:cs typeface="Cambria"/>
              </a:rPr>
              <a:t>1</a:t>
            </a:r>
            <a:r>
              <a:rPr sz="3600" i="1" spc="-25" dirty="0">
                <a:latin typeface="Times New Roman"/>
                <a:cs typeface="Times New Roman"/>
              </a:rPr>
              <a:t>x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sz="3600">
              <a:latin typeface="Times New Roman"/>
              <a:cs typeface="Times New Roman"/>
            </a:endParaRPr>
          </a:p>
          <a:p>
            <a:pPr marL="457200" indent="-381000">
              <a:lnSpc>
                <a:spcPct val="100000"/>
              </a:lnSpc>
              <a:spcBef>
                <a:spcPts val="5"/>
              </a:spcBef>
              <a:buSzPct val="122000"/>
              <a:buChar char="•"/>
              <a:tabLst>
                <a:tab pos="457200" algn="l"/>
              </a:tabLst>
            </a:pPr>
            <a:r>
              <a:rPr sz="2500" spc="-145" dirty="0">
                <a:latin typeface="Trebuchet MS"/>
                <a:cs typeface="Trebuchet MS"/>
              </a:rPr>
              <a:t>Let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us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introduce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x</a:t>
            </a:r>
            <a:r>
              <a:rPr sz="2925" baseline="29914" dirty="0">
                <a:latin typeface="Cambria"/>
                <a:cs typeface="Cambria"/>
              </a:rPr>
              <a:t>2</a:t>
            </a:r>
            <a:r>
              <a:rPr sz="2925" spc="359" baseline="29914" dirty="0">
                <a:latin typeface="Cambria"/>
                <a:cs typeface="Cambria"/>
              </a:rPr>
              <a:t> </a:t>
            </a:r>
            <a:r>
              <a:rPr sz="2500" dirty="0">
                <a:latin typeface="Trebuchet MS"/>
                <a:cs typeface="Trebuchet MS"/>
              </a:rPr>
              <a:t>as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another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feature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44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2113280" algn="ctr">
              <a:lnSpc>
                <a:spcPct val="100000"/>
              </a:lnSpc>
            </a:pPr>
            <a:r>
              <a:rPr sz="3600" i="1" spc="-10" dirty="0">
                <a:latin typeface="Times New Roman"/>
                <a:cs typeface="Times New Roman"/>
              </a:rPr>
              <a:t>h</a:t>
            </a:r>
            <a:r>
              <a:rPr sz="3600" spc="-10" dirty="0">
                <a:latin typeface="Cambria"/>
                <a:cs typeface="Cambria"/>
              </a:rPr>
              <a:t>(</a:t>
            </a:r>
            <a:r>
              <a:rPr sz="3600" i="1" spc="-10" dirty="0">
                <a:latin typeface="Times New Roman"/>
                <a:cs typeface="Times New Roman"/>
              </a:rPr>
              <a:t>x</a:t>
            </a:r>
            <a:r>
              <a:rPr sz="3600" spc="-10" dirty="0">
                <a:latin typeface="Cambria"/>
                <a:cs typeface="Cambria"/>
              </a:rPr>
              <a:t>)</a:t>
            </a:r>
            <a:r>
              <a:rPr sz="3600" spc="15" dirty="0">
                <a:latin typeface="Cambria"/>
                <a:cs typeface="Cambria"/>
              </a:rPr>
              <a:t> </a:t>
            </a:r>
            <a:r>
              <a:rPr sz="3600" spc="475" dirty="0">
                <a:latin typeface="Cambria"/>
                <a:cs typeface="Cambria"/>
              </a:rPr>
              <a:t>=</a:t>
            </a:r>
            <a:r>
              <a:rPr sz="3600" spc="90" dirty="0">
                <a:latin typeface="Cambria"/>
                <a:cs typeface="Cambria"/>
              </a:rPr>
              <a:t> </a:t>
            </a:r>
            <a:r>
              <a:rPr sz="3600" i="1" spc="-20" dirty="0">
                <a:latin typeface="Times New Roman"/>
                <a:cs typeface="Times New Roman"/>
              </a:rPr>
              <a:t>θ</a:t>
            </a:r>
            <a:r>
              <a:rPr sz="3825" spc="-30" baseline="-19607" dirty="0">
                <a:latin typeface="Cambria"/>
                <a:cs typeface="Cambria"/>
              </a:rPr>
              <a:t>0</a:t>
            </a:r>
            <a:r>
              <a:rPr sz="3825" spc="209" baseline="-19607" dirty="0">
                <a:latin typeface="Cambria"/>
                <a:cs typeface="Cambria"/>
              </a:rPr>
              <a:t> </a:t>
            </a:r>
            <a:r>
              <a:rPr sz="3600" spc="475" dirty="0">
                <a:latin typeface="Cambria"/>
                <a:cs typeface="Cambria"/>
              </a:rPr>
              <a:t>+</a:t>
            </a:r>
            <a:r>
              <a:rPr sz="3600" spc="-85" dirty="0">
                <a:latin typeface="Cambria"/>
                <a:cs typeface="Cambria"/>
              </a:rPr>
              <a:t> </a:t>
            </a:r>
            <a:r>
              <a:rPr sz="3600" i="1" spc="-105" dirty="0">
                <a:latin typeface="Times New Roman"/>
                <a:cs typeface="Times New Roman"/>
              </a:rPr>
              <a:t>θ</a:t>
            </a:r>
            <a:r>
              <a:rPr sz="3825" spc="-157" baseline="-19607" dirty="0">
                <a:latin typeface="Cambria"/>
                <a:cs typeface="Cambria"/>
              </a:rPr>
              <a:t>1</a:t>
            </a:r>
            <a:r>
              <a:rPr sz="3600" i="1" spc="-105" dirty="0">
                <a:latin typeface="Times New Roman"/>
                <a:cs typeface="Times New Roman"/>
              </a:rPr>
              <a:t>x</a:t>
            </a:r>
            <a:r>
              <a:rPr sz="3600" i="1" spc="-120" dirty="0">
                <a:latin typeface="Times New Roman"/>
                <a:cs typeface="Times New Roman"/>
              </a:rPr>
              <a:t> </a:t>
            </a:r>
            <a:r>
              <a:rPr sz="3600" spc="475" dirty="0">
                <a:latin typeface="Cambria"/>
                <a:cs typeface="Cambria"/>
              </a:rPr>
              <a:t>+</a:t>
            </a:r>
            <a:r>
              <a:rPr sz="3600" spc="-90" dirty="0">
                <a:latin typeface="Cambria"/>
                <a:cs typeface="Cambria"/>
              </a:rPr>
              <a:t> </a:t>
            </a:r>
            <a:r>
              <a:rPr sz="3600" i="1" spc="-20" dirty="0">
                <a:latin typeface="Times New Roman"/>
                <a:cs typeface="Times New Roman"/>
              </a:rPr>
              <a:t>θ</a:t>
            </a:r>
            <a:r>
              <a:rPr sz="3825" spc="-30" baseline="-19607" dirty="0">
                <a:latin typeface="Cambria"/>
                <a:cs typeface="Cambria"/>
              </a:rPr>
              <a:t>2</a:t>
            </a:r>
            <a:r>
              <a:rPr sz="3600" i="1" spc="-20" dirty="0">
                <a:latin typeface="Times New Roman"/>
                <a:cs typeface="Times New Roman"/>
              </a:rPr>
              <a:t>x</a:t>
            </a:r>
            <a:r>
              <a:rPr sz="3825" spc="-30" baseline="29411" dirty="0">
                <a:latin typeface="Cambria"/>
                <a:cs typeface="Cambria"/>
              </a:rPr>
              <a:t>2</a:t>
            </a:r>
            <a:endParaRPr sz="3825" baseline="29411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885"/>
              </a:spcBef>
            </a:pPr>
            <a:endParaRPr sz="3600">
              <a:latin typeface="Cambria"/>
              <a:cs typeface="Cambria"/>
            </a:endParaRPr>
          </a:p>
          <a:p>
            <a:pPr marL="457200" indent="-381000">
              <a:lnSpc>
                <a:spcPct val="100000"/>
              </a:lnSpc>
              <a:spcBef>
                <a:spcPts val="5"/>
              </a:spcBef>
              <a:buSzPct val="122000"/>
              <a:buChar char="•"/>
              <a:tabLst>
                <a:tab pos="457200" algn="l"/>
                <a:tab pos="4657090" algn="l"/>
              </a:tabLst>
            </a:pPr>
            <a:r>
              <a:rPr sz="2500" spc="70" dirty="0">
                <a:latin typeface="Trebuchet MS"/>
                <a:cs typeface="Trebuchet MS"/>
              </a:rPr>
              <a:t>We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can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add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more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powers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of</a:t>
            </a:r>
            <a:r>
              <a:rPr sz="2500" dirty="0">
                <a:latin typeface="Trebuchet MS"/>
                <a:cs typeface="Trebuchet MS"/>
              </a:rPr>
              <a:t>	as</a:t>
            </a:r>
            <a:r>
              <a:rPr sz="2500" spc="-1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new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features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1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177540">
              <a:lnSpc>
                <a:spcPct val="100000"/>
              </a:lnSpc>
            </a:pPr>
            <a:r>
              <a:rPr sz="3600" i="1" spc="-10" dirty="0">
                <a:latin typeface="Times New Roman"/>
                <a:cs typeface="Times New Roman"/>
              </a:rPr>
              <a:t>h</a:t>
            </a:r>
            <a:r>
              <a:rPr sz="3600" spc="-10" dirty="0">
                <a:latin typeface="Cambria"/>
                <a:cs typeface="Cambria"/>
              </a:rPr>
              <a:t>(</a:t>
            </a:r>
            <a:r>
              <a:rPr sz="3600" i="1" spc="-10" dirty="0">
                <a:latin typeface="Times New Roman"/>
                <a:cs typeface="Times New Roman"/>
              </a:rPr>
              <a:t>x</a:t>
            </a:r>
            <a:r>
              <a:rPr sz="3600" spc="-10" dirty="0">
                <a:latin typeface="Cambria"/>
                <a:cs typeface="Cambria"/>
              </a:rPr>
              <a:t>)</a:t>
            </a:r>
            <a:r>
              <a:rPr sz="3600" spc="25" dirty="0">
                <a:latin typeface="Cambria"/>
                <a:cs typeface="Cambria"/>
              </a:rPr>
              <a:t> </a:t>
            </a:r>
            <a:r>
              <a:rPr sz="3600" spc="475" dirty="0">
                <a:latin typeface="Cambria"/>
                <a:cs typeface="Cambria"/>
              </a:rPr>
              <a:t>=</a:t>
            </a:r>
            <a:r>
              <a:rPr sz="3600" spc="95" dirty="0">
                <a:latin typeface="Cambria"/>
                <a:cs typeface="Cambria"/>
              </a:rPr>
              <a:t> </a:t>
            </a:r>
            <a:r>
              <a:rPr sz="3600" i="1" spc="-20" dirty="0">
                <a:latin typeface="Times New Roman"/>
                <a:cs typeface="Times New Roman"/>
              </a:rPr>
              <a:t>θ</a:t>
            </a:r>
            <a:r>
              <a:rPr sz="3825" spc="-30" baseline="-19607" dirty="0">
                <a:latin typeface="Cambria"/>
                <a:cs typeface="Cambria"/>
              </a:rPr>
              <a:t>0</a:t>
            </a:r>
            <a:r>
              <a:rPr sz="3825" spc="217" baseline="-19607" dirty="0">
                <a:latin typeface="Cambria"/>
                <a:cs typeface="Cambria"/>
              </a:rPr>
              <a:t> </a:t>
            </a:r>
            <a:r>
              <a:rPr sz="3600" spc="475" dirty="0">
                <a:latin typeface="Cambria"/>
                <a:cs typeface="Cambria"/>
              </a:rPr>
              <a:t>+</a:t>
            </a:r>
            <a:r>
              <a:rPr sz="3600" spc="-80" dirty="0">
                <a:latin typeface="Cambria"/>
                <a:cs typeface="Cambria"/>
              </a:rPr>
              <a:t> </a:t>
            </a:r>
            <a:r>
              <a:rPr sz="3600" i="1" spc="-105" dirty="0">
                <a:latin typeface="Times New Roman"/>
                <a:cs typeface="Times New Roman"/>
              </a:rPr>
              <a:t>θ</a:t>
            </a:r>
            <a:r>
              <a:rPr sz="3825" spc="-157" baseline="-19607" dirty="0">
                <a:latin typeface="Cambria"/>
                <a:cs typeface="Cambria"/>
              </a:rPr>
              <a:t>1</a:t>
            </a:r>
            <a:r>
              <a:rPr sz="3600" i="1" spc="-105" dirty="0">
                <a:latin typeface="Times New Roman"/>
                <a:cs typeface="Times New Roman"/>
              </a:rPr>
              <a:t>x</a:t>
            </a:r>
            <a:r>
              <a:rPr sz="3600" i="1" spc="-120" dirty="0">
                <a:latin typeface="Times New Roman"/>
                <a:cs typeface="Times New Roman"/>
              </a:rPr>
              <a:t> </a:t>
            </a:r>
            <a:r>
              <a:rPr sz="3600" spc="475" dirty="0">
                <a:latin typeface="Cambria"/>
                <a:cs typeface="Cambria"/>
              </a:rPr>
              <a:t>+</a:t>
            </a:r>
            <a:r>
              <a:rPr sz="3600" spc="-85" dirty="0">
                <a:latin typeface="Cambria"/>
                <a:cs typeface="Cambria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θ</a:t>
            </a:r>
            <a:r>
              <a:rPr sz="3825" baseline="-19607" dirty="0">
                <a:latin typeface="Cambria"/>
                <a:cs typeface="Cambria"/>
              </a:rPr>
              <a:t>2</a:t>
            </a:r>
            <a:r>
              <a:rPr sz="3600" i="1" dirty="0">
                <a:latin typeface="Times New Roman"/>
                <a:cs typeface="Times New Roman"/>
              </a:rPr>
              <a:t>x</a:t>
            </a:r>
            <a:r>
              <a:rPr sz="3825" baseline="29411" dirty="0">
                <a:latin typeface="Cambria"/>
                <a:cs typeface="Cambria"/>
              </a:rPr>
              <a:t>2</a:t>
            </a:r>
            <a:r>
              <a:rPr sz="3825" spc="217" baseline="29411" dirty="0">
                <a:latin typeface="Cambria"/>
                <a:cs typeface="Cambria"/>
              </a:rPr>
              <a:t> </a:t>
            </a:r>
            <a:r>
              <a:rPr sz="3600" spc="475" dirty="0">
                <a:latin typeface="Cambria"/>
                <a:cs typeface="Cambria"/>
              </a:rPr>
              <a:t>+</a:t>
            </a:r>
            <a:r>
              <a:rPr sz="3600" spc="-80" dirty="0">
                <a:latin typeface="Cambria"/>
                <a:cs typeface="Cambria"/>
              </a:rPr>
              <a:t> </a:t>
            </a:r>
            <a:r>
              <a:rPr sz="3600" i="1" spc="-20" dirty="0">
                <a:latin typeface="Times New Roman"/>
                <a:cs typeface="Times New Roman"/>
              </a:rPr>
              <a:t>θ</a:t>
            </a:r>
            <a:r>
              <a:rPr sz="3825" spc="-30" baseline="-19607" dirty="0">
                <a:latin typeface="Cambria"/>
                <a:cs typeface="Cambria"/>
              </a:rPr>
              <a:t>3</a:t>
            </a:r>
            <a:r>
              <a:rPr sz="3600" i="1" spc="-20" dirty="0">
                <a:latin typeface="Times New Roman"/>
                <a:cs typeface="Times New Roman"/>
              </a:rPr>
              <a:t>x</a:t>
            </a:r>
            <a:r>
              <a:rPr sz="3825" spc="-30" baseline="29411" dirty="0">
                <a:latin typeface="Cambria"/>
                <a:cs typeface="Cambria"/>
              </a:rPr>
              <a:t>3</a:t>
            </a:r>
            <a:endParaRPr sz="3825" baseline="29411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480"/>
              </a:spcBef>
            </a:pPr>
            <a:endParaRPr sz="3600">
              <a:latin typeface="Cambria"/>
              <a:cs typeface="Cambria"/>
            </a:endParaRPr>
          </a:p>
          <a:p>
            <a:pPr marL="457200" indent="-381000">
              <a:lnSpc>
                <a:spcPct val="100000"/>
              </a:lnSpc>
              <a:buSzPct val="122000"/>
              <a:buChar char="•"/>
              <a:tabLst>
                <a:tab pos="457200" algn="l"/>
              </a:tabLst>
            </a:pPr>
            <a:r>
              <a:rPr sz="2500" spc="-85" dirty="0">
                <a:latin typeface="Trebuchet MS"/>
                <a:cs typeface="Trebuchet MS"/>
              </a:rPr>
              <a:t>The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output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linear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function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parameters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Polynomial</a:t>
            </a:r>
            <a:r>
              <a:rPr spc="-220" dirty="0"/>
              <a:t> </a:t>
            </a:r>
            <a:r>
              <a:rPr spc="-200" dirty="0"/>
              <a:t>regression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Polynomial</a:t>
            </a:r>
            <a:r>
              <a:rPr spc="-220" dirty="0"/>
              <a:t> </a:t>
            </a:r>
            <a:r>
              <a:rPr spc="-200" dirty="0"/>
              <a:t>regression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92896" y="1296479"/>
            <a:ext cx="11397615" cy="7195184"/>
            <a:chOff x="692896" y="1296479"/>
            <a:chExt cx="11397615" cy="719518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2896" y="1296479"/>
              <a:ext cx="6009175" cy="393192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0271" y="4488884"/>
              <a:ext cx="5579874" cy="400231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Polynomial</a:t>
            </a:r>
            <a:r>
              <a:rPr spc="-220" dirty="0"/>
              <a:t> </a:t>
            </a:r>
            <a:r>
              <a:rPr spc="-200" dirty="0"/>
              <a:t>regression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44387" y="1223015"/>
            <a:ext cx="12306300" cy="7050405"/>
            <a:chOff x="644387" y="1223015"/>
            <a:chExt cx="12306300" cy="70504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387" y="1223015"/>
              <a:ext cx="8436211" cy="70498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36503" y="3162653"/>
              <a:ext cx="5113732" cy="366796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0" dirty="0"/>
              <a:t>Selecting</a:t>
            </a:r>
            <a:r>
              <a:rPr spc="-195" dirty="0"/>
              <a:t> </a:t>
            </a:r>
            <a:r>
              <a:rPr spc="-254" dirty="0"/>
              <a:t>higher-</a:t>
            </a:r>
            <a:r>
              <a:rPr spc="-275" dirty="0"/>
              <a:t>degree</a:t>
            </a:r>
            <a:r>
              <a:rPr spc="-195" dirty="0"/>
              <a:t> </a:t>
            </a:r>
            <a:r>
              <a:rPr spc="-140" dirty="0"/>
              <a:t>polynomials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442" y="1621162"/>
            <a:ext cx="9783913" cy="618165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0" dirty="0"/>
              <a:t>Selecting</a:t>
            </a:r>
            <a:r>
              <a:rPr spc="-195" dirty="0"/>
              <a:t> </a:t>
            </a:r>
            <a:r>
              <a:rPr spc="-254" dirty="0"/>
              <a:t>higher-</a:t>
            </a:r>
            <a:r>
              <a:rPr spc="-275" dirty="0"/>
              <a:t>degree</a:t>
            </a:r>
            <a:r>
              <a:rPr spc="-195" dirty="0"/>
              <a:t> </a:t>
            </a:r>
            <a:r>
              <a:rPr spc="-140" dirty="0"/>
              <a:t>polynomials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1414" y="1813480"/>
            <a:ext cx="6660019" cy="46746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6600" y="6527978"/>
            <a:ext cx="11040110" cy="2299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10" dirty="0">
                <a:latin typeface="Trebuchet MS"/>
                <a:cs typeface="Trebuchet MS"/>
              </a:rPr>
              <a:t>Observations: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marR="5080" lvl="1" indent="-381000">
              <a:lnSpc>
                <a:spcPts val="28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45" dirty="0">
                <a:latin typeface="Trebuchet MS"/>
                <a:cs typeface="Trebuchet MS"/>
              </a:rPr>
              <a:t>300-</a:t>
            </a:r>
            <a:r>
              <a:rPr sz="2500" spc="-25" dirty="0">
                <a:latin typeface="Trebuchet MS"/>
                <a:cs typeface="Trebuchet MS"/>
              </a:rPr>
              <a:t>degree</a:t>
            </a:r>
            <a:r>
              <a:rPr sz="2500" spc="-16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polynomial</a:t>
            </a:r>
            <a:r>
              <a:rPr sz="2500" spc="-18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wiggles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around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50" dirty="0">
                <a:latin typeface="Trebuchet MS"/>
                <a:cs typeface="Trebuchet MS"/>
              </a:rPr>
              <a:t>get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as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close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as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possible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to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instances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75" dirty="0">
                <a:latin typeface="Trebuchet MS"/>
                <a:cs typeface="Trebuchet MS"/>
              </a:rPr>
              <a:t>Overfitting: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performs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well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on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data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but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generalizes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poorly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11042015" cy="7620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93700" marR="5080" indent="-381000">
              <a:lnSpc>
                <a:spcPts val="2800"/>
              </a:lnSpc>
              <a:spcBef>
                <a:spcPts val="36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70" dirty="0">
                <a:latin typeface="Trebuchet MS"/>
                <a:cs typeface="Trebuchet MS"/>
              </a:rPr>
              <a:t>Plots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model’s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performance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on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60" dirty="0">
                <a:latin typeface="Trebuchet MS"/>
                <a:cs typeface="Trebuchet MS"/>
              </a:rPr>
              <a:t>set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validation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60" dirty="0">
                <a:latin typeface="Trebuchet MS"/>
                <a:cs typeface="Trebuchet MS"/>
              </a:rPr>
              <a:t>set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as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a function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60" dirty="0">
                <a:latin typeface="Trebuchet MS"/>
                <a:cs typeface="Trebuchet MS"/>
              </a:rPr>
              <a:t>set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size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303212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5" dirty="0"/>
              <a:t>Learning</a:t>
            </a:r>
            <a:r>
              <a:rPr spc="-245" dirty="0"/>
              <a:t> </a:t>
            </a:r>
            <a:r>
              <a:rPr spc="-180" dirty="0"/>
              <a:t>curve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606" y="2518492"/>
            <a:ext cx="11327587" cy="51275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27178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45" dirty="0">
                <a:latin typeface="Trebuchet MS"/>
                <a:cs typeface="Trebuchet MS"/>
              </a:rPr>
              <a:t>Linear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regression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0" y="4243407"/>
            <a:ext cx="47117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65" dirty="0">
                <a:latin typeface="Trebuchet MS"/>
                <a:cs typeface="Trebuchet MS"/>
              </a:rPr>
              <a:t>2-</a:t>
            </a:r>
            <a:r>
              <a:rPr sz="2500" spc="-60" dirty="0">
                <a:latin typeface="Trebuchet MS"/>
                <a:cs typeface="Trebuchet MS"/>
              </a:rPr>
              <a:t>degree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polynomial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regression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303212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5" dirty="0"/>
              <a:t>Learning</a:t>
            </a:r>
            <a:r>
              <a:rPr spc="-245" dirty="0"/>
              <a:t> </a:t>
            </a:r>
            <a:r>
              <a:rPr spc="-180" dirty="0"/>
              <a:t>curve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25" y="2349603"/>
            <a:ext cx="5732203" cy="12099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3386" y="1346426"/>
            <a:ext cx="4852984" cy="329081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790385" y="4891752"/>
            <a:ext cx="11703050" cy="4716145"/>
            <a:chOff x="790385" y="4891752"/>
            <a:chExt cx="11703050" cy="471614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0385" y="4891752"/>
              <a:ext cx="10012612" cy="289558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49864" y="6032550"/>
              <a:ext cx="5243167" cy="3574886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36600" y="1197313"/>
            <a:ext cx="10880725" cy="1523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40" dirty="0">
                <a:latin typeface="Trebuchet MS"/>
                <a:cs typeface="Trebuchet MS"/>
              </a:rPr>
              <a:t>Generalization</a:t>
            </a:r>
            <a:r>
              <a:rPr sz="2500" spc="-150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error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can</a:t>
            </a:r>
            <a:r>
              <a:rPr sz="2500" spc="-1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be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expressed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as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sum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three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different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errors: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2500">
              <a:latin typeface="Trebuchet MS"/>
              <a:cs typeface="Trebuchet MS"/>
            </a:endParaRPr>
          </a:p>
          <a:p>
            <a:pPr marL="622300" marR="5080" indent="-228600">
              <a:lnSpc>
                <a:spcPts val="2800"/>
              </a:lnSpc>
            </a:pPr>
            <a:r>
              <a:rPr sz="2500" spc="-30" dirty="0">
                <a:latin typeface="Trebuchet MS"/>
                <a:cs typeface="Trebuchet MS"/>
              </a:rPr>
              <a:t>1.</a:t>
            </a:r>
            <a:r>
              <a:rPr sz="2500" spc="-16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Bias:</a:t>
            </a:r>
            <a:r>
              <a:rPr sz="2500" spc="-245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This</a:t>
            </a:r>
            <a:r>
              <a:rPr sz="2500" spc="-15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due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wrong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assumptions,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such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as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assuming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data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linear </a:t>
            </a:r>
            <a:r>
              <a:rPr sz="2500" dirty="0">
                <a:latin typeface="Trebuchet MS"/>
                <a:cs typeface="Trebuchet MS"/>
              </a:rPr>
              <a:t>when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it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actually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quadratic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600" y="3837007"/>
            <a:ext cx="10864850" cy="7620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41300" marR="5080" indent="-228600">
              <a:lnSpc>
                <a:spcPts val="2800"/>
              </a:lnSpc>
              <a:spcBef>
                <a:spcPts val="360"/>
              </a:spcBef>
            </a:pPr>
            <a:r>
              <a:rPr sz="2500" spc="-85" dirty="0">
                <a:latin typeface="Trebuchet MS"/>
                <a:cs typeface="Trebuchet MS"/>
              </a:rPr>
              <a:t>2.</a:t>
            </a:r>
            <a:r>
              <a:rPr sz="2500" spc="-29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Variance:</a:t>
            </a:r>
            <a:r>
              <a:rPr sz="2500" spc="-245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This</a:t>
            </a:r>
            <a:r>
              <a:rPr sz="2500" spc="-15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due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model’s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excessive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sensitivity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small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variations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in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data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80" dirty="0">
                <a:latin typeface="Trebuchet MS"/>
                <a:cs typeface="Trebuchet MS"/>
              </a:rPr>
              <a:t>(i.e.,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degrees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freedom)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7600" y="5715177"/>
            <a:ext cx="79292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30" dirty="0">
                <a:latin typeface="Trebuchet MS"/>
                <a:cs typeface="Trebuchet MS"/>
              </a:rPr>
              <a:t>3.</a:t>
            </a:r>
            <a:r>
              <a:rPr sz="2500" spc="-16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Irreducible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spc="-125" dirty="0">
                <a:latin typeface="Trebuchet MS"/>
                <a:cs typeface="Trebuchet MS"/>
              </a:rPr>
              <a:t>error:</a:t>
            </a:r>
            <a:r>
              <a:rPr sz="2500" spc="-245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This</a:t>
            </a:r>
            <a:r>
              <a:rPr sz="2500" spc="-15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due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noisiness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data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0" dirty="0"/>
              <a:t>Bias/variance</a:t>
            </a:r>
            <a:r>
              <a:rPr spc="-175" dirty="0"/>
              <a:t> </a:t>
            </a:r>
            <a:r>
              <a:rPr spc="-275" dirty="0"/>
              <a:t>tradeoff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11200" y="1197313"/>
            <a:ext cx="11350625" cy="6868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419100" algn="l"/>
              </a:tabLst>
            </a:pPr>
            <a:r>
              <a:rPr sz="2500" spc="100" dirty="0">
                <a:latin typeface="Trebuchet MS"/>
                <a:cs typeface="Trebuchet MS"/>
              </a:rPr>
              <a:t>One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way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reduce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overfitting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regularize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linear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models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419100" marR="30480" indent="-381000">
              <a:lnSpc>
                <a:spcPts val="2800"/>
              </a:lnSpc>
              <a:buSzPct val="122000"/>
              <a:buChar char="•"/>
              <a:tabLst>
                <a:tab pos="419100" algn="l"/>
              </a:tabLst>
            </a:pPr>
            <a:r>
              <a:rPr sz="2500" spc="-85" dirty="0">
                <a:latin typeface="Trebuchet MS"/>
                <a:cs typeface="Trebuchet MS"/>
              </a:rPr>
              <a:t>For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linear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models,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regularization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typically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achieved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by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containing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weights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endParaRPr sz="2500">
              <a:latin typeface="Trebuchet MS"/>
              <a:cs typeface="Trebuchet MS"/>
            </a:endParaRPr>
          </a:p>
          <a:p>
            <a:pPr marL="7868284">
              <a:lnSpc>
                <a:spcPct val="100000"/>
              </a:lnSpc>
              <a:spcBef>
                <a:spcPts val="1605"/>
              </a:spcBef>
            </a:pPr>
            <a:r>
              <a:rPr sz="2100" i="1" spc="-50" dirty="0">
                <a:latin typeface="Times New Roman"/>
                <a:cs typeface="Times New Roman"/>
              </a:rPr>
              <a:t>d</a:t>
            </a:r>
            <a:endParaRPr sz="2100">
              <a:latin typeface="Times New Roman"/>
              <a:cs typeface="Times New Roman"/>
            </a:endParaRPr>
          </a:p>
          <a:p>
            <a:pPr marL="254000" algn="ctr">
              <a:lnSpc>
                <a:spcPct val="100000"/>
              </a:lnSpc>
            </a:pPr>
            <a:r>
              <a:rPr sz="3000" i="1" spc="-10" dirty="0">
                <a:latin typeface="Times New Roman"/>
                <a:cs typeface="Times New Roman"/>
              </a:rPr>
              <a:t>h</a:t>
            </a:r>
            <a:r>
              <a:rPr sz="3000" spc="-10" dirty="0">
                <a:latin typeface="Cambria"/>
                <a:cs typeface="Cambria"/>
              </a:rPr>
              <a:t>(</a:t>
            </a:r>
            <a:r>
              <a:rPr sz="3000" b="1" spc="-10" dirty="0">
                <a:latin typeface="Times New Roman"/>
                <a:cs typeface="Times New Roman"/>
              </a:rPr>
              <a:t>x</a:t>
            </a:r>
            <a:r>
              <a:rPr sz="3000" spc="-10" dirty="0">
                <a:latin typeface="Cambria"/>
                <a:cs typeface="Cambria"/>
              </a:rPr>
              <a:t>)</a:t>
            </a:r>
            <a:r>
              <a:rPr sz="3000" spc="-25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95" dirty="0">
                <a:latin typeface="Cambria"/>
                <a:cs typeface="Cambria"/>
              </a:rPr>
              <a:t> </a:t>
            </a:r>
            <a:r>
              <a:rPr sz="3000" i="1" spc="-30" dirty="0">
                <a:latin typeface="Times New Roman"/>
                <a:cs typeface="Times New Roman"/>
              </a:rPr>
              <a:t>θ</a:t>
            </a:r>
            <a:r>
              <a:rPr sz="3150" spc="-44" baseline="-19841" dirty="0">
                <a:latin typeface="Cambria"/>
                <a:cs typeface="Cambria"/>
              </a:rPr>
              <a:t>0</a:t>
            </a:r>
            <a:r>
              <a:rPr sz="3000" i="1" spc="-30" dirty="0">
                <a:latin typeface="Times New Roman"/>
                <a:cs typeface="Times New Roman"/>
              </a:rPr>
              <a:t>x</a:t>
            </a:r>
            <a:r>
              <a:rPr sz="3150" spc="-44" baseline="-19841" dirty="0">
                <a:latin typeface="Cambria"/>
                <a:cs typeface="Cambria"/>
              </a:rPr>
              <a:t>0</a:t>
            </a:r>
            <a:r>
              <a:rPr sz="3150" spc="202" baseline="-19841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+</a:t>
            </a:r>
            <a:r>
              <a:rPr sz="3000" spc="-55" dirty="0">
                <a:latin typeface="Cambria"/>
                <a:cs typeface="Cambria"/>
              </a:rPr>
              <a:t> </a:t>
            </a:r>
            <a:r>
              <a:rPr sz="3000" i="1" spc="-70" dirty="0">
                <a:latin typeface="Times New Roman"/>
                <a:cs typeface="Times New Roman"/>
              </a:rPr>
              <a:t>θ</a:t>
            </a:r>
            <a:r>
              <a:rPr sz="3150" spc="-104" baseline="-19841" dirty="0">
                <a:latin typeface="Cambria"/>
                <a:cs typeface="Cambria"/>
              </a:rPr>
              <a:t>1</a:t>
            </a:r>
            <a:r>
              <a:rPr sz="3000" i="1" spc="-70" dirty="0">
                <a:latin typeface="Times New Roman"/>
                <a:cs typeface="Times New Roman"/>
              </a:rPr>
              <a:t>x</a:t>
            </a:r>
            <a:r>
              <a:rPr sz="3150" spc="-104" baseline="-19841" dirty="0">
                <a:latin typeface="Cambria"/>
                <a:cs typeface="Cambria"/>
              </a:rPr>
              <a:t>1</a:t>
            </a:r>
            <a:r>
              <a:rPr sz="3150" spc="202" baseline="-19841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+</a:t>
            </a:r>
            <a:r>
              <a:rPr sz="3000" spc="-55" dirty="0">
                <a:latin typeface="Cambria"/>
                <a:cs typeface="Cambria"/>
              </a:rPr>
              <a:t> </a:t>
            </a:r>
            <a:r>
              <a:rPr sz="3000" i="1" spc="-25" dirty="0">
                <a:latin typeface="Times New Roman"/>
                <a:cs typeface="Times New Roman"/>
              </a:rPr>
              <a:t>θ</a:t>
            </a:r>
            <a:r>
              <a:rPr sz="3150" spc="-37" baseline="-19841" dirty="0">
                <a:latin typeface="Cambria"/>
                <a:cs typeface="Cambria"/>
              </a:rPr>
              <a:t>2</a:t>
            </a:r>
            <a:r>
              <a:rPr sz="3000" i="1" spc="-25" dirty="0">
                <a:latin typeface="Times New Roman"/>
                <a:cs typeface="Times New Roman"/>
              </a:rPr>
              <a:t>x</a:t>
            </a:r>
            <a:r>
              <a:rPr sz="3150" spc="-37" baseline="-19841" dirty="0">
                <a:latin typeface="Cambria"/>
                <a:cs typeface="Cambria"/>
              </a:rPr>
              <a:t>2</a:t>
            </a:r>
            <a:r>
              <a:rPr sz="3150" spc="209" baseline="-19841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+</a:t>
            </a:r>
            <a:r>
              <a:rPr sz="3000" spc="-60" dirty="0">
                <a:latin typeface="Cambria"/>
                <a:cs typeface="Cambria"/>
              </a:rPr>
              <a:t> </a:t>
            </a:r>
            <a:r>
              <a:rPr sz="3000" spc="740" dirty="0">
                <a:latin typeface="Cambria"/>
                <a:cs typeface="Cambria"/>
              </a:rPr>
              <a:t>…</a:t>
            </a:r>
            <a:r>
              <a:rPr sz="3000" spc="-55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+</a:t>
            </a:r>
            <a:r>
              <a:rPr sz="3000" spc="-60" dirty="0">
                <a:latin typeface="Cambria"/>
                <a:cs typeface="Cambria"/>
              </a:rPr>
              <a:t> </a:t>
            </a:r>
            <a:r>
              <a:rPr sz="3000" i="1" spc="-80" dirty="0">
                <a:latin typeface="Times New Roman"/>
                <a:cs typeface="Times New Roman"/>
              </a:rPr>
              <a:t>θ</a:t>
            </a:r>
            <a:r>
              <a:rPr sz="3150" i="1" spc="-120" baseline="-19841" dirty="0">
                <a:latin typeface="Times New Roman"/>
                <a:cs typeface="Times New Roman"/>
              </a:rPr>
              <a:t>d</a:t>
            </a:r>
            <a:r>
              <a:rPr sz="3150" i="1" spc="-434" baseline="-19841" dirty="0">
                <a:latin typeface="Times New Roman"/>
                <a:cs typeface="Times New Roman"/>
              </a:rPr>
              <a:t> </a:t>
            </a:r>
            <a:r>
              <a:rPr sz="3000" i="1" dirty="0">
                <a:latin typeface="Times New Roman"/>
                <a:cs typeface="Times New Roman"/>
              </a:rPr>
              <a:t>x</a:t>
            </a:r>
            <a:r>
              <a:rPr sz="3150" i="1" baseline="-19841" dirty="0">
                <a:latin typeface="Times New Roman"/>
                <a:cs typeface="Times New Roman"/>
              </a:rPr>
              <a:t>d</a:t>
            </a:r>
            <a:r>
              <a:rPr sz="3150" i="1" spc="359" baseline="-19841" dirty="0">
                <a:latin typeface="Times New Roman"/>
                <a:cs typeface="Times New Roman"/>
              </a:rPr>
              <a:t> </a:t>
            </a: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95" dirty="0">
                <a:latin typeface="Cambria"/>
                <a:cs typeface="Cambria"/>
              </a:rPr>
              <a:t> </a:t>
            </a:r>
            <a:r>
              <a:rPr sz="4500" spc="2925" baseline="-28703" dirty="0">
                <a:latin typeface="Sitka Small"/>
                <a:cs typeface="Sitka Small"/>
              </a:rPr>
              <a:t>∑</a:t>
            </a:r>
            <a:r>
              <a:rPr sz="4500" spc="-644" baseline="-28703" dirty="0">
                <a:latin typeface="Sitka Small"/>
                <a:cs typeface="Sitka Small"/>
              </a:rPr>
              <a:t> </a:t>
            </a:r>
            <a:r>
              <a:rPr sz="3000" i="1" dirty="0">
                <a:latin typeface="Times New Roman"/>
                <a:cs typeface="Times New Roman"/>
              </a:rPr>
              <a:t>θ</a:t>
            </a:r>
            <a:r>
              <a:rPr sz="3150" i="1" baseline="-19841" dirty="0">
                <a:latin typeface="Times New Roman"/>
                <a:cs typeface="Times New Roman"/>
              </a:rPr>
              <a:t>i</a:t>
            </a:r>
            <a:r>
              <a:rPr sz="3000" i="1" dirty="0">
                <a:latin typeface="Times New Roman"/>
                <a:cs typeface="Times New Roman"/>
              </a:rPr>
              <a:t>x</a:t>
            </a:r>
            <a:r>
              <a:rPr sz="3150" i="1" baseline="-19841" dirty="0">
                <a:latin typeface="Times New Roman"/>
                <a:cs typeface="Times New Roman"/>
              </a:rPr>
              <a:t>i</a:t>
            </a:r>
            <a:r>
              <a:rPr sz="3150" i="1" spc="337" baseline="-19841" dirty="0">
                <a:latin typeface="Times New Roman"/>
                <a:cs typeface="Times New Roman"/>
              </a:rPr>
              <a:t> </a:t>
            </a: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95" dirty="0">
                <a:latin typeface="Cambria"/>
                <a:cs typeface="Cambria"/>
              </a:rPr>
              <a:t> </a:t>
            </a:r>
            <a:r>
              <a:rPr sz="3000" spc="80" dirty="0">
                <a:latin typeface="Cambria"/>
                <a:cs typeface="Cambria"/>
              </a:rPr>
              <a:t>⟨</a:t>
            </a:r>
            <a:r>
              <a:rPr sz="3000" b="1" spc="80" dirty="0">
                <a:latin typeface="Times New Roman"/>
                <a:cs typeface="Times New Roman"/>
              </a:rPr>
              <a:t>x</a:t>
            </a:r>
            <a:r>
              <a:rPr sz="3000" spc="80" dirty="0">
                <a:latin typeface="Cambria"/>
                <a:cs typeface="Cambria"/>
              </a:rPr>
              <a:t>,</a:t>
            </a:r>
            <a:r>
              <a:rPr sz="3000" spc="-165" dirty="0">
                <a:latin typeface="Cambria"/>
                <a:cs typeface="Cambria"/>
              </a:rPr>
              <a:t> </a:t>
            </a:r>
            <a:r>
              <a:rPr sz="3000" b="1" i="1" spc="-25" dirty="0">
                <a:latin typeface="Arial"/>
                <a:cs typeface="Arial"/>
              </a:rPr>
              <a:t>θ</a:t>
            </a:r>
            <a:r>
              <a:rPr sz="3000" spc="-25" dirty="0">
                <a:latin typeface="Cambria"/>
                <a:cs typeface="Cambria"/>
              </a:rPr>
              <a:t>⟩</a:t>
            </a:r>
            <a:endParaRPr sz="3000">
              <a:latin typeface="Cambria"/>
              <a:cs typeface="Cambria"/>
            </a:endParaRPr>
          </a:p>
          <a:p>
            <a:pPr marL="7738109">
              <a:lnSpc>
                <a:spcPct val="100000"/>
              </a:lnSpc>
              <a:spcBef>
                <a:spcPts val="965"/>
              </a:spcBef>
            </a:pPr>
            <a:r>
              <a:rPr sz="2100" i="1" spc="35" dirty="0">
                <a:latin typeface="Times New Roman"/>
                <a:cs typeface="Times New Roman"/>
              </a:rPr>
              <a:t>i</a:t>
            </a:r>
            <a:r>
              <a:rPr sz="2100" spc="35" dirty="0">
                <a:latin typeface="Cambria"/>
                <a:cs typeface="Cambria"/>
              </a:rPr>
              <a:t>=0</a:t>
            </a:r>
            <a:endParaRPr sz="2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2100">
              <a:latin typeface="Cambria"/>
              <a:cs typeface="Cambria"/>
            </a:endParaRPr>
          </a:p>
          <a:p>
            <a:pPr marL="800100" lvl="1" indent="-381000">
              <a:lnSpc>
                <a:spcPct val="100000"/>
              </a:lnSpc>
              <a:buSzPct val="122000"/>
              <a:buChar char="•"/>
              <a:tabLst>
                <a:tab pos="800100" algn="l"/>
              </a:tabLst>
            </a:pPr>
            <a:r>
              <a:rPr sz="2500" spc="-40" dirty="0">
                <a:latin typeface="Trebuchet MS"/>
                <a:cs typeface="Trebuchet MS"/>
              </a:rPr>
              <a:t>Keep</a:t>
            </a:r>
            <a:r>
              <a:rPr sz="2500" spc="-15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r>
              <a:rPr sz="2500" spc="-17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weights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as</a:t>
            </a:r>
            <a:r>
              <a:rPr sz="2500" spc="-155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small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as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possible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419100" indent="-381000">
              <a:lnSpc>
                <a:spcPct val="100000"/>
              </a:lnSpc>
              <a:spcBef>
                <a:spcPts val="5"/>
              </a:spcBef>
              <a:buSzPct val="122000"/>
              <a:buChar char="•"/>
              <a:tabLst>
                <a:tab pos="419100" algn="l"/>
              </a:tabLst>
            </a:pPr>
            <a:r>
              <a:rPr sz="2500" spc="-45" dirty="0">
                <a:latin typeface="Trebuchet MS"/>
                <a:cs typeface="Trebuchet MS"/>
              </a:rPr>
              <a:t>Regularization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used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only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during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process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419100" indent="-381000">
              <a:lnSpc>
                <a:spcPct val="100000"/>
              </a:lnSpc>
              <a:buSzPct val="122000"/>
              <a:buChar char="•"/>
              <a:tabLst>
                <a:tab pos="419100" algn="l"/>
              </a:tabLst>
            </a:pPr>
            <a:r>
              <a:rPr sz="2500" spc="70" dirty="0">
                <a:latin typeface="Trebuchet MS"/>
                <a:cs typeface="Trebuchet MS"/>
              </a:rPr>
              <a:t>We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will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look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at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800100" lvl="1" indent="-381000">
              <a:lnSpc>
                <a:spcPct val="100000"/>
              </a:lnSpc>
              <a:buSzPct val="122000"/>
              <a:buChar char="•"/>
              <a:tabLst>
                <a:tab pos="800100" algn="l"/>
              </a:tabLst>
            </a:pPr>
            <a:r>
              <a:rPr sz="2500" dirty="0">
                <a:latin typeface="Trebuchet MS"/>
                <a:cs typeface="Trebuchet MS"/>
              </a:rPr>
              <a:t>Ridge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regression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800100" lvl="1" indent="-381000">
              <a:lnSpc>
                <a:spcPct val="100000"/>
              </a:lnSpc>
              <a:buSzPct val="122000"/>
              <a:buChar char="•"/>
              <a:tabLst>
                <a:tab pos="800100" algn="l"/>
              </a:tabLst>
            </a:pPr>
            <a:r>
              <a:rPr sz="2500" dirty="0">
                <a:latin typeface="Trebuchet MS"/>
                <a:cs typeface="Trebuchet MS"/>
              </a:rPr>
              <a:t>Lasso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regression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525589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Regularized</a:t>
            </a:r>
            <a:r>
              <a:rPr spc="-200" dirty="0"/>
              <a:t> </a:t>
            </a:r>
            <a:r>
              <a:rPr spc="-229" dirty="0"/>
              <a:t>linear</a:t>
            </a:r>
            <a:r>
              <a:rPr spc="-200" dirty="0"/>
              <a:t> </a:t>
            </a:r>
            <a:r>
              <a:rPr spc="-150" dirty="0"/>
              <a:t>models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11200" y="1197313"/>
            <a:ext cx="7437755" cy="2731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419100" algn="l"/>
              </a:tabLst>
            </a:pPr>
            <a:r>
              <a:rPr sz="2500" spc="70" dirty="0">
                <a:latin typeface="Trebuchet MS"/>
                <a:cs typeface="Trebuchet MS"/>
              </a:rPr>
              <a:t>We</a:t>
            </a:r>
            <a:r>
              <a:rPr sz="2500" spc="-15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minimize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following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loss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function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4175760">
              <a:lnSpc>
                <a:spcPts val="2890"/>
              </a:lnSpc>
            </a:pPr>
            <a:r>
              <a:rPr sz="3200" dirty="0">
                <a:latin typeface="Cambria"/>
                <a:cs typeface="Cambria"/>
              </a:rPr>
              <a:t>∥</a:t>
            </a:r>
            <a:r>
              <a:rPr sz="3200" b="1" dirty="0">
                <a:latin typeface="Times New Roman"/>
                <a:cs typeface="Times New Roman"/>
              </a:rPr>
              <a:t>X</a:t>
            </a:r>
            <a:r>
              <a:rPr sz="3200" b="1" i="1" dirty="0">
                <a:latin typeface="Arial"/>
                <a:cs typeface="Arial"/>
              </a:rPr>
              <a:t>θ</a:t>
            </a:r>
            <a:r>
              <a:rPr sz="3200" b="1" i="1" spc="-180" dirty="0">
                <a:latin typeface="Arial"/>
                <a:cs typeface="Arial"/>
              </a:rPr>
              <a:t> </a:t>
            </a:r>
            <a:r>
              <a:rPr sz="3200" spc="405" dirty="0">
                <a:latin typeface="Cambria"/>
                <a:cs typeface="Cambria"/>
              </a:rPr>
              <a:t>−</a:t>
            </a:r>
            <a:r>
              <a:rPr sz="3200" spc="10" dirty="0">
                <a:latin typeface="Cambria"/>
                <a:cs typeface="Cambria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y</a:t>
            </a:r>
            <a:r>
              <a:rPr sz="3200" dirty="0">
                <a:latin typeface="Cambria"/>
                <a:cs typeface="Cambria"/>
              </a:rPr>
              <a:t>∥</a:t>
            </a:r>
            <a:r>
              <a:rPr sz="3375" baseline="29629" dirty="0">
                <a:latin typeface="Cambria"/>
                <a:cs typeface="Cambria"/>
              </a:rPr>
              <a:t>2</a:t>
            </a:r>
            <a:r>
              <a:rPr sz="3375" spc="330" baseline="29629" dirty="0">
                <a:latin typeface="Cambria"/>
                <a:cs typeface="Cambria"/>
              </a:rPr>
              <a:t> </a:t>
            </a:r>
            <a:r>
              <a:rPr sz="3200" spc="405" dirty="0">
                <a:latin typeface="Cambria"/>
                <a:cs typeface="Cambria"/>
              </a:rPr>
              <a:t>+</a:t>
            </a:r>
            <a:r>
              <a:rPr sz="3200" spc="10" dirty="0">
                <a:latin typeface="Cambria"/>
                <a:cs typeface="Cambria"/>
              </a:rPr>
              <a:t> </a:t>
            </a:r>
            <a:r>
              <a:rPr sz="3200" i="1" spc="-20" dirty="0">
                <a:latin typeface="Times New Roman"/>
                <a:cs typeface="Times New Roman"/>
              </a:rPr>
              <a:t>α</a:t>
            </a:r>
            <a:r>
              <a:rPr sz="3200" spc="-20" dirty="0">
                <a:latin typeface="Cambria"/>
                <a:cs typeface="Cambria"/>
              </a:rPr>
              <a:t>∥</a:t>
            </a:r>
            <a:r>
              <a:rPr sz="3200" b="1" i="1" spc="-20" dirty="0">
                <a:latin typeface="Arial"/>
                <a:cs typeface="Arial"/>
              </a:rPr>
              <a:t>θ</a:t>
            </a:r>
            <a:r>
              <a:rPr sz="3200" spc="-20" dirty="0">
                <a:latin typeface="Cambria"/>
                <a:cs typeface="Cambria"/>
              </a:rPr>
              <a:t>∥</a:t>
            </a:r>
            <a:r>
              <a:rPr sz="3375" spc="-30" baseline="29629" dirty="0">
                <a:latin typeface="Cambria"/>
                <a:cs typeface="Cambria"/>
              </a:rPr>
              <a:t>2</a:t>
            </a:r>
            <a:endParaRPr sz="3375" baseline="29629">
              <a:latin typeface="Cambria"/>
              <a:cs typeface="Cambria"/>
            </a:endParaRPr>
          </a:p>
          <a:p>
            <a:pPr marR="68580" algn="r">
              <a:lnSpc>
                <a:spcPts val="1750"/>
              </a:lnSpc>
              <a:tabLst>
                <a:tab pos="1456055" algn="l"/>
              </a:tabLst>
            </a:pPr>
            <a:r>
              <a:rPr sz="2250" spc="-50" dirty="0">
                <a:latin typeface="Cambria"/>
                <a:cs typeface="Cambria"/>
              </a:rPr>
              <a:t>2</a:t>
            </a:r>
            <a:r>
              <a:rPr sz="2250" dirty="0">
                <a:latin typeface="Cambria"/>
                <a:cs typeface="Cambria"/>
              </a:rPr>
              <a:t>	</a:t>
            </a:r>
            <a:r>
              <a:rPr sz="2250" spc="-50" dirty="0">
                <a:latin typeface="Cambria"/>
                <a:cs typeface="Cambria"/>
              </a:rPr>
              <a:t>2</a:t>
            </a:r>
            <a:endParaRPr sz="22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2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05"/>
              </a:spcBef>
            </a:pPr>
            <a:endParaRPr sz="2250">
              <a:latin typeface="Cambria"/>
              <a:cs typeface="Cambria"/>
            </a:endParaRPr>
          </a:p>
          <a:p>
            <a:pPr marL="800100" lvl="1" indent="-381000">
              <a:lnSpc>
                <a:spcPct val="100000"/>
              </a:lnSpc>
              <a:buSzPct val="108928"/>
              <a:buFont typeface="Trebuchet MS"/>
              <a:buChar char="•"/>
              <a:tabLst>
                <a:tab pos="800100" algn="l"/>
              </a:tabLst>
            </a:pPr>
            <a:r>
              <a:rPr sz="2800" i="1" spc="55" dirty="0">
                <a:latin typeface="Times New Roman"/>
                <a:cs typeface="Times New Roman"/>
              </a:rPr>
              <a:t>α</a:t>
            </a:r>
            <a:r>
              <a:rPr sz="2800" i="1" spc="40" dirty="0">
                <a:latin typeface="Times New Roman"/>
                <a:cs typeface="Times New Roman"/>
              </a:rPr>
              <a:t> </a:t>
            </a:r>
            <a:r>
              <a:rPr sz="2800" spc="355" dirty="0">
                <a:latin typeface="Cambria"/>
                <a:cs typeface="Cambria"/>
              </a:rPr>
              <a:t>&gt;</a:t>
            </a:r>
            <a:r>
              <a:rPr sz="2800" spc="9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0</a:t>
            </a:r>
            <a:r>
              <a:rPr sz="2800" spc="25" dirty="0">
                <a:latin typeface="Cambria"/>
                <a:cs typeface="Cambria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hyperparameter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200" y="5036557"/>
            <a:ext cx="7671434" cy="2705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419100" algn="l"/>
              </a:tabLst>
            </a:pPr>
            <a:r>
              <a:rPr sz="2500" spc="-35" dirty="0">
                <a:latin typeface="Trebuchet MS"/>
                <a:cs typeface="Trebuchet MS"/>
              </a:rPr>
              <a:t>This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problem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has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closed-</a:t>
            </a:r>
            <a:r>
              <a:rPr sz="2500" spc="-30" dirty="0">
                <a:latin typeface="Trebuchet MS"/>
                <a:cs typeface="Trebuchet MS"/>
              </a:rPr>
              <a:t>form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solution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5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983354">
              <a:lnSpc>
                <a:spcPct val="100000"/>
              </a:lnSpc>
            </a:pPr>
            <a:r>
              <a:rPr sz="3200" b="1" i="1" dirty="0">
                <a:latin typeface="Arial"/>
                <a:cs typeface="Arial"/>
              </a:rPr>
              <a:t>θ</a:t>
            </a:r>
            <a:r>
              <a:rPr sz="3200" b="1" i="1" spc="-45" dirty="0">
                <a:latin typeface="Arial"/>
                <a:cs typeface="Arial"/>
              </a:rPr>
              <a:t> </a:t>
            </a:r>
            <a:r>
              <a:rPr sz="3200" spc="405" dirty="0">
                <a:latin typeface="Cambria"/>
                <a:cs typeface="Cambria"/>
              </a:rPr>
              <a:t>=</a:t>
            </a:r>
            <a:r>
              <a:rPr sz="3200" spc="150" dirty="0">
                <a:latin typeface="Cambria"/>
                <a:cs typeface="Cambria"/>
              </a:rPr>
              <a:t> </a:t>
            </a:r>
            <a:r>
              <a:rPr sz="3200" spc="-70" dirty="0">
                <a:latin typeface="Cambria"/>
                <a:cs typeface="Cambria"/>
              </a:rPr>
              <a:t>(</a:t>
            </a:r>
            <a:r>
              <a:rPr sz="3200" b="1" spc="-70" dirty="0">
                <a:latin typeface="Times New Roman"/>
                <a:cs typeface="Times New Roman"/>
              </a:rPr>
              <a:t>X</a:t>
            </a:r>
            <a:r>
              <a:rPr sz="3375" i="1" spc="-104" baseline="29629" dirty="0">
                <a:latin typeface="Times New Roman"/>
                <a:cs typeface="Times New Roman"/>
              </a:rPr>
              <a:t>T</a:t>
            </a:r>
            <a:r>
              <a:rPr sz="3375" i="1" spc="-509" baseline="29629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X</a:t>
            </a:r>
            <a:r>
              <a:rPr sz="3200" b="1" spc="-114" dirty="0">
                <a:latin typeface="Times New Roman"/>
                <a:cs typeface="Times New Roman"/>
              </a:rPr>
              <a:t> </a:t>
            </a:r>
            <a:r>
              <a:rPr sz="3200" spc="405" dirty="0">
                <a:latin typeface="Cambria"/>
                <a:cs typeface="Cambria"/>
              </a:rPr>
              <a:t>+</a:t>
            </a:r>
            <a:r>
              <a:rPr sz="3200" spc="-20" dirty="0">
                <a:latin typeface="Cambria"/>
                <a:cs typeface="Cambria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α</a:t>
            </a:r>
            <a:r>
              <a:rPr sz="3200" b="1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Cambria"/>
                <a:cs typeface="Cambria"/>
              </a:rPr>
              <a:t>)</a:t>
            </a:r>
            <a:r>
              <a:rPr sz="3375" baseline="29629" dirty="0">
                <a:latin typeface="Cambria"/>
                <a:cs typeface="Cambria"/>
              </a:rPr>
              <a:t>−1</a:t>
            </a:r>
            <a:r>
              <a:rPr sz="3200" b="1" dirty="0">
                <a:latin typeface="Times New Roman"/>
                <a:cs typeface="Times New Roman"/>
              </a:rPr>
              <a:t>X</a:t>
            </a:r>
            <a:r>
              <a:rPr sz="3375" i="1" baseline="29629" dirty="0">
                <a:latin typeface="Times New Roman"/>
                <a:cs typeface="Times New Roman"/>
              </a:rPr>
              <a:t>T</a:t>
            </a:r>
            <a:r>
              <a:rPr sz="3375" i="1" spc="-509" baseline="29629" dirty="0">
                <a:latin typeface="Times New Roman"/>
                <a:cs typeface="Times New Roman"/>
              </a:rPr>
              <a:t> </a:t>
            </a:r>
            <a:r>
              <a:rPr sz="3200" b="1" spc="-50" dirty="0">
                <a:latin typeface="Times New Roman"/>
                <a:cs typeface="Times New Roman"/>
              </a:rPr>
              <a:t>y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10"/>
              </a:spcBef>
            </a:pPr>
            <a:endParaRPr sz="3200">
              <a:latin typeface="Times New Roman"/>
              <a:cs typeface="Times New Roman"/>
            </a:endParaRPr>
          </a:p>
          <a:p>
            <a:pPr marL="800100" lvl="1" indent="-381000">
              <a:lnSpc>
                <a:spcPct val="100000"/>
              </a:lnSpc>
              <a:buSzPct val="122000"/>
              <a:buChar char="•"/>
              <a:tabLst>
                <a:tab pos="800100" algn="l"/>
              </a:tabLst>
            </a:pPr>
            <a:r>
              <a:rPr sz="2500" spc="-20" dirty="0">
                <a:latin typeface="Trebuchet MS"/>
                <a:cs typeface="Trebuchet MS"/>
              </a:rPr>
              <a:t>Or,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we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can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use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gradient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descent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Ridge</a:t>
            </a:r>
            <a:r>
              <a:rPr spc="-204" dirty="0"/>
              <a:t> </a:t>
            </a:r>
            <a:r>
              <a:rPr spc="-220" dirty="0"/>
              <a:t>regression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Ridge</a:t>
            </a:r>
            <a:r>
              <a:rPr spc="-204" dirty="0"/>
              <a:t> </a:t>
            </a:r>
            <a:r>
              <a:rPr spc="-220" dirty="0"/>
              <a:t>regression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4762" y="1949860"/>
            <a:ext cx="9748795" cy="54490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59499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70" dirty="0">
                <a:latin typeface="Trebuchet MS"/>
                <a:cs typeface="Trebuchet MS"/>
              </a:rPr>
              <a:t>We</a:t>
            </a:r>
            <a:r>
              <a:rPr sz="2500" spc="-15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minimize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following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loss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function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110363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Lasso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24752" y="1788778"/>
            <a:ext cx="2286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25" dirty="0">
                <a:latin typeface="Cambria"/>
                <a:cs typeface="Cambria"/>
              </a:rPr>
              <a:t>1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95212" y="2378160"/>
            <a:ext cx="487680" cy="27305"/>
          </a:xfrm>
          <a:custGeom>
            <a:avLst/>
            <a:gdLst/>
            <a:ahLst/>
            <a:cxnLst/>
            <a:rect l="l" t="t" r="r" b="b"/>
            <a:pathLst>
              <a:path w="487679" h="27305">
                <a:moveTo>
                  <a:pt x="487679" y="0"/>
                </a:moveTo>
                <a:lnTo>
                  <a:pt x="0" y="0"/>
                </a:lnTo>
                <a:lnTo>
                  <a:pt x="0" y="26822"/>
                </a:lnTo>
                <a:lnTo>
                  <a:pt x="487679" y="26822"/>
                </a:lnTo>
                <a:lnTo>
                  <a:pt x="4876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423152" y="2380090"/>
            <a:ext cx="4318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70" dirty="0">
                <a:latin typeface="Cambria"/>
                <a:cs typeface="Cambria"/>
              </a:rPr>
              <a:t>2</a:t>
            </a:r>
            <a:r>
              <a:rPr sz="3200" i="1" spc="-70" dirty="0"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74839" y="2042778"/>
            <a:ext cx="170180" cy="3721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50" spc="-60" dirty="0">
                <a:latin typeface="Cambria"/>
                <a:cs typeface="Cambria"/>
              </a:rPr>
              <a:t>2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90512" y="2075290"/>
            <a:ext cx="24377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1339" algn="l"/>
              </a:tabLst>
            </a:pPr>
            <a:r>
              <a:rPr sz="3200" dirty="0">
                <a:latin typeface="Cambria"/>
                <a:cs typeface="Cambria"/>
              </a:rPr>
              <a:t>∥</a:t>
            </a:r>
            <a:r>
              <a:rPr sz="3200" b="1" dirty="0">
                <a:latin typeface="Times New Roman"/>
                <a:cs typeface="Times New Roman"/>
              </a:rPr>
              <a:t>X</a:t>
            </a:r>
            <a:r>
              <a:rPr sz="3200" b="1" i="1" dirty="0">
                <a:latin typeface="Arial"/>
                <a:cs typeface="Arial"/>
              </a:rPr>
              <a:t>θ</a:t>
            </a:r>
            <a:r>
              <a:rPr sz="3200" b="1" i="1" spc="-200" dirty="0">
                <a:latin typeface="Arial"/>
                <a:cs typeface="Arial"/>
              </a:rPr>
              <a:t> </a:t>
            </a:r>
            <a:r>
              <a:rPr sz="3200" spc="405" dirty="0">
                <a:latin typeface="Cambria"/>
                <a:cs typeface="Cambria"/>
              </a:rPr>
              <a:t>−</a:t>
            </a:r>
            <a:r>
              <a:rPr sz="3200" spc="-15" dirty="0">
                <a:latin typeface="Cambria"/>
                <a:cs typeface="Cambria"/>
              </a:rPr>
              <a:t> </a:t>
            </a:r>
            <a:r>
              <a:rPr sz="3200" b="1" spc="60" dirty="0">
                <a:latin typeface="Times New Roman"/>
                <a:cs typeface="Times New Roman"/>
              </a:rPr>
              <a:t>y</a:t>
            </a:r>
            <a:r>
              <a:rPr sz="3200" spc="60" dirty="0">
                <a:latin typeface="Cambria"/>
                <a:cs typeface="Cambria"/>
              </a:rPr>
              <a:t>∥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405" dirty="0">
                <a:latin typeface="Cambria"/>
                <a:cs typeface="Cambria"/>
              </a:rPr>
              <a:t>+</a:t>
            </a:r>
            <a:r>
              <a:rPr sz="3200" spc="5" dirty="0">
                <a:latin typeface="Cambria"/>
                <a:cs typeface="Cambria"/>
              </a:rPr>
              <a:t> </a:t>
            </a:r>
            <a:r>
              <a:rPr sz="3200" i="1" spc="30" dirty="0">
                <a:latin typeface="Times New Roman"/>
                <a:cs typeface="Times New Roman"/>
              </a:rPr>
              <a:t>α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47516" y="2287024"/>
            <a:ext cx="550545" cy="774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515"/>
              </a:lnSpc>
              <a:spcBef>
                <a:spcPts val="100"/>
              </a:spcBef>
            </a:pPr>
            <a:r>
              <a:rPr sz="3200" spc="2025" dirty="0">
                <a:latin typeface="Sitka Small"/>
                <a:cs typeface="Sitka Small"/>
              </a:rPr>
              <a:t>∑</a:t>
            </a:r>
            <a:endParaRPr sz="3200">
              <a:latin typeface="Sitka Small"/>
              <a:cs typeface="Sitka Small"/>
            </a:endParaRPr>
          </a:p>
          <a:p>
            <a:pPr algn="ctr">
              <a:lnSpc>
                <a:spcPts val="2375"/>
              </a:lnSpc>
            </a:pPr>
            <a:r>
              <a:rPr sz="2250" i="1" spc="-50" dirty="0">
                <a:latin typeface="Times New Roman"/>
                <a:cs typeface="Times New Roman"/>
              </a:rPr>
              <a:t>i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96315" y="2294746"/>
            <a:ext cx="106045" cy="3721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50" i="1" spc="-50" dirty="0">
                <a:latin typeface="Times New Roman"/>
                <a:cs typeface="Times New Roman"/>
              </a:rPr>
              <a:t>i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40318" y="2075290"/>
            <a:ext cx="6369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mbria"/>
                <a:cs typeface="Cambria"/>
              </a:rPr>
              <a:t>|</a:t>
            </a:r>
            <a:r>
              <a:rPr sz="3200" spc="-350" dirty="0">
                <a:latin typeface="Cambria"/>
                <a:cs typeface="Cambria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θ</a:t>
            </a:r>
            <a:r>
              <a:rPr sz="3200" i="1" spc="3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Cambria"/>
                <a:cs typeface="Cambria"/>
              </a:rPr>
              <a:t>|</a:t>
            </a:r>
            <a:endParaRPr sz="3200">
              <a:latin typeface="Cambria"/>
              <a:cs typeface="Cambr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3298" y="3229330"/>
            <a:ext cx="9143566" cy="51107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1403</Words>
  <Application>Microsoft Office PowerPoint</Application>
  <PresentationFormat>Custom</PresentationFormat>
  <Paragraphs>298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MingLiU_HKSCS-ExtB</vt:lpstr>
      <vt:lpstr>Arial</vt:lpstr>
      <vt:lpstr>Arial MT</vt:lpstr>
      <vt:lpstr>Cambria</vt:lpstr>
      <vt:lpstr>Sitka Small</vt:lpstr>
      <vt:lpstr>Times New Roman</vt:lpstr>
      <vt:lpstr>Trebuchet MS</vt:lpstr>
      <vt:lpstr>Verdana</vt:lpstr>
      <vt:lpstr>Office Theme</vt:lpstr>
      <vt:lpstr>Machine Learning</vt:lpstr>
      <vt:lpstr>Introduction</vt:lpstr>
      <vt:lpstr>Case study: univariate linear regression</vt:lpstr>
      <vt:lpstr>How to choose model parameters?</vt:lpstr>
      <vt:lpstr>First derivative test</vt:lpstr>
      <vt:lpstr>Gradient</vt:lpstr>
      <vt:lpstr>Back to our previous example</vt:lpstr>
      <vt:lpstr>Back to our previous example</vt:lpstr>
      <vt:lpstr>Multivariate Linear Regression</vt:lpstr>
      <vt:lpstr>Compact representation</vt:lpstr>
      <vt:lpstr>A closed form solution</vt:lpstr>
      <vt:lpstr>Linear regression using the Normal equation</vt:lpstr>
      <vt:lpstr>Linear regression using the Normal equation</vt:lpstr>
      <vt:lpstr>Linear regression using Scikit-Learn</vt:lpstr>
      <vt:lpstr>Computational complexity</vt:lpstr>
      <vt:lpstr>Gradient descent</vt:lpstr>
      <vt:lpstr>Hyperparameter</vt:lpstr>
      <vt:lpstr>Challenges of using gradient descent</vt:lpstr>
      <vt:lpstr>Gradient descent implementation</vt:lpstr>
      <vt:lpstr>Stochastic gradient descent (SGD)</vt:lpstr>
      <vt:lpstr>Implementation of stochastic gradient descent</vt:lpstr>
      <vt:lpstr>Linear regression using SGD</vt:lpstr>
      <vt:lpstr>Mini-batch gradient descent</vt:lpstr>
      <vt:lpstr>Comparison of linear regression implementations</vt:lpstr>
      <vt:lpstr>Polynomial regression</vt:lpstr>
      <vt:lpstr>Polynomial regression</vt:lpstr>
      <vt:lpstr>Polynomial regression</vt:lpstr>
      <vt:lpstr>Selecting higher-degree polynomials</vt:lpstr>
      <vt:lpstr>Selecting higher-degree polynomials</vt:lpstr>
      <vt:lpstr>Learning curve</vt:lpstr>
      <vt:lpstr>Learning curve</vt:lpstr>
      <vt:lpstr>Bias/variance tradeoff</vt:lpstr>
      <vt:lpstr>Regularized linear models</vt:lpstr>
      <vt:lpstr>Ridge regression</vt:lpstr>
      <vt:lpstr>Ridge regression</vt:lpstr>
      <vt:lpstr>Lasso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03_lecture3</dc:title>
  <dc:creator>HP</dc:creator>
  <cp:lastModifiedBy>Dr. Muhammad Adeel</cp:lastModifiedBy>
  <cp:revision>2</cp:revision>
  <dcterms:created xsi:type="dcterms:W3CDTF">2025-08-31T16:36:19Z</dcterms:created>
  <dcterms:modified xsi:type="dcterms:W3CDTF">2025-10-14T03:42:56Z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2022-02-07T00:00:00Z</vt:filetime>
  </property>
  <property fmtid="{D5CDD505-2E9C-101B-9397-08002B2CF9AE}" pid="3" name="Creator">
    <vt:lpwstr>Keynote</vt:lpwstr>
  </property>
  <property fmtid="{D5CDD505-2E9C-101B-9397-08002B2CF9AE}" pid="4" name="LastSaved">
    <vt:filetime>2025-08-31T00:00:00Z</vt:filetime>
  </property>
  <property fmtid="{D5CDD505-2E9C-101B-9397-08002B2CF9AE}" pid="5" name="Producer">
    <vt:lpwstr>macOS Version 12.0.1 (Build 21A559) Quartz PDFContext</vt:lpwstr>
  </property>
</Properties>
</file>