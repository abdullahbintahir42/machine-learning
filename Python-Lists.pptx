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4630400" cy="8229600"/>
  <p:notesSz cx="8229600" cy="14630400"/>
  <p:embeddedFontLst>
    <p:embeddedFont>
      <p:font typeface="Instrument Sans Semi Bold" pitchFamily="34" charset="0"/>
      <p:regular r:id="rId17"/>
    </p:embeddedFont>
    <p:embeddedFont>
      <p:font typeface="Instrument Sans Semi Bold" pitchFamily="34" charset="-122"/>
      <p:regular r:id="rId18"/>
    </p:embeddedFont>
    <p:embeddedFont>
      <p:font typeface="Instrument Sans Semi Bold" pitchFamily="34" charset="-120"/>
      <p:regular r:id="rId19"/>
    </p:embeddedFont>
    <p:embeddedFont>
      <p:font typeface="Instrument Sans Medium" pitchFamily="34" charset="0"/>
      <p:regular r:id="rId20"/>
    </p:embeddedFont>
    <p:embeddedFont>
      <p:font typeface="Instrument Sans Medium" pitchFamily="34" charset="-122"/>
      <p:regular r:id="rId21"/>
    </p:embeddedFont>
    <p:embeddedFont>
      <p:font typeface="Instrument Sans Medium" pitchFamily="34" charset="-120"/>
      <p:regular r:id="rId22"/>
    </p:embeddedFont>
    <p:embeddedFont>
      <p:font typeface="Consolas" panose="020B0609020204030204" charset="0"/>
      <p:regular r:id="rId23"/>
      <p:bold r:id="rId24"/>
      <p:italic r:id="rId25"/>
      <p:boldItalic r:id="rId26"/>
    </p:embeddedFont>
    <p:embeddedFont>
      <p:font typeface="Consolas" panose="020B0609020204030204" pitchFamily="34" charset="-122"/>
      <p:regular r:id="rId27"/>
    </p:embeddedFont>
    <p:embeddedFont>
      <p:font typeface="Consolas" panose="020B0609020204030204" pitchFamily="34" charset="-120"/>
      <p:regular r:id="rId28"/>
    </p:embeddedFont>
    <p:embeddedFont>
      <p:font typeface="Calibri" panose="020F0502020204030204" charset="0"/>
      <p:regular r:id="rId29"/>
      <p:bold r:id="rId30"/>
      <p:italic r:id="rId31"/>
      <p:boldItalic r:id="rId3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font" Target="fonts/font16.fntdata"/><Relationship Id="rId31" Type="http://schemas.openxmlformats.org/officeDocument/2006/relationships/font" Target="fonts/font15.fntdata"/><Relationship Id="rId30" Type="http://schemas.openxmlformats.org/officeDocument/2006/relationships/font" Target="fonts/font14.fntdata"/><Relationship Id="rId3" Type="http://schemas.openxmlformats.org/officeDocument/2006/relationships/slide" Target="slides/slide1.xml"/><Relationship Id="rId29" Type="http://schemas.openxmlformats.org/officeDocument/2006/relationships/font" Target="fonts/font13.fntdata"/><Relationship Id="rId28" Type="http://schemas.openxmlformats.org/officeDocument/2006/relationships/font" Target="fonts/font12.fntdata"/><Relationship Id="rId27" Type="http://schemas.openxmlformats.org/officeDocument/2006/relationships/font" Target="fonts/font11.fntdata"/><Relationship Id="rId26" Type="http://schemas.openxmlformats.org/officeDocument/2006/relationships/font" Target="fonts/font10.fntdata"/><Relationship Id="rId25" Type="http://schemas.openxmlformats.org/officeDocument/2006/relationships/font" Target="fonts/font9.fntdata"/><Relationship Id="rId24" Type="http://schemas.openxmlformats.org/officeDocument/2006/relationships/font" Target="fonts/font8.fntdata"/><Relationship Id="rId23" Type="http://schemas.openxmlformats.org/officeDocument/2006/relationships/font" Target="fonts/font7.fntdata"/><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A2A2D">
              <a:alpha val="9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0" Type="http://schemas.openxmlformats.org/officeDocument/2006/relationships/notesSlide" Target="../notesSlides/notesSlide3.xml"/><Relationship Id="rId2" Type="http://schemas.openxmlformats.org/officeDocument/2006/relationships/tags" Target="../tags/tag2.xml"/><Relationship Id="rId19" Type="http://schemas.openxmlformats.org/officeDocument/2006/relationships/slideLayout" Target="../slideLayouts/slideLayout4.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3" Type="http://schemas.openxmlformats.org/officeDocument/2006/relationships/notesSlide" Target="../notesSlides/notesSlide4.xml"/><Relationship Id="rId22" Type="http://schemas.openxmlformats.org/officeDocument/2006/relationships/slideLayout" Target="../slideLayouts/slideLayout5.xml"/><Relationship Id="rId21" Type="http://schemas.openxmlformats.org/officeDocument/2006/relationships/tags" Target="../tags/tag39.xml"/><Relationship Id="rId20" Type="http://schemas.openxmlformats.org/officeDocument/2006/relationships/tags" Target="../tags/tag38.xml"/><Relationship Id="rId2" Type="http://schemas.openxmlformats.org/officeDocument/2006/relationships/tags" Target="../tags/tag20.xml"/><Relationship Id="rId19" Type="http://schemas.openxmlformats.org/officeDocument/2006/relationships/tags" Target="../tags/tag37.xml"/><Relationship Id="rId18" Type="http://schemas.openxmlformats.org/officeDocument/2006/relationships/tags" Target="../tags/tag36.xml"/><Relationship Id="rId17" Type="http://schemas.openxmlformats.org/officeDocument/2006/relationships/tags" Target="../tags/tag35.xml"/><Relationship Id="rId16" Type="http://schemas.openxmlformats.org/officeDocument/2006/relationships/tags" Target="../tags/tag34.xml"/><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19.xml"/></Relationships>
</file>

<file path=ppt/slides/_rels/slide5.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2" Type="http://schemas.openxmlformats.org/officeDocument/2006/relationships/notesSlide" Target="../notesSlides/notesSlide5.xml"/><Relationship Id="rId11" Type="http://schemas.openxmlformats.org/officeDocument/2006/relationships/slideLayout" Target="../slideLayouts/slideLayout6.xml"/><Relationship Id="rId10" Type="http://schemas.openxmlformats.org/officeDocument/2006/relationships/tags" Target="../tags/tag49.xml"/><Relationship Id="rId1" Type="http://schemas.openxmlformats.org/officeDocument/2006/relationships/tags" Target="../tags/tag40.xml"/></Relationships>
</file>

<file path=ppt/slides/_rels/slide6.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4" Type="http://schemas.openxmlformats.org/officeDocument/2006/relationships/notesSlide" Target="../notesSlides/notesSlide6.xml"/><Relationship Id="rId33" Type="http://schemas.openxmlformats.org/officeDocument/2006/relationships/slideLayout" Target="../slideLayouts/slideLayout7.xml"/><Relationship Id="rId32" Type="http://schemas.openxmlformats.org/officeDocument/2006/relationships/tags" Target="../tags/tag81.xml"/><Relationship Id="rId31" Type="http://schemas.openxmlformats.org/officeDocument/2006/relationships/tags" Target="../tags/tag80.xml"/><Relationship Id="rId30" Type="http://schemas.openxmlformats.org/officeDocument/2006/relationships/tags" Target="../tags/tag79.xml"/><Relationship Id="rId3" Type="http://schemas.openxmlformats.org/officeDocument/2006/relationships/tags" Target="../tags/tag52.xml"/><Relationship Id="rId29" Type="http://schemas.openxmlformats.org/officeDocument/2006/relationships/tags" Target="../tags/tag78.xml"/><Relationship Id="rId28" Type="http://schemas.openxmlformats.org/officeDocument/2006/relationships/tags" Target="../tags/tag77.xml"/><Relationship Id="rId27" Type="http://schemas.openxmlformats.org/officeDocument/2006/relationships/tags" Target="../tags/tag76.xml"/><Relationship Id="rId26" Type="http://schemas.openxmlformats.org/officeDocument/2006/relationships/tags" Target="../tags/tag75.xml"/><Relationship Id="rId25" Type="http://schemas.openxmlformats.org/officeDocument/2006/relationships/tags" Target="../tags/tag74.xml"/><Relationship Id="rId24" Type="http://schemas.openxmlformats.org/officeDocument/2006/relationships/tags" Target="../tags/tag73.xml"/><Relationship Id="rId23" Type="http://schemas.openxmlformats.org/officeDocument/2006/relationships/tags" Target="../tags/tag72.xml"/><Relationship Id="rId22" Type="http://schemas.openxmlformats.org/officeDocument/2006/relationships/tags" Target="../tags/tag71.xml"/><Relationship Id="rId21" Type="http://schemas.openxmlformats.org/officeDocument/2006/relationships/tags" Target="../tags/tag70.xml"/><Relationship Id="rId20" Type="http://schemas.openxmlformats.org/officeDocument/2006/relationships/tags" Target="../tags/tag69.xml"/><Relationship Id="rId2" Type="http://schemas.openxmlformats.org/officeDocument/2006/relationships/tags" Target="../tags/tag51.xml"/><Relationship Id="rId19" Type="http://schemas.openxmlformats.org/officeDocument/2006/relationships/tags" Target="../tags/tag68.xml"/><Relationship Id="rId18" Type="http://schemas.openxmlformats.org/officeDocument/2006/relationships/tags" Target="../tags/tag67.xml"/><Relationship Id="rId17" Type="http://schemas.openxmlformats.org/officeDocument/2006/relationships/tags" Target="../tags/tag66.xml"/><Relationship Id="rId16" Type="http://schemas.openxmlformats.org/officeDocument/2006/relationships/tags" Target="../tags/tag65.xml"/><Relationship Id="rId15" Type="http://schemas.openxmlformats.org/officeDocument/2006/relationships/tags" Target="../tags/tag64.xml"/><Relationship Id="rId14" Type="http://schemas.openxmlformats.org/officeDocument/2006/relationships/tags" Target="../tags/tag63.xml"/><Relationship Id="rId13" Type="http://schemas.openxmlformats.org/officeDocument/2006/relationships/tags" Target="../tags/tag62.xml"/><Relationship Id="rId12" Type="http://schemas.openxmlformats.org/officeDocument/2006/relationships/tags" Target="../tags/tag61.xml"/><Relationship Id="rId11" Type="http://schemas.openxmlformats.org/officeDocument/2006/relationships/tags" Target="../tags/tag60.xml"/><Relationship Id="rId10" Type="http://schemas.openxmlformats.org/officeDocument/2006/relationships/tags" Target="../tags/tag59.xml"/><Relationship Id="rId1" Type="http://schemas.openxmlformats.org/officeDocument/2006/relationships/tags" Target="../tags/tag50.xml"/></Relationships>
</file>

<file path=ppt/slides/_rels/slide7.xml.rels><?xml version="1.0" encoding="UTF-8" standalone="yes"?>
<Relationships xmlns="http://schemas.openxmlformats.org/package/2006/relationships"><Relationship Id="rId9" Type="http://schemas.openxmlformats.org/officeDocument/2006/relationships/tags" Target="../tags/tag90.xml"/><Relationship Id="rId8" Type="http://schemas.openxmlformats.org/officeDocument/2006/relationships/tags" Target="../tags/tag89.xml"/><Relationship Id="rId7" Type="http://schemas.openxmlformats.org/officeDocument/2006/relationships/tags" Target="../tags/tag88.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 Id="rId3" Type="http://schemas.openxmlformats.org/officeDocument/2006/relationships/tags" Target="../tags/tag84.xml"/><Relationship Id="rId2" Type="http://schemas.openxmlformats.org/officeDocument/2006/relationships/tags" Target="../tags/tag83.xml"/><Relationship Id="rId17" Type="http://schemas.openxmlformats.org/officeDocument/2006/relationships/notesSlide" Target="../notesSlides/notesSlide7.xml"/><Relationship Id="rId16" Type="http://schemas.openxmlformats.org/officeDocument/2006/relationships/slideLayout" Target="../slideLayouts/slideLayout8.xml"/><Relationship Id="rId15" Type="http://schemas.openxmlformats.org/officeDocument/2006/relationships/tags" Target="../tags/tag96.xml"/><Relationship Id="rId14" Type="http://schemas.openxmlformats.org/officeDocument/2006/relationships/tags" Target="../tags/tag95.xml"/><Relationship Id="rId13" Type="http://schemas.openxmlformats.org/officeDocument/2006/relationships/tags" Target="../tags/tag94.xml"/><Relationship Id="rId12" Type="http://schemas.openxmlformats.org/officeDocument/2006/relationships/tags" Target="../tags/tag93.xml"/><Relationship Id="rId11" Type="http://schemas.openxmlformats.org/officeDocument/2006/relationships/tags" Target="../tags/tag92.xml"/><Relationship Id="rId10" Type="http://schemas.openxmlformats.org/officeDocument/2006/relationships/tags" Target="../tags/tag91.xml"/><Relationship Id="rId1" Type="http://schemas.openxmlformats.org/officeDocument/2006/relationships/tags" Target="../tags/tag8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9" Type="http://schemas.openxmlformats.org/officeDocument/2006/relationships/tags" Target="../tags/tag105.xml"/><Relationship Id="rId8" Type="http://schemas.openxmlformats.org/officeDocument/2006/relationships/tags" Target="../tags/tag104.xml"/><Relationship Id="rId7" Type="http://schemas.openxmlformats.org/officeDocument/2006/relationships/tags" Target="../tags/tag103.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 Id="rId3" Type="http://schemas.openxmlformats.org/officeDocument/2006/relationships/tags" Target="../tags/tag99.xml"/><Relationship Id="rId23" Type="http://schemas.openxmlformats.org/officeDocument/2006/relationships/notesSlide" Target="../notesSlides/notesSlide9.xml"/><Relationship Id="rId22" Type="http://schemas.openxmlformats.org/officeDocument/2006/relationships/slideLayout" Target="../slideLayouts/slideLayout10.xml"/><Relationship Id="rId21" Type="http://schemas.openxmlformats.org/officeDocument/2006/relationships/tags" Target="../tags/tag117.xml"/><Relationship Id="rId20" Type="http://schemas.openxmlformats.org/officeDocument/2006/relationships/tags" Target="../tags/tag116.xml"/><Relationship Id="rId2" Type="http://schemas.openxmlformats.org/officeDocument/2006/relationships/tags" Target="../tags/tag98.xml"/><Relationship Id="rId19" Type="http://schemas.openxmlformats.org/officeDocument/2006/relationships/tags" Target="../tags/tag115.xml"/><Relationship Id="rId18" Type="http://schemas.openxmlformats.org/officeDocument/2006/relationships/tags" Target="../tags/tag114.xml"/><Relationship Id="rId17" Type="http://schemas.openxmlformats.org/officeDocument/2006/relationships/tags" Target="../tags/tag113.xml"/><Relationship Id="rId16" Type="http://schemas.openxmlformats.org/officeDocument/2006/relationships/tags" Target="../tags/tag112.xml"/><Relationship Id="rId15" Type="http://schemas.openxmlformats.org/officeDocument/2006/relationships/tags" Target="../tags/tag111.xml"/><Relationship Id="rId14" Type="http://schemas.openxmlformats.org/officeDocument/2006/relationships/tags" Target="../tags/tag110.xml"/><Relationship Id="rId13" Type="http://schemas.openxmlformats.org/officeDocument/2006/relationships/tags" Target="../tags/tag109.xml"/><Relationship Id="rId12" Type="http://schemas.openxmlformats.org/officeDocument/2006/relationships/tags" Target="../tags/tag108.xml"/><Relationship Id="rId11" Type="http://schemas.openxmlformats.org/officeDocument/2006/relationships/tags" Target="../tags/tag107.xml"/><Relationship Id="rId10" Type="http://schemas.openxmlformats.org/officeDocument/2006/relationships/tags" Target="../tags/tag106.xml"/><Relationship Id="rId1" Type="http://schemas.openxmlformats.org/officeDocument/2006/relationships/tags" Target="../tags/tag9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353508"/>
            <a:ext cx="7556421" cy="1240155"/>
          </a:xfrm>
          <a:prstGeom prst="rect">
            <a:avLst/>
          </a:prstGeom>
          <a:noFill/>
        </p:spPr>
        <p:txBody>
          <a:bodyPr wrap="square" lIns="0" tIns="0" rIns="0" bIns="0" rtlCol="0" anchor="t"/>
          <a:lstStyle/>
          <a:p>
            <a:pPr marL="0" indent="0" algn="l">
              <a:lnSpc>
                <a:spcPts val="4850"/>
              </a:lnSpc>
              <a:buNone/>
            </a:pPr>
            <a:r>
              <a:rPr lang="en-US" sz="3900" dirty="0">
                <a:solidFill>
                  <a:srgbClr val="CBCCCE"/>
                </a:solidFill>
                <a:latin typeface="Instrument Sans Semi Bold" pitchFamily="34" charset="0"/>
                <a:ea typeface="Instrument Sans Semi Bold" pitchFamily="34" charset="-122"/>
                <a:cs typeface="Instrument Sans Semi Bold" pitchFamily="34" charset="-120"/>
              </a:rPr>
              <a:t>Python Lists: From Basics to Advanced Mastery</a:t>
            </a:r>
            <a:endParaRPr lang="en-US" sz="3900" dirty="0"/>
          </a:p>
        </p:txBody>
      </p:sp>
      <p:sp>
        <p:nvSpPr>
          <p:cNvPr id="4" name="Text 1"/>
          <p:cNvSpPr/>
          <p:nvPr/>
        </p:nvSpPr>
        <p:spPr>
          <a:xfrm>
            <a:off x="793790" y="3891320"/>
            <a:ext cx="7556421" cy="1984772"/>
          </a:xfrm>
          <a:prstGeom prst="rect">
            <a:avLst/>
          </a:prstGeom>
          <a:noFill/>
        </p:spPr>
        <p:txBody>
          <a:bodyPr wrap="square" lIns="0" tIns="0" rIns="0" bIns="0" rtlCol="0" anchor="t"/>
          <a:lstStyle/>
          <a:p>
            <a:pPr marL="0" indent="0" algn="l">
              <a:lnSpc>
                <a:spcPts val="3100"/>
              </a:lnSpc>
              <a:buNone/>
            </a:pPr>
            <a:r>
              <a:rPr lang="en-US" sz="1950" dirty="0">
                <a:solidFill>
                  <a:srgbClr val="CFD0D8"/>
                </a:solidFill>
                <a:latin typeface="Instrument Sans Medium" pitchFamily="34" charset="0"/>
                <a:ea typeface="Instrument Sans Medium" pitchFamily="34" charset="-122"/>
                <a:cs typeface="Instrument Sans Medium" pitchFamily="34" charset="-120"/>
              </a:rPr>
              <a:t>Master the most versatile data structure in Python. From creating your first list to building complex multi-dimensional arrays, this comprehensive guide takes you through every concept, method, and best practice you need to become proficient with Python lists.</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06862"/>
            <a:ext cx="4961811" cy="620078"/>
          </a:xfrm>
          <a:prstGeom prst="rect">
            <a:avLst/>
          </a:prstGeom>
          <a:noFill/>
        </p:spPr>
        <p:txBody>
          <a:bodyPr wrap="none" lIns="0" tIns="0" rIns="0" bIns="0" rtlCol="0" anchor="t"/>
          <a:lstStyle/>
          <a:p>
            <a:pPr marL="0" indent="0" algn="l">
              <a:lnSpc>
                <a:spcPts val="4850"/>
              </a:lnSpc>
              <a:buNone/>
            </a:pPr>
            <a:r>
              <a:rPr lang="en-US" sz="3900" dirty="0">
                <a:solidFill>
                  <a:srgbClr val="CBCCCE"/>
                </a:solidFill>
                <a:latin typeface="Instrument Sans Semi Bold" pitchFamily="34" charset="0"/>
                <a:ea typeface="Instrument Sans Semi Bold" pitchFamily="34" charset="-122"/>
                <a:cs typeface="Instrument Sans Semi Bold" pitchFamily="34" charset="-120"/>
              </a:rPr>
              <a:t>What are Lists?</a:t>
            </a:r>
            <a:endParaRPr lang="en-US" sz="3900" dirty="0"/>
          </a:p>
        </p:txBody>
      </p:sp>
      <p:sp>
        <p:nvSpPr>
          <p:cNvPr id="3" name="Text 1"/>
          <p:cNvSpPr/>
          <p:nvPr/>
        </p:nvSpPr>
        <p:spPr>
          <a:xfrm>
            <a:off x="793790" y="1703189"/>
            <a:ext cx="6279356" cy="396954"/>
          </a:xfrm>
          <a:prstGeom prst="rect">
            <a:avLst/>
          </a:prstGeom>
          <a:noFill/>
        </p:spPr>
        <p:txBody>
          <a:bodyPr wrap="none" lIns="0" tIns="0" rIns="0" bIns="0" rtlCol="0" anchor="t"/>
          <a:lstStyle/>
          <a:p>
            <a:pPr marL="0" indent="0" algn="l">
              <a:lnSpc>
                <a:spcPts val="3100"/>
              </a:lnSpc>
              <a:buNone/>
            </a:pPr>
            <a:r>
              <a:rPr lang="en-US" sz="1950" dirty="0">
                <a:solidFill>
                  <a:srgbClr val="CFD0D8"/>
                </a:solidFill>
                <a:latin typeface="Instrument Sans Medium" pitchFamily="34" charset="0"/>
                <a:ea typeface="Instrument Sans Medium" pitchFamily="34" charset="-122"/>
                <a:cs typeface="Instrument Sans Medium" pitchFamily="34" charset="-120"/>
              </a:rPr>
              <a:t>The Definition</a:t>
            </a:r>
            <a:endParaRPr lang="en-US" sz="1950" dirty="0"/>
          </a:p>
        </p:txBody>
      </p:sp>
      <p:sp>
        <p:nvSpPr>
          <p:cNvPr id="4" name="Text 2"/>
          <p:cNvSpPr/>
          <p:nvPr/>
        </p:nvSpPr>
        <p:spPr>
          <a:xfrm>
            <a:off x="793790" y="2278737"/>
            <a:ext cx="6279356" cy="2381726"/>
          </a:xfrm>
          <a:prstGeom prst="rect">
            <a:avLst/>
          </a:prstGeom>
          <a:noFill/>
        </p:spPr>
        <p:txBody>
          <a:bodyPr wrap="square" lIns="0" tIns="0" rIns="0" bIns="0" rtlCol="0" anchor="t"/>
          <a:lstStyle/>
          <a:p>
            <a:pPr marL="0" indent="0" algn="l">
              <a:lnSpc>
                <a:spcPts val="3100"/>
              </a:lnSpc>
              <a:buNone/>
            </a:pPr>
            <a:r>
              <a:rPr lang="en-US" sz="1950" dirty="0">
                <a:solidFill>
                  <a:srgbClr val="CFD0D8"/>
                </a:solidFill>
                <a:latin typeface="Instrument Sans Medium" pitchFamily="34" charset="0"/>
                <a:ea typeface="Instrument Sans Medium" pitchFamily="34" charset="-122"/>
                <a:cs typeface="Instrument Sans Medium" pitchFamily="34" charset="-120"/>
              </a:rPr>
              <a:t>A list is an ordered, mutable collection of items in Python. Unlike tuples or sets, lists allow you to store multiple elements of any data type and modify them after creation. Lists are fundamental to Python programming and serve as the backbone for countless applications.</a:t>
            </a:r>
            <a:endParaRPr lang="en-US" sz="1950" dirty="0"/>
          </a:p>
        </p:txBody>
      </p:sp>
      <p:sp>
        <p:nvSpPr>
          <p:cNvPr id="5" name="Text 3"/>
          <p:cNvSpPr/>
          <p:nvPr/>
        </p:nvSpPr>
        <p:spPr>
          <a:xfrm>
            <a:off x="793790" y="4839057"/>
            <a:ext cx="6279356" cy="1190863"/>
          </a:xfrm>
          <a:prstGeom prst="rect">
            <a:avLst/>
          </a:prstGeom>
          <a:noFill/>
        </p:spPr>
        <p:txBody>
          <a:bodyPr wrap="square" lIns="0" tIns="0" rIns="0" bIns="0" rtlCol="0" anchor="t"/>
          <a:lstStyle/>
          <a:p>
            <a:pPr marL="0" indent="0" algn="l">
              <a:lnSpc>
                <a:spcPts val="3100"/>
              </a:lnSpc>
              <a:buNone/>
            </a:pPr>
            <a:r>
              <a:rPr lang="en-US" sz="1950" b="1" dirty="0">
                <a:solidFill>
                  <a:srgbClr val="CFD0D8"/>
                </a:solidFill>
                <a:latin typeface="Instrument Sans Medium" pitchFamily="34" charset="0"/>
                <a:ea typeface="Instrument Sans Medium" pitchFamily="34" charset="-122"/>
                <a:cs typeface="Instrument Sans Medium" pitchFamily="34" charset="-120"/>
              </a:rPr>
              <a:t>Key characteristic:</a:t>
            </a:r>
            <a:r>
              <a:rPr lang="en-US" sz="1950" dirty="0">
                <a:solidFill>
                  <a:srgbClr val="CFD0D8"/>
                </a:solidFill>
                <a:latin typeface="Instrument Sans Medium" pitchFamily="34" charset="0"/>
                <a:ea typeface="Instrument Sans Medium" pitchFamily="34" charset="-122"/>
                <a:cs typeface="Instrument Sans Medium" pitchFamily="34" charset="-120"/>
              </a:rPr>
              <a:t> Lists maintain the order in which elements are added, making them ideal for sequential data.</a:t>
            </a:r>
            <a:endParaRPr lang="en-US" sz="1950" dirty="0"/>
          </a:p>
        </p:txBody>
      </p:sp>
      <p:sp>
        <p:nvSpPr>
          <p:cNvPr id="6" name="Text 4"/>
          <p:cNvSpPr/>
          <p:nvPr/>
        </p:nvSpPr>
        <p:spPr>
          <a:xfrm>
            <a:off x="7564874" y="1703189"/>
            <a:ext cx="6279356" cy="396954"/>
          </a:xfrm>
          <a:prstGeom prst="rect">
            <a:avLst/>
          </a:prstGeom>
          <a:noFill/>
        </p:spPr>
        <p:txBody>
          <a:bodyPr wrap="none" lIns="0" tIns="0" rIns="0" bIns="0" rtlCol="0" anchor="t"/>
          <a:lstStyle/>
          <a:p>
            <a:pPr marL="0" indent="0" algn="l">
              <a:lnSpc>
                <a:spcPts val="3100"/>
              </a:lnSpc>
              <a:buNone/>
            </a:pPr>
            <a:r>
              <a:rPr lang="en-US" sz="1950" dirty="0">
                <a:solidFill>
                  <a:srgbClr val="CFD0D8"/>
                </a:solidFill>
                <a:latin typeface="Instrument Sans Medium" pitchFamily="34" charset="0"/>
                <a:ea typeface="Instrument Sans Medium" pitchFamily="34" charset="-122"/>
                <a:cs typeface="Instrument Sans Medium" pitchFamily="34" charset="-120"/>
              </a:rPr>
              <a:t>Why Use Lists?</a:t>
            </a:r>
            <a:endParaRPr lang="en-US" sz="1950" dirty="0"/>
          </a:p>
        </p:txBody>
      </p:sp>
      <p:sp>
        <p:nvSpPr>
          <p:cNvPr id="7" name="Text 5"/>
          <p:cNvSpPr/>
          <p:nvPr/>
        </p:nvSpPr>
        <p:spPr>
          <a:xfrm>
            <a:off x="7564874" y="2278737"/>
            <a:ext cx="6279356" cy="396954"/>
          </a:xfrm>
          <a:prstGeom prst="rect">
            <a:avLst/>
          </a:prstGeom>
          <a:noFill/>
        </p:spPr>
        <p:txBody>
          <a:bodyPr wrap="none" lIns="0" tIns="0" rIns="0" bIns="0" rtlCol="0" anchor="t"/>
          <a:lstStyle/>
          <a:p>
            <a:pPr marL="0" indent="0" algn="l">
              <a:lnSpc>
                <a:spcPts val="2500"/>
              </a:lnSpc>
              <a:buSzPct val="100000"/>
              <a:buNone/>
            </a:pPr>
            <a:r>
              <a:rPr lang="en-US" sz="1550" b="1" dirty="0">
                <a:solidFill>
                  <a:srgbClr val="CFD0D8"/>
                </a:solidFill>
                <a:latin typeface="Instrument Sans Medium" pitchFamily="34" charset="0"/>
                <a:ea typeface="Instrument Sans Medium" pitchFamily="34" charset="-122"/>
                <a:cs typeface="Instrument Sans Medium" pitchFamily="34" charset="-120"/>
              </a:rPr>
              <a:t>Flexibility:</a:t>
            </a:r>
            <a:r>
              <a:rPr lang="en-US" sz="1550" dirty="0">
                <a:solidFill>
                  <a:srgbClr val="CFD0D8"/>
                </a:solidFill>
                <a:latin typeface="Instrument Sans Medium" pitchFamily="34" charset="0"/>
                <a:ea typeface="Instrument Sans Medium" pitchFamily="34" charset="-122"/>
                <a:cs typeface="Instrument Sans Medium" pitchFamily="34" charset="-120"/>
              </a:rPr>
              <a:t> Store mixed data types in one collection</a:t>
            </a:r>
            <a:endParaRPr lang="en-US" sz="1550" dirty="0"/>
          </a:p>
        </p:txBody>
      </p:sp>
      <p:sp>
        <p:nvSpPr>
          <p:cNvPr id="8" name="Text 6"/>
          <p:cNvSpPr/>
          <p:nvPr/>
        </p:nvSpPr>
        <p:spPr>
          <a:xfrm>
            <a:off x="7564755" y="2745105"/>
            <a:ext cx="6279515" cy="494665"/>
          </a:xfrm>
          <a:prstGeom prst="rect">
            <a:avLst/>
          </a:prstGeom>
          <a:noFill/>
        </p:spPr>
        <p:txBody>
          <a:bodyPr wrap="square" lIns="0" tIns="0" rIns="0" bIns="0" rtlCol="0" anchor="t"/>
          <a:lstStyle/>
          <a:p>
            <a:pPr marL="0" indent="0" algn="l">
              <a:lnSpc>
                <a:spcPts val="2500"/>
              </a:lnSpc>
              <a:buSzPct val="100000"/>
              <a:buNone/>
            </a:pPr>
            <a:r>
              <a:rPr lang="en-US" sz="1550" b="1" dirty="0">
                <a:solidFill>
                  <a:srgbClr val="CFD0D8"/>
                </a:solidFill>
                <a:latin typeface="Instrument Sans Medium" pitchFamily="34" charset="0"/>
                <a:ea typeface="Instrument Sans Medium" pitchFamily="34" charset="-122"/>
                <a:cs typeface="Instrument Sans Medium" pitchFamily="34" charset="-120"/>
              </a:rPr>
              <a:t>Mutability:</a:t>
            </a:r>
            <a:r>
              <a:rPr lang="en-US" sz="1550" dirty="0">
                <a:solidFill>
                  <a:srgbClr val="CFD0D8"/>
                </a:solidFill>
                <a:latin typeface="Instrument Sans Medium" pitchFamily="34" charset="0"/>
                <a:ea typeface="Instrument Sans Medium" pitchFamily="34" charset="-122"/>
                <a:cs typeface="Instrument Sans Medium" pitchFamily="34" charset="-120"/>
              </a:rPr>
              <a:t> Add, remove, or modify elements anytime</a:t>
            </a:r>
            <a:endParaRPr lang="en-US" sz="1550" dirty="0"/>
          </a:p>
        </p:txBody>
      </p:sp>
      <p:sp>
        <p:nvSpPr>
          <p:cNvPr id="9" name="Text 7"/>
          <p:cNvSpPr/>
          <p:nvPr/>
        </p:nvSpPr>
        <p:spPr>
          <a:xfrm>
            <a:off x="7564874" y="3608427"/>
            <a:ext cx="6279356" cy="396954"/>
          </a:xfrm>
          <a:prstGeom prst="rect">
            <a:avLst/>
          </a:prstGeom>
          <a:noFill/>
        </p:spPr>
        <p:txBody>
          <a:bodyPr wrap="none" lIns="0" tIns="0" rIns="0" bIns="0" rtlCol="0" anchor="t"/>
          <a:lstStyle/>
          <a:p>
            <a:pPr marL="0" indent="0" algn="l">
              <a:lnSpc>
                <a:spcPts val="2500"/>
              </a:lnSpc>
              <a:buSzPct val="100000"/>
              <a:buNone/>
            </a:pPr>
            <a:r>
              <a:rPr lang="en-US" sz="1550" b="1" dirty="0">
                <a:solidFill>
                  <a:srgbClr val="CFD0D8"/>
                </a:solidFill>
                <a:latin typeface="Instrument Sans Medium" pitchFamily="34" charset="0"/>
                <a:ea typeface="Instrument Sans Medium" pitchFamily="34" charset="-122"/>
                <a:cs typeface="Instrument Sans Medium" pitchFamily="34" charset="-120"/>
              </a:rPr>
              <a:t>Ordered:</a:t>
            </a:r>
            <a:r>
              <a:rPr lang="en-US" sz="1550" dirty="0">
                <a:solidFill>
                  <a:srgbClr val="CFD0D8"/>
                </a:solidFill>
                <a:latin typeface="Instrument Sans Medium" pitchFamily="34" charset="0"/>
                <a:ea typeface="Instrument Sans Medium" pitchFamily="34" charset="-122"/>
                <a:cs typeface="Instrument Sans Medium" pitchFamily="34" charset="-120"/>
              </a:rPr>
              <a:t> Preserve the sequence of your data</a:t>
            </a:r>
            <a:endParaRPr lang="en-US" sz="1550" dirty="0"/>
          </a:p>
        </p:txBody>
      </p:sp>
      <p:sp>
        <p:nvSpPr>
          <p:cNvPr id="10" name="Text 8"/>
          <p:cNvSpPr/>
          <p:nvPr/>
        </p:nvSpPr>
        <p:spPr>
          <a:xfrm>
            <a:off x="7564874" y="4074795"/>
            <a:ext cx="6279356" cy="396954"/>
          </a:xfrm>
          <a:prstGeom prst="rect">
            <a:avLst/>
          </a:prstGeom>
          <a:noFill/>
        </p:spPr>
        <p:txBody>
          <a:bodyPr wrap="none" lIns="0" tIns="0" rIns="0" bIns="0" rtlCol="0" anchor="t"/>
          <a:lstStyle/>
          <a:p>
            <a:pPr marL="0" indent="0" algn="l">
              <a:lnSpc>
                <a:spcPts val="2500"/>
              </a:lnSpc>
              <a:buSzPct val="100000"/>
              <a:buNone/>
            </a:pPr>
            <a:r>
              <a:rPr lang="en-US" sz="1550" b="1" dirty="0">
                <a:solidFill>
                  <a:srgbClr val="CFD0D8"/>
                </a:solidFill>
                <a:latin typeface="Instrument Sans Medium" pitchFamily="34" charset="0"/>
                <a:ea typeface="Instrument Sans Medium" pitchFamily="34" charset="-122"/>
                <a:cs typeface="Instrument Sans Medium" pitchFamily="34" charset="-120"/>
              </a:rPr>
              <a:t>Indexable:</a:t>
            </a:r>
            <a:r>
              <a:rPr lang="en-US" sz="1550" dirty="0">
                <a:solidFill>
                  <a:srgbClr val="CFD0D8"/>
                </a:solidFill>
                <a:latin typeface="Instrument Sans Medium" pitchFamily="34" charset="0"/>
                <a:ea typeface="Instrument Sans Medium" pitchFamily="34" charset="-122"/>
                <a:cs typeface="Instrument Sans Medium" pitchFamily="34" charset="-120"/>
              </a:rPr>
              <a:t> Access elements by position instantly</a:t>
            </a:r>
            <a:endParaRPr lang="en-US" sz="1550" dirty="0"/>
          </a:p>
        </p:txBody>
      </p:sp>
      <p:sp>
        <p:nvSpPr>
          <p:cNvPr id="11" name="Text 9"/>
          <p:cNvSpPr/>
          <p:nvPr/>
        </p:nvSpPr>
        <p:spPr>
          <a:xfrm>
            <a:off x="7564874" y="4541163"/>
            <a:ext cx="6279356" cy="396954"/>
          </a:xfrm>
          <a:prstGeom prst="rect">
            <a:avLst/>
          </a:prstGeom>
          <a:noFill/>
        </p:spPr>
        <p:txBody>
          <a:bodyPr wrap="none" lIns="0" tIns="0" rIns="0" bIns="0" rtlCol="0" anchor="t"/>
          <a:lstStyle/>
          <a:p>
            <a:pPr marL="0" indent="0" algn="l">
              <a:lnSpc>
                <a:spcPts val="2500"/>
              </a:lnSpc>
              <a:buSzPct val="100000"/>
              <a:buNone/>
            </a:pPr>
            <a:r>
              <a:rPr lang="en-US" sz="1550" b="1" dirty="0">
                <a:solidFill>
                  <a:srgbClr val="CFD0D8"/>
                </a:solidFill>
                <a:latin typeface="Instrument Sans Medium" pitchFamily="34" charset="0"/>
                <a:ea typeface="Instrument Sans Medium" pitchFamily="34" charset="-122"/>
                <a:cs typeface="Instrument Sans Medium" pitchFamily="34" charset="-120"/>
              </a:rPr>
              <a:t>Versatile:</a:t>
            </a:r>
            <a:r>
              <a:rPr lang="en-US" sz="1550" dirty="0">
                <a:solidFill>
                  <a:srgbClr val="CFD0D8"/>
                </a:solidFill>
                <a:latin typeface="Instrument Sans Medium" pitchFamily="34" charset="0"/>
                <a:ea typeface="Instrument Sans Medium" pitchFamily="34" charset="-122"/>
                <a:cs typeface="Instrument Sans Medium" pitchFamily="34" charset="-120"/>
              </a:rPr>
              <a:t> Perfect for stacks, queues, and more</a:t>
            </a:r>
            <a:endParaRPr lang="en-US" sz="1550" dirty="0"/>
          </a:p>
        </p:txBody>
      </p:sp>
      <p:sp>
        <p:nvSpPr>
          <p:cNvPr id="12" name="Text 10"/>
          <p:cNvSpPr/>
          <p:nvPr/>
        </p:nvSpPr>
        <p:spPr>
          <a:xfrm>
            <a:off x="793790" y="6431756"/>
            <a:ext cx="13042821" cy="1190863"/>
          </a:xfrm>
          <a:prstGeom prst="rect">
            <a:avLst/>
          </a:prstGeom>
          <a:noFill/>
        </p:spPr>
        <p:txBody>
          <a:bodyPr wrap="square" lIns="0" tIns="0" rIns="0" bIns="0" rtlCol="0" anchor="t"/>
          <a:lstStyle/>
          <a:p>
            <a:pPr marL="0" indent="0" algn="l">
              <a:lnSpc>
                <a:spcPts val="3100"/>
              </a:lnSpc>
              <a:buNone/>
            </a:pPr>
            <a:r>
              <a:rPr lang="en-US" sz="1950" b="1" dirty="0">
                <a:solidFill>
                  <a:srgbClr val="CFD0D8"/>
                </a:solidFill>
                <a:highlight>
                  <a:srgbClr val="000000"/>
                </a:highlight>
                <a:latin typeface="Instrument Sans Medium" pitchFamily="34" charset="0"/>
                <a:ea typeface="Instrument Sans Medium" pitchFamily="34" charset="-122"/>
                <a:cs typeface="Instrument Sans Medium" pitchFamily="34" charset="-120"/>
              </a:rPr>
              <a:t>Real-world analogy:</a:t>
            </a:r>
            <a:r>
              <a:rPr lang="en-US" sz="1950" dirty="0">
                <a:solidFill>
                  <a:srgbClr val="CFD0D8"/>
                </a:solidFill>
                <a:latin typeface="Instrument Sans Medium" pitchFamily="34" charset="0"/>
                <a:ea typeface="Instrument Sans Medium" pitchFamily="34" charset="-122"/>
                <a:cs typeface="Instrument Sans Medium" pitchFamily="34" charset="-120"/>
              </a:rPr>
              <a:t> Think of a list like  a to-do list. Each </a:t>
            </a:r>
            <a:r>
              <a:rPr lang="en-US" sz="1950" dirty="0">
                <a:solidFill>
                  <a:srgbClr val="CFD0D8"/>
                </a:solidFill>
                <a:latin typeface="Instrument Sans Medium" pitchFamily="34" charset="0"/>
                <a:ea typeface="Instrument Sans Medium" pitchFamily="34" charset="-122"/>
                <a:cs typeface="Instrument Sans Medium" pitchFamily="34" charset="-120"/>
                <a:sym typeface="+mn-ea"/>
              </a:rPr>
              <a:t>to-do </a:t>
            </a:r>
            <a:r>
              <a:rPr lang="en-US" sz="1950" dirty="0">
                <a:solidFill>
                  <a:srgbClr val="CFD0D8"/>
                </a:solidFill>
                <a:latin typeface="Instrument Sans Medium" pitchFamily="34" charset="0"/>
                <a:ea typeface="Instrument Sans Medium" pitchFamily="34" charset="-122"/>
                <a:cs typeface="Instrument Sans Medium" pitchFamily="34" charset="-120"/>
              </a:rPr>
              <a:t>has a position, you can rearrange , cross them off, or add new ones. In programming, this translates to storing student grades, inventory items, or game high scores.</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351121"/>
            <a:ext cx="6934081" cy="620078"/>
          </a:xfrm>
          <a:prstGeom prst="rect">
            <a:avLst/>
          </a:prstGeom>
          <a:noFill/>
        </p:spPr>
        <p:txBody>
          <a:bodyPr wrap="none" lIns="0" tIns="0" rIns="0" bIns="0" rtlCol="0" anchor="t"/>
          <a:lstStyle/>
          <a:p>
            <a:pPr marL="0" indent="0" algn="l">
              <a:lnSpc>
                <a:spcPts val="4850"/>
              </a:lnSpc>
              <a:buNone/>
            </a:pPr>
            <a:r>
              <a:rPr lang="en-US" sz="3900" dirty="0">
                <a:solidFill>
                  <a:srgbClr val="CBCCCE"/>
                </a:solidFill>
                <a:latin typeface="Instrument Sans Semi Bold" pitchFamily="34" charset="0"/>
                <a:ea typeface="Instrument Sans Semi Bold" pitchFamily="34" charset="-122"/>
                <a:cs typeface="Instrument Sans Semi Bold" pitchFamily="34" charset="-120"/>
              </a:rPr>
              <a:t>Declaring and Initializing Lists</a:t>
            </a:r>
            <a:endParaRPr lang="en-US" sz="3900" dirty="0"/>
          </a:p>
        </p:txBody>
      </p:sp>
      <p:sp>
        <p:nvSpPr>
          <p:cNvPr id="3" name="Text 1"/>
          <p:cNvSpPr/>
          <p:nvPr/>
        </p:nvSpPr>
        <p:spPr>
          <a:xfrm>
            <a:off x="793790" y="2268855"/>
            <a:ext cx="13042821" cy="793909"/>
          </a:xfrm>
          <a:prstGeom prst="rect">
            <a:avLst/>
          </a:prstGeom>
          <a:noFill/>
        </p:spPr>
        <p:txBody>
          <a:bodyPr wrap="square" lIns="0" tIns="0" rIns="0" bIns="0" rtlCol="0" anchor="t"/>
          <a:lstStyle/>
          <a:p>
            <a:pPr marL="0" indent="0" algn="l">
              <a:lnSpc>
                <a:spcPts val="3100"/>
              </a:lnSpc>
              <a:buNone/>
            </a:pPr>
            <a:r>
              <a:rPr lang="en-US" sz="1950" dirty="0">
                <a:solidFill>
                  <a:srgbClr val="CFD0D8"/>
                </a:solidFill>
                <a:latin typeface="Instrument Sans Medium" pitchFamily="34" charset="0"/>
                <a:ea typeface="Instrument Sans Medium" pitchFamily="34" charset="-122"/>
                <a:cs typeface="Instrument Sans Medium" pitchFamily="34" charset="-120"/>
              </a:rPr>
              <a:t>Understanding how to create lists is your first step toward mastery. Python offers multiple ways to declare and initialize lists, each suited for different scenarios.</a:t>
            </a:r>
            <a:endParaRPr lang="en-US" sz="1950" dirty="0"/>
          </a:p>
        </p:txBody>
      </p:sp>
      <p:sp>
        <p:nvSpPr>
          <p:cNvPr id="4" name="Shape 2"/>
          <p:cNvSpPr/>
          <p:nvPr>
            <p:custDataLst>
              <p:tags r:id="rId1"/>
            </p:custDataLst>
          </p:nvPr>
        </p:nvSpPr>
        <p:spPr>
          <a:xfrm>
            <a:off x="793790" y="3286006"/>
            <a:ext cx="4215289" cy="3592354"/>
          </a:xfrm>
          <a:prstGeom prst="roundRect">
            <a:avLst>
              <a:gd name="adj" fmla="val 2320"/>
            </a:avLst>
          </a:prstGeom>
          <a:solidFill>
            <a:srgbClr val="3D3D42"/>
          </a:solidFill>
          <a:ln w="7620">
            <a:solidFill>
              <a:srgbClr val="56565B"/>
            </a:solidFill>
            <a:prstDash val="solid"/>
          </a:ln>
        </p:spPr>
      </p:sp>
      <p:sp>
        <p:nvSpPr>
          <p:cNvPr id="5" name="Text 3"/>
          <p:cNvSpPr/>
          <p:nvPr>
            <p:custDataLst>
              <p:tags r:id="rId2"/>
            </p:custDataLst>
          </p:nvPr>
        </p:nvSpPr>
        <p:spPr>
          <a:xfrm>
            <a:off x="999768" y="3491984"/>
            <a:ext cx="3803333" cy="396954"/>
          </a:xfrm>
          <a:prstGeom prst="rect">
            <a:avLst/>
          </a:prstGeom>
          <a:noFill/>
        </p:spPr>
        <p:txBody>
          <a:bodyPr wrap="none" lIns="0" tIns="0" rIns="0" bIns="0" rtlCol="0" anchor="t"/>
          <a:lstStyle/>
          <a:p>
            <a:pPr marL="0" indent="0" algn="l">
              <a:lnSpc>
                <a:spcPts val="3100"/>
              </a:lnSpc>
              <a:buNone/>
            </a:pPr>
            <a:r>
              <a:rPr lang="en-US" sz="1950" dirty="0">
                <a:solidFill>
                  <a:srgbClr val="CFD0D8"/>
                </a:solidFill>
                <a:latin typeface="Instrument Sans Medium" pitchFamily="34" charset="0"/>
                <a:ea typeface="Instrument Sans Medium" pitchFamily="34" charset="-122"/>
                <a:cs typeface="Instrument Sans Medium" pitchFamily="34" charset="-120"/>
              </a:rPr>
              <a:t>Empty List</a:t>
            </a:r>
            <a:endParaRPr lang="en-US" sz="1950" dirty="0"/>
          </a:p>
        </p:txBody>
      </p:sp>
      <p:sp>
        <p:nvSpPr>
          <p:cNvPr id="6" name="Text 4"/>
          <p:cNvSpPr/>
          <p:nvPr>
            <p:custDataLst>
              <p:tags r:id="rId3"/>
            </p:custDataLst>
          </p:nvPr>
        </p:nvSpPr>
        <p:spPr>
          <a:xfrm>
            <a:off x="999768" y="4008001"/>
            <a:ext cx="3803333" cy="1190863"/>
          </a:xfrm>
          <a:prstGeom prst="rect">
            <a:avLst/>
          </a:prstGeom>
          <a:noFill/>
        </p:spPr>
        <p:txBody>
          <a:bodyPr wrap="square" lIns="0" tIns="0" rIns="0" bIns="0" rtlCol="0" anchor="t"/>
          <a:lstStyle/>
          <a:p>
            <a:pPr marL="0" indent="0" algn="l">
              <a:lnSpc>
                <a:spcPts val="3100"/>
              </a:lnSpc>
              <a:buNone/>
            </a:pPr>
            <a:r>
              <a:rPr lang="en-US" sz="1950" dirty="0">
                <a:solidFill>
                  <a:srgbClr val="CFD0D8"/>
                </a:solidFill>
                <a:latin typeface="Instrument Sans Medium" pitchFamily="34" charset="0"/>
                <a:ea typeface="Instrument Sans Medium" pitchFamily="34" charset="-122"/>
                <a:cs typeface="Instrument Sans Medium" pitchFamily="34" charset="-120"/>
              </a:rPr>
              <a:t>Create a placeholder list with no elements, ready to be populated later.</a:t>
            </a:r>
            <a:endParaRPr lang="en-US" sz="1950" dirty="0"/>
          </a:p>
        </p:txBody>
      </p:sp>
      <p:sp>
        <p:nvSpPr>
          <p:cNvPr id="7" name="Shape 5"/>
          <p:cNvSpPr/>
          <p:nvPr>
            <p:custDataLst>
              <p:tags r:id="rId4"/>
            </p:custDataLst>
          </p:nvPr>
        </p:nvSpPr>
        <p:spPr>
          <a:xfrm>
            <a:off x="999768" y="5422106"/>
            <a:ext cx="3803333" cy="1250275"/>
          </a:xfrm>
          <a:prstGeom prst="roundRect">
            <a:avLst>
              <a:gd name="adj" fmla="val 6667"/>
            </a:avLst>
          </a:prstGeom>
          <a:solidFill>
            <a:srgbClr val="37373A"/>
          </a:solidFill>
        </p:spPr>
      </p:sp>
      <p:sp>
        <p:nvSpPr>
          <p:cNvPr id="8" name="Shape 6"/>
          <p:cNvSpPr/>
          <p:nvPr>
            <p:custDataLst>
              <p:tags r:id="rId5"/>
            </p:custDataLst>
          </p:nvPr>
        </p:nvSpPr>
        <p:spPr>
          <a:xfrm>
            <a:off x="989886" y="5422106"/>
            <a:ext cx="3823097" cy="1250275"/>
          </a:xfrm>
          <a:prstGeom prst="roundRect">
            <a:avLst>
              <a:gd name="adj" fmla="val 2381"/>
            </a:avLst>
          </a:prstGeom>
          <a:solidFill>
            <a:srgbClr val="37373A"/>
          </a:solidFill>
        </p:spPr>
      </p:sp>
      <p:sp>
        <p:nvSpPr>
          <p:cNvPr id="9" name="Text 7"/>
          <p:cNvSpPr/>
          <p:nvPr>
            <p:custDataLst>
              <p:tags r:id="rId6"/>
            </p:custDataLst>
          </p:nvPr>
        </p:nvSpPr>
        <p:spPr>
          <a:xfrm>
            <a:off x="1188244" y="5570934"/>
            <a:ext cx="3426381" cy="952619"/>
          </a:xfrm>
          <a:prstGeom prst="rect">
            <a:avLst/>
          </a:prstGeom>
          <a:noFill/>
        </p:spPr>
        <p:txBody>
          <a:bodyPr wrap="square" lIns="0" tIns="0" rIns="0" bIns="0" rtlCol="0" anchor="t"/>
          <a:lstStyle/>
          <a:p>
            <a:pPr marL="0" indent="0" algn="l">
              <a:lnSpc>
                <a:spcPts val="2500"/>
              </a:lnSpc>
              <a:buNone/>
            </a:pPr>
            <a:r>
              <a:rPr lang="en-US" sz="1550" dirty="0">
                <a:solidFill>
                  <a:srgbClr val="CFD0D8"/>
                </a:solidFill>
                <a:highlight>
                  <a:srgbClr val="37373A"/>
                </a:highlight>
                <a:latin typeface="Consolas Medium" pitchFamily="34" charset="0"/>
                <a:ea typeface="Consolas Medium" pitchFamily="34" charset="-122"/>
                <a:cs typeface="Consolas Medium" pitchFamily="34" charset="-120"/>
              </a:rPr>
              <a:t>my_list = []</a:t>
            </a:r>
            <a:endParaRPr lang="en-US" sz="155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500"/>
              </a:lnSpc>
              <a:buNone/>
            </a:pPr>
            <a:r>
              <a:rPr lang="en-US" sz="1550" dirty="0">
                <a:solidFill>
                  <a:srgbClr val="CFD0D8"/>
                </a:solidFill>
                <a:highlight>
                  <a:srgbClr val="37373A"/>
                </a:highlight>
                <a:latin typeface="Consolas Medium" pitchFamily="34" charset="0"/>
                <a:ea typeface="Consolas Medium" pitchFamily="34" charset="-122"/>
                <a:cs typeface="Consolas Medium" pitchFamily="34" charset="-120"/>
              </a:rPr>
              <a:t># or</a:t>
            </a:r>
            <a:endParaRPr lang="en-US" sz="155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500"/>
              </a:lnSpc>
              <a:buNone/>
            </a:pPr>
            <a:r>
              <a:rPr lang="en-US" sz="1550" dirty="0">
                <a:solidFill>
                  <a:srgbClr val="CFD0D8"/>
                </a:solidFill>
                <a:highlight>
                  <a:srgbClr val="37373A"/>
                </a:highlight>
                <a:latin typeface="Consolas Medium" pitchFamily="34" charset="0"/>
                <a:ea typeface="Consolas Medium" pitchFamily="34" charset="-122"/>
                <a:cs typeface="Consolas Medium" pitchFamily="34" charset="-120"/>
              </a:rPr>
              <a:t>my_list = list()</a:t>
            </a:r>
            <a:endParaRPr lang="en-US" sz="1550" dirty="0"/>
          </a:p>
        </p:txBody>
      </p:sp>
      <p:sp>
        <p:nvSpPr>
          <p:cNvPr id="10" name="Shape 8"/>
          <p:cNvSpPr/>
          <p:nvPr>
            <p:custDataLst>
              <p:tags r:id="rId7"/>
            </p:custDataLst>
          </p:nvPr>
        </p:nvSpPr>
        <p:spPr>
          <a:xfrm>
            <a:off x="5207437" y="3286006"/>
            <a:ext cx="4215408" cy="3592354"/>
          </a:xfrm>
          <a:prstGeom prst="roundRect">
            <a:avLst>
              <a:gd name="adj" fmla="val 2320"/>
            </a:avLst>
          </a:prstGeom>
          <a:solidFill>
            <a:srgbClr val="3D3D42"/>
          </a:solidFill>
          <a:ln w="7620">
            <a:solidFill>
              <a:srgbClr val="56565B"/>
            </a:solidFill>
            <a:prstDash val="solid"/>
          </a:ln>
        </p:spPr>
      </p:sp>
      <p:sp>
        <p:nvSpPr>
          <p:cNvPr id="11" name="Text 9"/>
          <p:cNvSpPr/>
          <p:nvPr>
            <p:custDataLst>
              <p:tags r:id="rId8"/>
            </p:custDataLst>
          </p:nvPr>
        </p:nvSpPr>
        <p:spPr>
          <a:xfrm>
            <a:off x="5413415" y="3491984"/>
            <a:ext cx="3803452" cy="396954"/>
          </a:xfrm>
          <a:prstGeom prst="rect">
            <a:avLst/>
          </a:prstGeom>
          <a:noFill/>
        </p:spPr>
        <p:txBody>
          <a:bodyPr wrap="none" lIns="0" tIns="0" rIns="0" bIns="0" rtlCol="0" anchor="t"/>
          <a:lstStyle/>
          <a:p>
            <a:pPr marL="0" indent="0" algn="l">
              <a:lnSpc>
                <a:spcPts val="3100"/>
              </a:lnSpc>
              <a:buNone/>
            </a:pPr>
            <a:r>
              <a:rPr lang="en-US" sz="1950" dirty="0">
                <a:solidFill>
                  <a:srgbClr val="CFD0D8"/>
                </a:solidFill>
                <a:latin typeface="Instrument Sans Medium" pitchFamily="34" charset="0"/>
                <a:ea typeface="Instrument Sans Medium" pitchFamily="34" charset="-122"/>
                <a:cs typeface="Instrument Sans Medium" pitchFamily="34" charset="-120"/>
              </a:rPr>
              <a:t>Single Data Type</a:t>
            </a:r>
            <a:endParaRPr lang="en-US" sz="1950" dirty="0"/>
          </a:p>
        </p:txBody>
      </p:sp>
      <p:sp>
        <p:nvSpPr>
          <p:cNvPr id="12" name="Text 10"/>
          <p:cNvSpPr/>
          <p:nvPr>
            <p:custDataLst>
              <p:tags r:id="rId9"/>
            </p:custDataLst>
          </p:nvPr>
        </p:nvSpPr>
        <p:spPr>
          <a:xfrm>
            <a:off x="5413415" y="4008001"/>
            <a:ext cx="3803452" cy="1190863"/>
          </a:xfrm>
          <a:prstGeom prst="rect">
            <a:avLst/>
          </a:prstGeom>
          <a:noFill/>
        </p:spPr>
        <p:txBody>
          <a:bodyPr wrap="square" lIns="0" tIns="0" rIns="0" bIns="0" rtlCol="0" anchor="t"/>
          <a:lstStyle/>
          <a:p>
            <a:pPr marL="0" indent="0" algn="l">
              <a:lnSpc>
                <a:spcPts val="3100"/>
              </a:lnSpc>
              <a:buNone/>
            </a:pPr>
            <a:r>
              <a:rPr lang="en-US" sz="1950" dirty="0">
                <a:solidFill>
                  <a:srgbClr val="CFD0D8"/>
                </a:solidFill>
                <a:latin typeface="Instrument Sans Medium" pitchFamily="34" charset="0"/>
                <a:ea typeface="Instrument Sans Medium" pitchFamily="34" charset="-122"/>
                <a:cs typeface="Instrument Sans Medium" pitchFamily="34" charset="-120"/>
              </a:rPr>
              <a:t>Initialize a list with elements of the same type for consistency and clarity.</a:t>
            </a:r>
            <a:endParaRPr lang="en-US" sz="1950" dirty="0"/>
          </a:p>
        </p:txBody>
      </p:sp>
      <p:sp>
        <p:nvSpPr>
          <p:cNvPr id="13" name="Shape 11"/>
          <p:cNvSpPr/>
          <p:nvPr>
            <p:custDataLst>
              <p:tags r:id="rId10"/>
            </p:custDataLst>
          </p:nvPr>
        </p:nvSpPr>
        <p:spPr>
          <a:xfrm>
            <a:off x="5413415" y="5422106"/>
            <a:ext cx="3803452" cy="932736"/>
          </a:xfrm>
          <a:prstGeom prst="roundRect">
            <a:avLst>
              <a:gd name="adj" fmla="val 8937"/>
            </a:avLst>
          </a:prstGeom>
          <a:solidFill>
            <a:srgbClr val="37373A"/>
          </a:solidFill>
        </p:spPr>
      </p:sp>
      <p:sp>
        <p:nvSpPr>
          <p:cNvPr id="14" name="Shape 12"/>
          <p:cNvSpPr/>
          <p:nvPr>
            <p:custDataLst>
              <p:tags r:id="rId11"/>
            </p:custDataLst>
          </p:nvPr>
        </p:nvSpPr>
        <p:spPr>
          <a:xfrm>
            <a:off x="5403850" y="5422265"/>
            <a:ext cx="3823335" cy="1151255"/>
          </a:xfrm>
          <a:prstGeom prst="roundRect">
            <a:avLst>
              <a:gd name="adj" fmla="val 3192"/>
            </a:avLst>
          </a:prstGeom>
          <a:solidFill>
            <a:srgbClr val="37373A"/>
          </a:solidFill>
        </p:spPr>
      </p:sp>
      <p:sp>
        <p:nvSpPr>
          <p:cNvPr id="15" name="Text 13"/>
          <p:cNvSpPr/>
          <p:nvPr>
            <p:custDataLst>
              <p:tags r:id="rId12"/>
            </p:custDataLst>
          </p:nvPr>
        </p:nvSpPr>
        <p:spPr>
          <a:xfrm>
            <a:off x="5601891" y="5570934"/>
            <a:ext cx="3426500" cy="635079"/>
          </a:xfrm>
          <a:prstGeom prst="rect">
            <a:avLst/>
          </a:prstGeom>
          <a:noFill/>
        </p:spPr>
        <p:txBody>
          <a:bodyPr wrap="square" lIns="0" tIns="0" rIns="0" bIns="0" rtlCol="0" anchor="t"/>
          <a:lstStyle/>
          <a:p>
            <a:pPr marL="0" indent="0" algn="l">
              <a:lnSpc>
                <a:spcPts val="2500"/>
              </a:lnSpc>
              <a:buNone/>
            </a:pPr>
            <a:r>
              <a:rPr lang="en-US" sz="1550" dirty="0">
                <a:solidFill>
                  <a:srgbClr val="CFD0D8"/>
                </a:solidFill>
                <a:highlight>
                  <a:srgbClr val="37373A"/>
                </a:highlight>
                <a:latin typeface="Consolas Medium" pitchFamily="34" charset="0"/>
                <a:ea typeface="Consolas Medium" pitchFamily="34" charset="-122"/>
                <a:cs typeface="Consolas Medium" pitchFamily="34" charset="-120"/>
              </a:rPr>
              <a:t>numbers = [1, 2, 3, 4, 5]</a:t>
            </a:r>
            <a:endParaRPr lang="en-US" sz="155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500"/>
              </a:lnSpc>
              <a:buNone/>
            </a:pPr>
            <a:r>
              <a:rPr lang="en-US" sz="1550" dirty="0">
                <a:solidFill>
                  <a:srgbClr val="CFD0D8"/>
                </a:solidFill>
                <a:highlight>
                  <a:srgbClr val="37373A"/>
                </a:highlight>
                <a:latin typeface="Consolas Medium" pitchFamily="34" charset="0"/>
                <a:ea typeface="Consolas Medium" pitchFamily="34" charset="-122"/>
                <a:cs typeface="Consolas Medium" pitchFamily="34" charset="-120"/>
              </a:rPr>
              <a:t>names = ["Alice", "Bob", "Charlie"]</a:t>
            </a:r>
            <a:endParaRPr lang="en-US" sz="1550" dirty="0"/>
          </a:p>
        </p:txBody>
      </p:sp>
      <p:sp>
        <p:nvSpPr>
          <p:cNvPr id="16" name="Shape 14"/>
          <p:cNvSpPr/>
          <p:nvPr>
            <p:custDataLst>
              <p:tags r:id="rId13"/>
            </p:custDataLst>
          </p:nvPr>
        </p:nvSpPr>
        <p:spPr>
          <a:xfrm>
            <a:off x="9621203" y="3286006"/>
            <a:ext cx="4215289" cy="3592354"/>
          </a:xfrm>
          <a:prstGeom prst="roundRect">
            <a:avLst>
              <a:gd name="adj" fmla="val 2320"/>
            </a:avLst>
          </a:prstGeom>
          <a:solidFill>
            <a:srgbClr val="3D3D42"/>
          </a:solidFill>
          <a:ln w="7620">
            <a:solidFill>
              <a:srgbClr val="56565B"/>
            </a:solidFill>
            <a:prstDash val="solid"/>
          </a:ln>
        </p:spPr>
      </p:sp>
      <p:sp>
        <p:nvSpPr>
          <p:cNvPr id="17" name="Text 15"/>
          <p:cNvSpPr/>
          <p:nvPr>
            <p:custDataLst>
              <p:tags r:id="rId14"/>
            </p:custDataLst>
          </p:nvPr>
        </p:nvSpPr>
        <p:spPr>
          <a:xfrm>
            <a:off x="9827181" y="3491984"/>
            <a:ext cx="3803333" cy="396954"/>
          </a:xfrm>
          <a:prstGeom prst="rect">
            <a:avLst/>
          </a:prstGeom>
          <a:noFill/>
        </p:spPr>
        <p:txBody>
          <a:bodyPr wrap="none" lIns="0" tIns="0" rIns="0" bIns="0" rtlCol="0" anchor="t"/>
          <a:lstStyle/>
          <a:p>
            <a:pPr marL="0" indent="0" algn="l">
              <a:lnSpc>
                <a:spcPts val="3100"/>
              </a:lnSpc>
              <a:buNone/>
            </a:pPr>
            <a:r>
              <a:rPr lang="en-US" sz="1950" dirty="0">
                <a:solidFill>
                  <a:srgbClr val="CFD0D8"/>
                </a:solidFill>
                <a:latin typeface="Instrument Sans Medium" pitchFamily="34" charset="0"/>
                <a:ea typeface="Instrument Sans Medium" pitchFamily="34" charset="-122"/>
                <a:cs typeface="Instrument Sans Medium" pitchFamily="34" charset="-120"/>
              </a:rPr>
              <a:t>Mixed Data Types</a:t>
            </a:r>
            <a:endParaRPr lang="en-US" sz="1950" dirty="0"/>
          </a:p>
        </p:txBody>
      </p:sp>
      <p:sp>
        <p:nvSpPr>
          <p:cNvPr id="18" name="Text 16"/>
          <p:cNvSpPr/>
          <p:nvPr>
            <p:custDataLst>
              <p:tags r:id="rId15"/>
            </p:custDataLst>
          </p:nvPr>
        </p:nvSpPr>
        <p:spPr>
          <a:xfrm>
            <a:off x="9827181" y="4008001"/>
            <a:ext cx="3803333" cy="1190863"/>
          </a:xfrm>
          <a:prstGeom prst="rect">
            <a:avLst/>
          </a:prstGeom>
          <a:noFill/>
        </p:spPr>
        <p:txBody>
          <a:bodyPr wrap="square" lIns="0" tIns="0" rIns="0" bIns="0" rtlCol="0" anchor="t"/>
          <a:lstStyle/>
          <a:p>
            <a:pPr marL="0" indent="0" algn="l">
              <a:lnSpc>
                <a:spcPts val="3100"/>
              </a:lnSpc>
              <a:buNone/>
            </a:pPr>
            <a:r>
              <a:rPr lang="en-US" sz="1950" dirty="0">
                <a:solidFill>
                  <a:srgbClr val="CFD0D8"/>
                </a:solidFill>
                <a:latin typeface="Instrument Sans Medium" pitchFamily="34" charset="0"/>
                <a:ea typeface="Instrument Sans Medium" pitchFamily="34" charset="-122"/>
                <a:cs typeface="Instrument Sans Medium" pitchFamily="34" charset="-120"/>
              </a:rPr>
              <a:t>Python lists embrace flexibility by allowing different data types in one collection.</a:t>
            </a:r>
            <a:endParaRPr lang="en-US" sz="1950" dirty="0"/>
          </a:p>
        </p:txBody>
      </p:sp>
      <p:sp>
        <p:nvSpPr>
          <p:cNvPr id="19" name="Shape 17"/>
          <p:cNvSpPr/>
          <p:nvPr>
            <p:custDataLst>
              <p:tags r:id="rId16"/>
            </p:custDataLst>
          </p:nvPr>
        </p:nvSpPr>
        <p:spPr>
          <a:xfrm>
            <a:off x="9827181" y="5422106"/>
            <a:ext cx="3803333" cy="932736"/>
          </a:xfrm>
          <a:prstGeom prst="roundRect">
            <a:avLst>
              <a:gd name="adj" fmla="val 8937"/>
            </a:avLst>
          </a:prstGeom>
          <a:solidFill>
            <a:srgbClr val="37373A"/>
          </a:solidFill>
        </p:spPr>
      </p:sp>
      <p:sp>
        <p:nvSpPr>
          <p:cNvPr id="20" name="Shape 18"/>
          <p:cNvSpPr/>
          <p:nvPr>
            <p:custDataLst>
              <p:tags r:id="rId17"/>
            </p:custDataLst>
          </p:nvPr>
        </p:nvSpPr>
        <p:spPr>
          <a:xfrm>
            <a:off x="9817100" y="5422265"/>
            <a:ext cx="3823335" cy="1109980"/>
          </a:xfrm>
          <a:prstGeom prst="roundRect">
            <a:avLst>
              <a:gd name="adj" fmla="val 3192"/>
            </a:avLst>
          </a:prstGeom>
          <a:solidFill>
            <a:srgbClr val="37373A"/>
          </a:solidFill>
        </p:spPr>
      </p:sp>
      <p:sp>
        <p:nvSpPr>
          <p:cNvPr id="21" name="Text 19"/>
          <p:cNvSpPr/>
          <p:nvPr>
            <p:custDataLst>
              <p:tags r:id="rId18"/>
            </p:custDataLst>
          </p:nvPr>
        </p:nvSpPr>
        <p:spPr>
          <a:xfrm>
            <a:off x="10015855" y="5570855"/>
            <a:ext cx="3589655" cy="952500"/>
          </a:xfrm>
          <a:prstGeom prst="rect">
            <a:avLst/>
          </a:prstGeom>
          <a:noFill/>
        </p:spPr>
        <p:txBody>
          <a:bodyPr wrap="square" lIns="0" tIns="0" rIns="0" bIns="0" rtlCol="0" anchor="t"/>
          <a:lstStyle/>
          <a:p>
            <a:pPr marL="0" indent="0" algn="l">
              <a:lnSpc>
                <a:spcPts val="2500"/>
              </a:lnSpc>
              <a:buNone/>
            </a:pPr>
            <a:r>
              <a:rPr lang="en-US" sz="1550" dirty="0">
                <a:solidFill>
                  <a:srgbClr val="CFD0D8"/>
                </a:solidFill>
                <a:highlight>
                  <a:srgbClr val="37373A"/>
                </a:highlight>
                <a:latin typeface="Consolas Medium" pitchFamily="34" charset="0"/>
                <a:ea typeface="Consolas Medium" pitchFamily="34" charset="-122"/>
                <a:cs typeface="Consolas Medium" pitchFamily="34" charset="-120"/>
              </a:rPr>
              <a:t>mixed = [42, "Hello", 3.14, True]</a:t>
            </a:r>
            <a:endParaRPr lang="en-US" sz="155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500"/>
              </a:lnSpc>
              <a:buNone/>
            </a:pPr>
            <a:r>
              <a:rPr lang="en-US" sz="1550" dirty="0">
                <a:solidFill>
                  <a:srgbClr val="CFD0D8"/>
                </a:solidFill>
                <a:highlight>
                  <a:srgbClr val="37373A"/>
                </a:highlight>
                <a:latin typeface="Consolas Medium" pitchFamily="34" charset="0"/>
                <a:ea typeface="Consolas Medium" pitchFamily="34" charset="-122"/>
                <a:cs typeface="Consolas Medium" pitchFamily="34" charset="-120"/>
              </a:rPr>
              <a:t>data = [1, "text", None, [1,2]]</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275398"/>
            <a:ext cx="5389721" cy="589121"/>
          </a:xfrm>
          <a:prstGeom prst="rect">
            <a:avLst/>
          </a:prstGeom>
          <a:noFill/>
        </p:spPr>
        <p:txBody>
          <a:bodyPr wrap="none" lIns="0" tIns="0" rIns="0" bIns="0" rtlCol="0" anchor="t"/>
          <a:lstStyle/>
          <a:p>
            <a:pPr marL="0" indent="0" algn="l">
              <a:lnSpc>
                <a:spcPts val="4600"/>
              </a:lnSpc>
              <a:buNone/>
            </a:pPr>
            <a:r>
              <a:rPr lang="en-US" sz="3700" dirty="0">
                <a:solidFill>
                  <a:srgbClr val="CBCCCE"/>
                </a:solidFill>
                <a:latin typeface="Instrument Sans Semi Bold" pitchFamily="34" charset="0"/>
                <a:ea typeface="Instrument Sans Semi Bold" pitchFamily="34" charset="-122"/>
                <a:cs typeface="Instrument Sans Semi Bold" pitchFamily="34" charset="-120"/>
              </a:rPr>
              <a:t>Accessing List Elements</a:t>
            </a:r>
            <a:endParaRPr lang="en-US" sz="3700" dirty="0"/>
          </a:p>
        </p:txBody>
      </p:sp>
      <p:sp>
        <p:nvSpPr>
          <p:cNvPr id="3" name="Text 1"/>
          <p:cNvSpPr/>
          <p:nvPr/>
        </p:nvSpPr>
        <p:spPr>
          <a:xfrm>
            <a:off x="793790" y="2241590"/>
            <a:ext cx="13042821" cy="754380"/>
          </a:xfrm>
          <a:prstGeom prst="rect">
            <a:avLst/>
          </a:prstGeom>
          <a:noFill/>
        </p:spPr>
        <p:txBody>
          <a:bodyPr wrap="square" lIns="0" tIns="0" rIns="0" bIns="0" rtlCol="0" anchor="t"/>
          <a:lstStyle/>
          <a:p>
            <a:pPr marL="0" indent="0" algn="l">
              <a:lnSpc>
                <a:spcPts val="2950"/>
              </a:lnSpc>
              <a:buNone/>
            </a:pPr>
            <a:r>
              <a:rPr lang="en-US" sz="1850" dirty="0">
                <a:solidFill>
                  <a:srgbClr val="CFD0D8"/>
                </a:solidFill>
                <a:latin typeface="Instrument Sans Medium" pitchFamily="34" charset="0"/>
                <a:ea typeface="Instrument Sans Medium" pitchFamily="34" charset="-122"/>
                <a:cs typeface="Instrument Sans Medium" pitchFamily="34" charset="-120"/>
              </a:rPr>
              <a:t>Once you have a list, accessing its elements efficiently is crucial. Python provides powerful indexing mechanisms to retrieve exactly what you need.</a:t>
            </a:r>
            <a:endParaRPr lang="en-US" sz="1850" dirty="0"/>
          </a:p>
        </p:txBody>
      </p:sp>
      <p:sp>
        <p:nvSpPr>
          <p:cNvPr id="4" name="Shape 2"/>
          <p:cNvSpPr/>
          <p:nvPr>
            <p:custDataLst>
              <p:tags r:id="rId1"/>
            </p:custDataLst>
          </p:nvPr>
        </p:nvSpPr>
        <p:spPr>
          <a:xfrm>
            <a:off x="793790" y="3208020"/>
            <a:ext cx="4221956" cy="3746063"/>
          </a:xfrm>
          <a:prstGeom prst="roundRect">
            <a:avLst>
              <a:gd name="adj" fmla="val 2929"/>
            </a:avLst>
          </a:prstGeom>
          <a:solidFill>
            <a:srgbClr val="2A2A2D">
              <a:alpha val="95000"/>
            </a:srgbClr>
          </a:solidFill>
          <a:ln w="22860">
            <a:solidFill>
              <a:srgbClr val="D5D5D8"/>
            </a:solidFill>
            <a:prstDash val="solid"/>
          </a:ln>
        </p:spPr>
      </p:sp>
      <p:sp>
        <p:nvSpPr>
          <p:cNvPr id="5" name="Shape 3"/>
          <p:cNvSpPr/>
          <p:nvPr>
            <p:custDataLst>
              <p:tags r:id="rId2"/>
            </p:custDataLst>
          </p:nvPr>
        </p:nvSpPr>
        <p:spPr>
          <a:xfrm>
            <a:off x="770930" y="3208020"/>
            <a:ext cx="91440" cy="3746063"/>
          </a:xfrm>
          <a:prstGeom prst="roundRect">
            <a:avLst>
              <a:gd name="adj" fmla="val 86605"/>
            </a:avLst>
          </a:prstGeom>
          <a:solidFill>
            <a:srgbClr val="D5D5D8"/>
          </a:solidFill>
        </p:spPr>
      </p:sp>
      <p:sp>
        <p:nvSpPr>
          <p:cNvPr id="6" name="Text 4"/>
          <p:cNvSpPr/>
          <p:nvPr>
            <p:custDataLst>
              <p:tags r:id="rId3"/>
            </p:custDataLst>
          </p:nvPr>
        </p:nvSpPr>
        <p:spPr>
          <a:xfrm>
            <a:off x="1073706" y="3419356"/>
            <a:ext cx="3730704" cy="377190"/>
          </a:xfrm>
          <a:prstGeom prst="rect">
            <a:avLst/>
          </a:prstGeom>
          <a:noFill/>
        </p:spPr>
        <p:txBody>
          <a:bodyPr wrap="none" lIns="0" tIns="0" rIns="0" bIns="0" rtlCol="0" anchor="t"/>
          <a:lstStyle/>
          <a:p>
            <a:pPr marL="0" indent="0" algn="l">
              <a:lnSpc>
                <a:spcPts val="2950"/>
              </a:lnSpc>
              <a:buNone/>
            </a:pPr>
            <a:r>
              <a:rPr lang="en-US" sz="1850" dirty="0">
                <a:solidFill>
                  <a:srgbClr val="CFD0D8"/>
                </a:solidFill>
                <a:latin typeface="Instrument Sans Medium" pitchFamily="34" charset="0"/>
                <a:ea typeface="Instrument Sans Medium" pitchFamily="34" charset="-122"/>
                <a:cs typeface="Instrument Sans Medium" pitchFamily="34" charset="-120"/>
              </a:rPr>
              <a:t>Positive Indexing</a:t>
            </a:r>
            <a:endParaRPr lang="en-US" sz="1850" dirty="0"/>
          </a:p>
        </p:txBody>
      </p:sp>
      <p:sp>
        <p:nvSpPr>
          <p:cNvPr id="7" name="Text 5"/>
          <p:cNvSpPr/>
          <p:nvPr>
            <p:custDataLst>
              <p:tags r:id="rId4"/>
            </p:custDataLst>
          </p:nvPr>
        </p:nvSpPr>
        <p:spPr>
          <a:xfrm>
            <a:off x="1073706" y="3909655"/>
            <a:ext cx="3730704" cy="1131570"/>
          </a:xfrm>
          <a:prstGeom prst="rect">
            <a:avLst/>
          </a:prstGeom>
          <a:noFill/>
        </p:spPr>
        <p:txBody>
          <a:bodyPr wrap="square" lIns="0" tIns="0" rIns="0" bIns="0" rtlCol="0" anchor="t"/>
          <a:lstStyle/>
          <a:p>
            <a:pPr marL="0" indent="0" algn="l">
              <a:lnSpc>
                <a:spcPts val="2950"/>
              </a:lnSpc>
              <a:buNone/>
            </a:pPr>
            <a:r>
              <a:rPr lang="en-US" sz="1850" dirty="0">
                <a:solidFill>
                  <a:srgbClr val="CFD0D8"/>
                </a:solidFill>
                <a:latin typeface="Instrument Sans Medium" pitchFamily="34" charset="0"/>
                <a:ea typeface="Instrument Sans Medium" pitchFamily="34" charset="-122"/>
                <a:cs typeface="Instrument Sans Medium" pitchFamily="34" charset="-120"/>
              </a:rPr>
              <a:t>Access elements from the start using 0-based indexing. The first element is always at index 0.</a:t>
            </a:r>
            <a:endParaRPr lang="en-US" sz="1850" dirty="0"/>
          </a:p>
        </p:txBody>
      </p:sp>
      <p:sp>
        <p:nvSpPr>
          <p:cNvPr id="8" name="Shape 6"/>
          <p:cNvSpPr/>
          <p:nvPr>
            <p:custDataLst>
              <p:tags r:id="rId5"/>
            </p:custDataLst>
          </p:nvPr>
        </p:nvSpPr>
        <p:spPr>
          <a:xfrm>
            <a:off x="1073706" y="5253276"/>
            <a:ext cx="3730704" cy="1489472"/>
          </a:xfrm>
          <a:prstGeom prst="roundRect">
            <a:avLst>
              <a:gd name="adj" fmla="val 5317"/>
            </a:avLst>
          </a:prstGeom>
          <a:solidFill>
            <a:srgbClr val="37373A"/>
          </a:solidFill>
        </p:spPr>
      </p:sp>
      <p:sp>
        <p:nvSpPr>
          <p:cNvPr id="9" name="Shape 7"/>
          <p:cNvSpPr/>
          <p:nvPr>
            <p:custDataLst>
              <p:tags r:id="rId6"/>
            </p:custDataLst>
          </p:nvPr>
        </p:nvSpPr>
        <p:spPr>
          <a:xfrm>
            <a:off x="1064300" y="5253276"/>
            <a:ext cx="3749516" cy="1489472"/>
          </a:xfrm>
          <a:prstGeom prst="roundRect">
            <a:avLst>
              <a:gd name="adj" fmla="val 1899"/>
            </a:avLst>
          </a:prstGeom>
          <a:solidFill>
            <a:srgbClr val="37373A"/>
          </a:solidFill>
        </p:spPr>
      </p:sp>
      <p:sp>
        <p:nvSpPr>
          <p:cNvPr id="10" name="Text 8"/>
          <p:cNvSpPr/>
          <p:nvPr>
            <p:custDataLst>
              <p:tags r:id="rId7"/>
            </p:custDataLst>
          </p:nvPr>
        </p:nvSpPr>
        <p:spPr>
          <a:xfrm>
            <a:off x="1252776" y="5394603"/>
            <a:ext cx="3372564" cy="1206818"/>
          </a:xfrm>
          <a:prstGeom prst="rect">
            <a:avLst/>
          </a:prstGeom>
          <a:noFill/>
        </p:spPr>
        <p:txBody>
          <a:bodyPr wrap="square" lIns="0" tIns="0" rIns="0" bIns="0" rtlCol="0" anchor="t"/>
          <a:lstStyle/>
          <a:p>
            <a:pPr marL="0" indent="0" algn="l">
              <a:lnSpc>
                <a:spcPts val="2350"/>
              </a:lnSpc>
              <a:buNone/>
            </a:pPr>
            <a:r>
              <a:rPr lang="en-US" sz="1450" dirty="0">
                <a:solidFill>
                  <a:srgbClr val="CFD0D8"/>
                </a:solidFill>
                <a:highlight>
                  <a:srgbClr val="37373A"/>
                </a:highlight>
                <a:latin typeface="Consolas Medium" pitchFamily="34" charset="0"/>
                <a:ea typeface="Consolas Medium" pitchFamily="34" charset="-122"/>
                <a:cs typeface="Consolas Medium" pitchFamily="34" charset="-120"/>
              </a:rPr>
              <a:t>fruits = ["apple", "banana", "cherry", "date"]</a:t>
            </a:r>
            <a:endParaRPr lang="en-US" sz="145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350"/>
              </a:lnSpc>
              <a:buNone/>
            </a:pPr>
            <a:r>
              <a:rPr lang="en-US" sz="1450" dirty="0">
                <a:solidFill>
                  <a:srgbClr val="CFD0D8"/>
                </a:solidFill>
                <a:highlight>
                  <a:srgbClr val="37373A"/>
                </a:highlight>
                <a:latin typeface="Consolas Medium" pitchFamily="34" charset="0"/>
                <a:ea typeface="Consolas Medium" pitchFamily="34" charset="-122"/>
                <a:cs typeface="Consolas Medium" pitchFamily="34" charset="-120"/>
              </a:rPr>
              <a:t>print(fruits[0]) # Output:apple</a:t>
            </a:r>
            <a:endParaRPr lang="en-US" sz="145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350"/>
              </a:lnSpc>
              <a:buNone/>
            </a:pPr>
            <a:r>
              <a:rPr lang="en-US" sz="1450" dirty="0">
                <a:solidFill>
                  <a:srgbClr val="CFD0D8"/>
                </a:solidFill>
                <a:highlight>
                  <a:srgbClr val="37373A"/>
                </a:highlight>
                <a:latin typeface="Consolas Medium" pitchFamily="34" charset="0"/>
                <a:ea typeface="Consolas Medium" pitchFamily="34" charset="-122"/>
                <a:cs typeface="Consolas Medium" pitchFamily="34" charset="-120"/>
              </a:rPr>
              <a:t>print(fruits[2]) # Output: cherry</a:t>
            </a:r>
            <a:endParaRPr lang="en-US" sz="1450" dirty="0"/>
          </a:p>
        </p:txBody>
      </p:sp>
      <p:sp>
        <p:nvSpPr>
          <p:cNvPr id="11" name="Shape 9"/>
          <p:cNvSpPr/>
          <p:nvPr>
            <p:custDataLst>
              <p:tags r:id="rId8"/>
            </p:custDataLst>
          </p:nvPr>
        </p:nvSpPr>
        <p:spPr>
          <a:xfrm>
            <a:off x="5204222" y="3208020"/>
            <a:ext cx="4221956" cy="3746063"/>
          </a:xfrm>
          <a:prstGeom prst="roundRect">
            <a:avLst>
              <a:gd name="adj" fmla="val 2929"/>
            </a:avLst>
          </a:prstGeom>
          <a:solidFill>
            <a:srgbClr val="2A2A2D">
              <a:alpha val="95000"/>
            </a:srgbClr>
          </a:solidFill>
          <a:ln w="22860">
            <a:solidFill>
              <a:srgbClr val="D5D5D8"/>
            </a:solidFill>
            <a:prstDash val="solid"/>
          </a:ln>
        </p:spPr>
      </p:sp>
      <p:sp>
        <p:nvSpPr>
          <p:cNvPr id="12" name="Shape 10"/>
          <p:cNvSpPr/>
          <p:nvPr>
            <p:custDataLst>
              <p:tags r:id="rId9"/>
            </p:custDataLst>
          </p:nvPr>
        </p:nvSpPr>
        <p:spPr>
          <a:xfrm>
            <a:off x="5181362" y="3208020"/>
            <a:ext cx="91440" cy="3746063"/>
          </a:xfrm>
          <a:prstGeom prst="roundRect">
            <a:avLst>
              <a:gd name="adj" fmla="val 86605"/>
            </a:avLst>
          </a:prstGeom>
          <a:solidFill>
            <a:srgbClr val="D5D5D8"/>
          </a:solidFill>
        </p:spPr>
      </p:sp>
      <p:sp>
        <p:nvSpPr>
          <p:cNvPr id="13" name="Text 11"/>
          <p:cNvSpPr/>
          <p:nvPr>
            <p:custDataLst>
              <p:tags r:id="rId10"/>
            </p:custDataLst>
          </p:nvPr>
        </p:nvSpPr>
        <p:spPr>
          <a:xfrm>
            <a:off x="5484138" y="3419356"/>
            <a:ext cx="3730704" cy="377190"/>
          </a:xfrm>
          <a:prstGeom prst="rect">
            <a:avLst/>
          </a:prstGeom>
          <a:noFill/>
        </p:spPr>
        <p:txBody>
          <a:bodyPr wrap="none" lIns="0" tIns="0" rIns="0" bIns="0" rtlCol="0" anchor="t"/>
          <a:lstStyle/>
          <a:p>
            <a:pPr marL="0" indent="0" algn="l">
              <a:lnSpc>
                <a:spcPts val="2950"/>
              </a:lnSpc>
              <a:buNone/>
            </a:pPr>
            <a:r>
              <a:rPr lang="en-US" sz="1850" dirty="0">
                <a:solidFill>
                  <a:srgbClr val="CFD0D8"/>
                </a:solidFill>
                <a:latin typeface="Instrument Sans Medium" pitchFamily="34" charset="0"/>
                <a:ea typeface="Instrument Sans Medium" pitchFamily="34" charset="-122"/>
                <a:cs typeface="Instrument Sans Medium" pitchFamily="34" charset="-120"/>
              </a:rPr>
              <a:t>Negative Indexing</a:t>
            </a:r>
            <a:endParaRPr lang="en-US" sz="1850" dirty="0"/>
          </a:p>
        </p:txBody>
      </p:sp>
      <p:sp>
        <p:nvSpPr>
          <p:cNvPr id="14" name="Text 12"/>
          <p:cNvSpPr/>
          <p:nvPr>
            <p:custDataLst>
              <p:tags r:id="rId11"/>
            </p:custDataLst>
          </p:nvPr>
        </p:nvSpPr>
        <p:spPr>
          <a:xfrm>
            <a:off x="5484138" y="3909655"/>
            <a:ext cx="3730704" cy="1131570"/>
          </a:xfrm>
          <a:prstGeom prst="rect">
            <a:avLst/>
          </a:prstGeom>
          <a:noFill/>
        </p:spPr>
        <p:txBody>
          <a:bodyPr wrap="square" lIns="0" tIns="0" rIns="0" bIns="0" rtlCol="0" anchor="t"/>
          <a:lstStyle/>
          <a:p>
            <a:pPr marL="0" indent="0" algn="l">
              <a:lnSpc>
                <a:spcPts val="2950"/>
              </a:lnSpc>
              <a:buNone/>
            </a:pPr>
            <a:r>
              <a:rPr lang="en-US" sz="1850" dirty="0">
                <a:solidFill>
                  <a:srgbClr val="CFD0D8"/>
                </a:solidFill>
                <a:latin typeface="Instrument Sans Medium" pitchFamily="34" charset="0"/>
                <a:ea typeface="Instrument Sans Medium" pitchFamily="34" charset="-122"/>
                <a:cs typeface="Instrument Sans Medium" pitchFamily="34" charset="-120"/>
              </a:rPr>
              <a:t>Count backward from the end using negative indices. Index -1 refers to the last element.</a:t>
            </a:r>
            <a:endParaRPr lang="en-US" sz="1850" dirty="0"/>
          </a:p>
        </p:txBody>
      </p:sp>
      <p:sp>
        <p:nvSpPr>
          <p:cNvPr id="15" name="Shape 13"/>
          <p:cNvSpPr/>
          <p:nvPr>
            <p:custDataLst>
              <p:tags r:id="rId12"/>
            </p:custDataLst>
          </p:nvPr>
        </p:nvSpPr>
        <p:spPr>
          <a:xfrm>
            <a:off x="5484138" y="5253276"/>
            <a:ext cx="3730704" cy="1489472"/>
          </a:xfrm>
          <a:prstGeom prst="roundRect">
            <a:avLst>
              <a:gd name="adj" fmla="val 5317"/>
            </a:avLst>
          </a:prstGeom>
          <a:solidFill>
            <a:srgbClr val="37373A"/>
          </a:solidFill>
        </p:spPr>
      </p:sp>
      <p:sp>
        <p:nvSpPr>
          <p:cNvPr id="16" name="Shape 14"/>
          <p:cNvSpPr/>
          <p:nvPr>
            <p:custDataLst>
              <p:tags r:id="rId13"/>
            </p:custDataLst>
          </p:nvPr>
        </p:nvSpPr>
        <p:spPr>
          <a:xfrm>
            <a:off x="5474732" y="5253276"/>
            <a:ext cx="3749516" cy="1489472"/>
          </a:xfrm>
          <a:prstGeom prst="roundRect">
            <a:avLst>
              <a:gd name="adj" fmla="val 1899"/>
            </a:avLst>
          </a:prstGeom>
          <a:solidFill>
            <a:srgbClr val="37373A"/>
          </a:solidFill>
        </p:spPr>
      </p:sp>
      <p:sp>
        <p:nvSpPr>
          <p:cNvPr id="17" name="Text 15"/>
          <p:cNvSpPr/>
          <p:nvPr>
            <p:custDataLst>
              <p:tags r:id="rId14"/>
            </p:custDataLst>
          </p:nvPr>
        </p:nvSpPr>
        <p:spPr>
          <a:xfrm>
            <a:off x="5662930" y="5394325"/>
            <a:ext cx="3372485" cy="1343025"/>
          </a:xfrm>
          <a:prstGeom prst="rect">
            <a:avLst/>
          </a:prstGeom>
          <a:noFill/>
        </p:spPr>
        <p:txBody>
          <a:bodyPr wrap="square" lIns="0" tIns="0" rIns="0" bIns="0" rtlCol="0" anchor="t"/>
          <a:lstStyle/>
          <a:p>
            <a:pPr marL="0" indent="0" algn="l">
              <a:lnSpc>
                <a:spcPts val="2350"/>
              </a:lnSpc>
              <a:buNone/>
            </a:pPr>
            <a:r>
              <a:rPr lang="en-US" sz="1450" dirty="0">
                <a:solidFill>
                  <a:srgbClr val="CFD0D8"/>
                </a:solidFill>
                <a:highlight>
                  <a:srgbClr val="37373A"/>
                </a:highlight>
                <a:latin typeface="Consolas Medium" pitchFamily="34" charset="0"/>
                <a:ea typeface="Consolas Medium" pitchFamily="34" charset="-122"/>
                <a:cs typeface="Consolas Medium" pitchFamily="34" charset="-120"/>
              </a:rPr>
              <a:t>fruits = ["apple", "banana", "cherry", "date"]</a:t>
            </a:r>
            <a:endParaRPr lang="en-US" sz="145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350"/>
              </a:lnSpc>
              <a:buNone/>
            </a:pPr>
            <a:r>
              <a:rPr lang="en-US" sz="1450" dirty="0">
                <a:solidFill>
                  <a:srgbClr val="CFD0D8"/>
                </a:solidFill>
                <a:highlight>
                  <a:srgbClr val="37373A"/>
                </a:highlight>
                <a:latin typeface="Consolas Medium" pitchFamily="34" charset="0"/>
                <a:ea typeface="Consolas Medium" pitchFamily="34" charset="-122"/>
                <a:cs typeface="Consolas Medium" pitchFamily="34" charset="-120"/>
              </a:rPr>
              <a:t>print(fruits[-1]) # Output: date</a:t>
            </a:r>
            <a:endParaRPr lang="en-US" sz="145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350"/>
              </a:lnSpc>
              <a:buNone/>
            </a:pPr>
            <a:r>
              <a:rPr lang="en-US" sz="1450" dirty="0">
                <a:solidFill>
                  <a:srgbClr val="CFD0D8"/>
                </a:solidFill>
                <a:highlight>
                  <a:srgbClr val="37373A"/>
                </a:highlight>
                <a:latin typeface="Consolas Medium" pitchFamily="34" charset="0"/>
                <a:ea typeface="Consolas Medium" pitchFamily="34" charset="-122"/>
                <a:cs typeface="Consolas Medium" pitchFamily="34" charset="-120"/>
              </a:rPr>
              <a:t>print(fruits[-2]) #Output: cherry</a:t>
            </a:r>
            <a:endParaRPr lang="en-US" sz="1450" dirty="0"/>
          </a:p>
        </p:txBody>
      </p:sp>
      <p:sp>
        <p:nvSpPr>
          <p:cNvPr id="18" name="Shape 16"/>
          <p:cNvSpPr/>
          <p:nvPr>
            <p:custDataLst>
              <p:tags r:id="rId15"/>
            </p:custDataLst>
          </p:nvPr>
        </p:nvSpPr>
        <p:spPr>
          <a:xfrm>
            <a:off x="9614654" y="3208020"/>
            <a:ext cx="4221956" cy="3746063"/>
          </a:xfrm>
          <a:prstGeom prst="roundRect">
            <a:avLst>
              <a:gd name="adj" fmla="val 2929"/>
            </a:avLst>
          </a:prstGeom>
          <a:solidFill>
            <a:srgbClr val="2A2A2D">
              <a:alpha val="95000"/>
            </a:srgbClr>
          </a:solidFill>
          <a:ln w="22860">
            <a:solidFill>
              <a:srgbClr val="D5D5D8"/>
            </a:solidFill>
            <a:prstDash val="solid"/>
          </a:ln>
        </p:spPr>
      </p:sp>
      <p:sp>
        <p:nvSpPr>
          <p:cNvPr id="19" name="Shape 17"/>
          <p:cNvSpPr/>
          <p:nvPr>
            <p:custDataLst>
              <p:tags r:id="rId16"/>
            </p:custDataLst>
          </p:nvPr>
        </p:nvSpPr>
        <p:spPr>
          <a:xfrm>
            <a:off x="9591794" y="3208020"/>
            <a:ext cx="91440" cy="3746063"/>
          </a:xfrm>
          <a:prstGeom prst="roundRect">
            <a:avLst>
              <a:gd name="adj" fmla="val 86605"/>
            </a:avLst>
          </a:prstGeom>
          <a:solidFill>
            <a:srgbClr val="D5D5D8"/>
          </a:solidFill>
        </p:spPr>
      </p:sp>
      <p:sp>
        <p:nvSpPr>
          <p:cNvPr id="20" name="Text 18"/>
          <p:cNvSpPr/>
          <p:nvPr>
            <p:custDataLst>
              <p:tags r:id="rId17"/>
            </p:custDataLst>
          </p:nvPr>
        </p:nvSpPr>
        <p:spPr>
          <a:xfrm>
            <a:off x="9894570" y="3419356"/>
            <a:ext cx="3730704" cy="377190"/>
          </a:xfrm>
          <a:prstGeom prst="rect">
            <a:avLst/>
          </a:prstGeom>
          <a:noFill/>
        </p:spPr>
        <p:txBody>
          <a:bodyPr wrap="none" lIns="0" tIns="0" rIns="0" bIns="0" rtlCol="0" anchor="t"/>
          <a:lstStyle/>
          <a:p>
            <a:pPr marL="0" indent="0" algn="l">
              <a:lnSpc>
                <a:spcPts val="2950"/>
              </a:lnSpc>
              <a:buNone/>
            </a:pPr>
            <a:r>
              <a:rPr lang="en-US" sz="1850" dirty="0">
                <a:solidFill>
                  <a:srgbClr val="CFD0D8"/>
                </a:solidFill>
                <a:latin typeface="Instrument Sans Medium" pitchFamily="34" charset="0"/>
                <a:ea typeface="Instrument Sans Medium" pitchFamily="34" charset="-122"/>
                <a:cs typeface="Instrument Sans Medium" pitchFamily="34" charset="-120"/>
              </a:rPr>
              <a:t>Slicing</a:t>
            </a:r>
            <a:endParaRPr lang="en-US" sz="1850" dirty="0"/>
          </a:p>
        </p:txBody>
      </p:sp>
      <p:sp>
        <p:nvSpPr>
          <p:cNvPr id="21" name="Text 19"/>
          <p:cNvSpPr/>
          <p:nvPr>
            <p:custDataLst>
              <p:tags r:id="rId18"/>
            </p:custDataLst>
          </p:nvPr>
        </p:nvSpPr>
        <p:spPr>
          <a:xfrm>
            <a:off x="9894570" y="3909655"/>
            <a:ext cx="3730704" cy="1131570"/>
          </a:xfrm>
          <a:prstGeom prst="rect">
            <a:avLst/>
          </a:prstGeom>
          <a:noFill/>
        </p:spPr>
        <p:txBody>
          <a:bodyPr wrap="square" lIns="0" tIns="0" rIns="0" bIns="0" rtlCol="0" anchor="t"/>
          <a:lstStyle/>
          <a:p>
            <a:pPr marL="0" indent="0" algn="l">
              <a:lnSpc>
                <a:spcPts val="2950"/>
              </a:lnSpc>
              <a:buNone/>
            </a:pPr>
            <a:r>
              <a:rPr lang="en-US" sz="1850" dirty="0">
                <a:solidFill>
                  <a:srgbClr val="CFD0D8"/>
                </a:solidFill>
                <a:latin typeface="Instrument Sans Medium" pitchFamily="34" charset="0"/>
                <a:ea typeface="Instrument Sans Medium" pitchFamily="34" charset="-122"/>
                <a:cs typeface="Instrument Sans Medium" pitchFamily="34" charset="-120"/>
              </a:rPr>
              <a:t>Extract multiple elements using the slice notation [start:end:step]. The end index is exclusive.</a:t>
            </a:r>
            <a:endParaRPr lang="en-US" sz="1850" dirty="0"/>
          </a:p>
        </p:txBody>
      </p:sp>
      <p:sp>
        <p:nvSpPr>
          <p:cNvPr id="22" name="Shape 20"/>
          <p:cNvSpPr/>
          <p:nvPr>
            <p:custDataLst>
              <p:tags r:id="rId19"/>
            </p:custDataLst>
          </p:nvPr>
        </p:nvSpPr>
        <p:spPr>
          <a:xfrm>
            <a:off x="9894570" y="5253276"/>
            <a:ext cx="3730704" cy="1489472"/>
          </a:xfrm>
          <a:prstGeom prst="roundRect">
            <a:avLst>
              <a:gd name="adj" fmla="val 5317"/>
            </a:avLst>
          </a:prstGeom>
          <a:solidFill>
            <a:srgbClr val="37373A"/>
          </a:solidFill>
        </p:spPr>
      </p:sp>
      <p:sp>
        <p:nvSpPr>
          <p:cNvPr id="23" name="Shape 21"/>
          <p:cNvSpPr/>
          <p:nvPr>
            <p:custDataLst>
              <p:tags r:id="rId20"/>
            </p:custDataLst>
          </p:nvPr>
        </p:nvSpPr>
        <p:spPr>
          <a:xfrm>
            <a:off x="9885045" y="5253355"/>
            <a:ext cx="3912870" cy="1675765"/>
          </a:xfrm>
          <a:prstGeom prst="roundRect">
            <a:avLst>
              <a:gd name="adj" fmla="val 1899"/>
            </a:avLst>
          </a:prstGeom>
          <a:solidFill>
            <a:srgbClr val="37373A"/>
          </a:solidFill>
        </p:spPr>
      </p:sp>
      <p:sp>
        <p:nvSpPr>
          <p:cNvPr id="24" name="Text 22"/>
          <p:cNvSpPr/>
          <p:nvPr>
            <p:custDataLst>
              <p:tags r:id="rId21"/>
            </p:custDataLst>
          </p:nvPr>
        </p:nvSpPr>
        <p:spPr>
          <a:xfrm>
            <a:off x="10073640" y="5394603"/>
            <a:ext cx="3372564" cy="1206818"/>
          </a:xfrm>
          <a:prstGeom prst="rect">
            <a:avLst/>
          </a:prstGeom>
          <a:noFill/>
        </p:spPr>
        <p:txBody>
          <a:bodyPr wrap="square" lIns="0" tIns="0" rIns="0" bIns="0" rtlCol="0" anchor="t"/>
          <a:lstStyle/>
          <a:p>
            <a:pPr marL="0" indent="0" algn="l">
              <a:lnSpc>
                <a:spcPts val="2350"/>
              </a:lnSpc>
              <a:buNone/>
            </a:pPr>
            <a:r>
              <a:rPr lang="en-US" sz="1450" dirty="0">
                <a:solidFill>
                  <a:srgbClr val="CFD0D8"/>
                </a:solidFill>
                <a:highlight>
                  <a:srgbClr val="37373A"/>
                </a:highlight>
                <a:latin typeface="Consolas Medium" pitchFamily="34" charset="0"/>
                <a:ea typeface="Consolas Medium" pitchFamily="34" charset="-122"/>
                <a:cs typeface="Consolas Medium" pitchFamily="34" charset="-120"/>
              </a:rPr>
              <a:t>numbers = [0, 1, 2, 3, 4, 5,</a:t>
            </a:r>
            <a:r>
              <a:rPr lang="en-US" sz="1450" dirty="0">
                <a:solidFill>
                  <a:srgbClr val="CFD0D8"/>
                </a:solidFill>
                <a:highlight>
                  <a:srgbClr val="37373A"/>
                </a:highlight>
                <a:latin typeface="Consolas Medium" pitchFamily="34" charset="0"/>
                <a:ea typeface="Consolas Medium" pitchFamily="34" charset="-122"/>
                <a:cs typeface="Consolas Medium" pitchFamily="34" charset="-120"/>
                <a:sym typeface="+mn-ea"/>
              </a:rPr>
              <a:t>6,7]</a:t>
            </a:r>
            <a:r>
              <a:rPr lang="en-US" sz="1450" dirty="0">
                <a:solidFill>
                  <a:srgbClr val="CFD0D8"/>
                </a:solidFill>
                <a:highlight>
                  <a:srgbClr val="37373A"/>
                </a:highlight>
                <a:latin typeface="Consolas Medium" pitchFamily="34" charset="0"/>
                <a:ea typeface="Consolas Medium" pitchFamily="34" charset="-122"/>
                <a:cs typeface="Consolas Medium" pitchFamily="34" charset="-120"/>
              </a:rPr>
              <a:t> </a:t>
            </a:r>
            <a:endParaRPr lang="en-US" sz="145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350"/>
              </a:lnSpc>
              <a:buNone/>
            </a:pPr>
            <a:r>
              <a:rPr lang="en-US" sz="1450" dirty="0">
                <a:solidFill>
                  <a:srgbClr val="CFD0D8"/>
                </a:solidFill>
                <a:highlight>
                  <a:srgbClr val="37373A"/>
                </a:highlight>
                <a:latin typeface="Consolas Medium" pitchFamily="34" charset="0"/>
                <a:ea typeface="Consolas Medium" pitchFamily="34" charset="-122"/>
                <a:cs typeface="Consolas Medium" pitchFamily="34" charset="-120"/>
              </a:rPr>
              <a:t>print(numbers[2:5]) # [2, 3, 4]</a:t>
            </a:r>
            <a:endParaRPr lang="en-US" sz="145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350"/>
              </a:lnSpc>
              <a:buNone/>
            </a:pPr>
            <a:r>
              <a:rPr lang="en-US" sz="1450" dirty="0">
                <a:solidFill>
                  <a:srgbClr val="CFD0D8"/>
                </a:solidFill>
                <a:highlight>
                  <a:srgbClr val="37373A"/>
                </a:highlight>
                <a:latin typeface="Consolas Medium" pitchFamily="34" charset="0"/>
                <a:ea typeface="Consolas Medium" pitchFamily="34" charset="-122"/>
                <a:cs typeface="Consolas Medium" pitchFamily="34" charset="-120"/>
              </a:rPr>
              <a:t>print(numbers[::2]) # [0, 2, 4,</a:t>
            </a:r>
            <a:r>
              <a:rPr lang="en-US" sz="1450" dirty="0">
                <a:solidFill>
                  <a:srgbClr val="CFD0D8"/>
                </a:solidFill>
                <a:highlight>
                  <a:srgbClr val="37373A"/>
                </a:highlight>
                <a:latin typeface="Consolas Medium" pitchFamily="34" charset="0"/>
                <a:ea typeface="Consolas Medium" pitchFamily="34" charset="-122"/>
                <a:cs typeface="Consolas Medium" pitchFamily="34" charset="-120"/>
                <a:sym typeface="+mn-ea"/>
              </a:rPr>
              <a:t>6]</a:t>
            </a:r>
            <a:r>
              <a:rPr lang="en-US" sz="1450" dirty="0">
                <a:solidFill>
                  <a:srgbClr val="CFD0D8"/>
                </a:solidFill>
                <a:highlight>
                  <a:srgbClr val="37373A"/>
                </a:highlight>
                <a:latin typeface="Consolas Medium" pitchFamily="34" charset="0"/>
                <a:ea typeface="Consolas Medium" pitchFamily="34" charset="-122"/>
                <a:cs typeface="Consolas Medium" pitchFamily="34" charset="-120"/>
              </a:rPr>
              <a:t> </a:t>
            </a:r>
            <a:endParaRPr lang="en-US" sz="145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350"/>
              </a:lnSpc>
              <a:buNone/>
            </a:pPr>
            <a:r>
              <a:rPr lang="en-US" sz="1450" dirty="0">
                <a:solidFill>
                  <a:srgbClr val="CFD0D8"/>
                </a:solidFill>
                <a:highlight>
                  <a:srgbClr val="37373A"/>
                </a:highlight>
                <a:latin typeface="Consolas Medium" pitchFamily="34" charset="0"/>
                <a:ea typeface="Consolas Medium" pitchFamily="34" charset="-122"/>
                <a:cs typeface="Consolas Medium" pitchFamily="34" charset="-120"/>
              </a:rPr>
              <a:t>print(numbers[::-1]) # Reversed list</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26388"/>
            <a:ext cx="4323874" cy="465177"/>
          </a:xfrm>
          <a:prstGeom prst="rect">
            <a:avLst/>
          </a:prstGeom>
          <a:noFill/>
        </p:spPr>
        <p:txBody>
          <a:bodyPr wrap="none" lIns="0" tIns="0" rIns="0" bIns="0" rtlCol="0" anchor="t"/>
          <a:lstStyle/>
          <a:p>
            <a:pPr marL="0" indent="0" algn="l">
              <a:lnSpc>
                <a:spcPts val="3650"/>
              </a:lnSpc>
              <a:buNone/>
            </a:pPr>
            <a:r>
              <a:rPr lang="en-US" sz="2900" dirty="0">
                <a:solidFill>
                  <a:srgbClr val="CBCCCE"/>
                </a:solidFill>
                <a:latin typeface="Instrument Sans Semi Bold" pitchFamily="34" charset="0"/>
                <a:ea typeface="Instrument Sans Semi Bold" pitchFamily="34" charset="-122"/>
                <a:cs typeface="Instrument Sans Semi Bold" pitchFamily="34" charset="-120"/>
              </a:rPr>
              <a:t>Essential List Operations</a:t>
            </a:r>
            <a:endParaRPr lang="en-US" sz="2900" dirty="0"/>
          </a:p>
        </p:txBody>
      </p:sp>
      <p:sp>
        <p:nvSpPr>
          <p:cNvPr id="3" name="Text 1"/>
          <p:cNvSpPr/>
          <p:nvPr/>
        </p:nvSpPr>
        <p:spPr>
          <a:xfrm>
            <a:off x="793790" y="1389221"/>
            <a:ext cx="13042821" cy="595313"/>
          </a:xfrm>
          <a:prstGeom prst="rect">
            <a:avLst/>
          </a:prstGeom>
          <a:noFill/>
        </p:spPr>
        <p:txBody>
          <a:bodyPr wrap="square" lIns="0" tIns="0" rIns="0" bIns="0" rtlCol="0" anchor="t"/>
          <a:lstStyle/>
          <a:p>
            <a:pPr marL="0" indent="0" algn="l">
              <a:lnSpc>
                <a:spcPts val="2300"/>
              </a:lnSpc>
              <a:buNone/>
            </a:pPr>
            <a:r>
              <a:rPr lang="en-US" sz="1600" dirty="0">
                <a:solidFill>
                  <a:srgbClr val="CFD0D8"/>
                </a:solidFill>
                <a:latin typeface="Instrument Sans Medium" pitchFamily="34" charset="0"/>
                <a:ea typeface="Instrument Sans Medium" pitchFamily="34" charset="-122"/>
                <a:cs typeface="Instrument Sans Medium" pitchFamily="34" charset="-120"/>
              </a:rPr>
              <a:t>Master the fundamental operations that form the foundation of list manipulation. These operations allow you to measure, combine, and duplicate your lists.</a:t>
            </a:r>
            <a:endParaRPr lang="en-US" sz="1600" dirty="0">
              <a:solidFill>
                <a:srgbClr val="CFD0D8"/>
              </a:solidFill>
              <a:latin typeface="Instrument Sans Medium" pitchFamily="34" charset="0"/>
              <a:ea typeface="Instrument Sans Medium" pitchFamily="34" charset="-122"/>
              <a:cs typeface="Instrument Sans Medium" pitchFamily="34" charset="-120"/>
            </a:endParaRPr>
          </a:p>
        </p:txBody>
      </p:sp>
      <p:sp>
        <p:nvSpPr>
          <p:cNvPr id="4" name="Text 2"/>
          <p:cNvSpPr/>
          <p:nvPr>
            <p:custDataLst>
              <p:tags r:id="rId1"/>
            </p:custDataLst>
          </p:nvPr>
        </p:nvSpPr>
        <p:spPr>
          <a:xfrm>
            <a:off x="793790" y="2285881"/>
            <a:ext cx="6339840" cy="297656"/>
          </a:xfrm>
          <a:prstGeom prst="rect">
            <a:avLst/>
          </a:prstGeom>
          <a:noFill/>
        </p:spPr>
        <p:txBody>
          <a:bodyPr wrap="none" lIns="0" tIns="0" rIns="0" bIns="0" rtlCol="0" anchor="t"/>
          <a:lstStyle/>
          <a:p>
            <a:pPr marL="0" indent="0" algn="l">
              <a:lnSpc>
                <a:spcPts val="2300"/>
              </a:lnSpc>
              <a:buNone/>
            </a:pPr>
            <a:r>
              <a:rPr lang="en-US" sz="1600" b="1" dirty="0">
                <a:solidFill>
                  <a:srgbClr val="CFD0D8"/>
                </a:solidFill>
                <a:latin typeface="Instrument Sans Medium" pitchFamily="34" charset="0"/>
                <a:ea typeface="Instrument Sans Medium" pitchFamily="34" charset="-122"/>
                <a:cs typeface="Instrument Sans Medium" pitchFamily="34" charset="-120"/>
              </a:rPr>
              <a:t>Length Function</a:t>
            </a:r>
            <a:endParaRPr lang="en-US" sz="1600" b="1" dirty="0">
              <a:solidFill>
                <a:srgbClr val="CFD0D8"/>
              </a:solidFill>
              <a:latin typeface="Instrument Sans Medium" pitchFamily="34" charset="0"/>
              <a:ea typeface="Instrument Sans Medium" pitchFamily="34" charset="-122"/>
              <a:cs typeface="Instrument Sans Medium" pitchFamily="34" charset="-120"/>
            </a:endParaRPr>
          </a:p>
        </p:txBody>
      </p:sp>
      <p:sp>
        <p:nvSpPr>
          <p:cNvPr id="5" name="Text 3"/>
          <p:cNvSpPr/>
          <p:nvPr>
            <p:custDataLst>
              <p:tags r:id="rId2"/>
            </p:custDataLst>
          </p:nvPr>
        </p:nvSpPr>
        <p:spPr>
          <a:xfrm>
            <a:off x="793790" y="2717483"/>
            <a:ext cx="6339840" cy="610553"/>
          </a:xfrm>
          <a:prstGeom prst="rect">
            <a:avLst/>
          </a:prstGeom>
          <a:noFill/>
        </p:spPr>
        <p:txBody>
          <a:bodyPr wrap="square" lIns="0" tIns="0" rIns="0" bIns="0" rtlCol="0" anchor="t"/>
          <a:lstStyle/>
          <a:p>
            <a:pPr marL="0" indent="0" algn="l">
              <a:lnSpc>
                <a:spcPts val="2300"/>
              </a:lnSpc>
              <a:buNone/>
            </a:pPr>
            <a:r>
              <a:rPr lang="en-US" sz="1450" dirty="0">
                <a:solidFill>
                  <a:srgbClr val="CFD0D8"/>
                </a:solidFill>
                <a:latin typeface="Instrument Sans Medium" pitchFamily="34" charset="0"/>
                <a:ea typeface="Instrument Sans Medium" pitchFamily="34" charset="-122"/>
                <a:cs typeface="Instrument Sans Medium" pitchFamily="34" charset="-120"/>
              </a:rPr>
              <a:t>Determine how many elements exist in your list using </a:t>
            </a:r>
            <a:r>
              <a:rPr lang="en-US" sz="1450" dirty="0">
                <a:solidFill>
                  <a:srgbClr val="CFD0D8"/>
                </a:solidFill>
                <a:highlight>
                  <a:srgbClr val="37373A"/>
                </a:highlight>
                <a:latin typeface="Consolas" panose="020B0609020204030204" charset="0"/>
                <a:ea typeface="Consolas" panose="020B0609020204030204" pitchFamily="34" charset="-122"/>
                <a:cs typeface="Consolas" panose="020B0609020204030204" pitchFamily="34" charset="-120"/>
              </a:rPr>
              <a:t>len()</a:t>
            </a:r>
            <a:r>
              <a:rPr lang="en-US" sz="1450" dirty="0">
                <a:solidFill>
                  <a:srgbClr val="CFD0D8"/>
                </a:solidFill>
                <a:latin typeface="Instrument Sans Medium" pitchFamily="34" charset="0"/>
                <a:ea typeface="Instrument Sans Medium" pitchFamily="34" charset="-122"/>
                <a:cs typeface="Instrument Sans Medium" pitchFamily="34" charset="-120"/>
              </a:rPr>
              <a:t>. This is essential for loops and boundary checking.</a:t>
            </a:r>
            <a:endParaRPr lang="en-US" sz="1450" dirty="0"/>
          </a:p>
        </p:txBody>
      </p:sp>
      <p:sp>
        <p:nvSpPr>
          <p:cNvPr id="6" name="Shape 4"/>
          <p:cNvSpPr/>
          <p:nvPr>
            <p:custDataLst>
              <p:tags r:id="rId3"/>
            </p:custDataLst>
          </p:nvPr>
        </p:nvSpPr>
        <p:spPr>
          <a:xfrm>
            <a:off x="793790" y="3495437"/>
            <a:ext cx="6339840" cy="1413748"/>
          </a:xfrm>
          <a:prstGeom prst="roundRect">
            <a:avLst>
              <a:gd name="adj" fmla="val 4422"/>
            </a:avLst>
          </a:prstGeom>
          <a:solidFill>
            <a:srgbClr val="37373A"/>
          </a:solidFill>
        </p:spPr>
      </p:sp>
      <p:sp>
        <p:nvSpPr>
          <p:cNvPr id="7" name="Shape 5"/>
          <p:cNvSpPr/>
          <p:nvPr>
            <p:custDataLst>
              <p:tags r:id="rId4"/>
            </p:custDataLst>
          </p:nvPr>
        </p:nvSpPr>
        <p:spPr>
          <a:xfrm>
            <a:off x="786408" y="3495437"/>
            <a:ext cx="6354604" cy="1413748"/>
          </a:xfrm>
          <a:prstGeom prst="roundRect">
            <a:avLst>
              <a:gd name="adj" fmla="val 1579"/>
            </a:avLst>
          </a:prstGeom>
          <a:solidFill>
            <a:srgbClr val="37373A"/>
          </a:solidFill>
        </p:spPr>
      </p:sp>
      <p:sp>
        <p:nvSpPr>
          <p:cNvPr id="8" name="Text 6"/>
          <p:cNvSpPr/>
          <p:nvPr>
            <p:custDataLst>
              <p:tags r:id="rId5"/>
            </p:custDataLst>
          </p:nvPr>
        </p:nvSpPr>
        <p:spPr>
          <a:xfrm>
            <a:off x="935236" y="3606998"/>
            <a:ext cx="6056948" cy="1190625"/>
          </a:xfrm>
          <a:prstGeom prst="rect">
            <a:avLst/>
          </a:prstGeom>
          <a:noFill/>
        </p:spPr>
        <p:txBody>
          <a:bodyPr wrap="square" lIns="0" tIns="0" rIns="0" bIns="0" rtlCol="0" anchor="t"/>
          <a:lstStyle/>
          <a:p>
            <a:pPr marL="0" indent="0" algn="l">
              <a:lnSpc>
                <a:spcPts val="18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students = ["Emma", "Liam", "Sophia"]</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8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print(len(students)) </a:t>
            </a:r>
            <a:r>
              <a:rPr lang="en-US" sz="1400" dirty="0">
                <a:solidFill>
                  <a:srgbClr val="CFD0D8"/>
                </a:solidFill>
                <a:highlight>
                  <a:srgbClr val="37373A"/>
                </a:highlight>
                <a:latin typeface="Consolas Medium" pitchFamily="34" charset="0"/>
                <a:ea typeface="Consolas Medium" pitchFamily="34" charset="-122"/>
                <a:cs typeface="Consolas Medium" pitchFamily="34" charset="-120"/>
                <a:sym typeface="+mn-ea"/>
              </a:rPr>
              <a:t># Output: 3</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8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 </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8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empty_list = []</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8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print(len(empty_list))  # Output: 0</a:t>
            </a:r>
            <a:endParaRPr lang="en-US" sz="1400" dirty="0"/>
          </a:p>
        </p:txBody>
      </p:sp>
      <p:sp>
        <p:nvSpPr>
          <p:cNvPr id="9" name="Text 7"/>
          <p:cNvSpPr/>
          <p:nvPr>
            <p:custDataLst>
              <p:tags r:id="rId6"/>
            </p:custDataLst>
          </p:nvPr>
        </p:nvSpPr>
        <p:spPr>
          <a:xfrm>
            <a:off x="7504390" y="2285881"/>
            <a:ext cx="6339840" cy="297656"/>
          </a:xfrm>
          <a:prstGeom prst="rect">
            <a:avLst/>
          </a:prstGeom>
          <a:noFill/>
        </p:spPr>
        <p:txBody>
          <a:bodyPr wrap="none" lIns="0" tIns="0" rIns="0" bIns="0" rtlCol="0" anchor="t"/>
          <a:lstStyle/>
          <a:p>
            <a:pPr marL="0" indent="0" algn="l">
              <a:lnSpc>
                <a:spcPts val="2300"/>
              </a:lnSpc>
              <a:buNone/>
            </a:pPr>
            <a:r>
              <a:rPr lang="en-US" sz="1600" b="1" dirty="0">
                <a:solidFill>
                  <a:srgbClr val="CFD0D8"/>
                </a:solidFill>
                <a:latin typeface="Instrument Sans Medium" pitchFamily="34" charset="0"/>
                <a:ea typeface="Instrument Sans Medium" pitchFamily="34" charset="-122"/>
                <a:cs typeface="Instrument Sans Medium" pitchFamily="34" charset="-120"/>
              </a:rPr>
              <a:t>Concatenation</a:t>
            </a:r>
            <a:endParaRPr lang="en-US" sz="1600" b="1" dirty="0">
              <a:solidFill>
                <a:srgbClr val="CFD0D8"/>
              </a:solidFill>
              <a:latin typeface="Instrument Sans Medium" pitchFamily="34" charset="0"/>
              <a:ea typeface="Instrument Sans Medium" pitchFamily="34" charset="-122"/>
              <a:cs typeface="Instrument Sans Medium" pitchFamily="34" charset="-120"/>
            </a:endParaRPr>
          </a:p>
        </p:txBody>
      </p:sp>
      <p:sp>
        <p:nvSpPr>
          <p:cNvPr id="10" name="Text 8"/>
          <p:cNvSpPr/>
          <p:nvPr>
            <p:custDataLst>
              <p:tags r:id="rId7"/>
            </p:custDataLst>
          </p:nvPr>
        </p:nvSpPr>
        <p:spPr>
          <a:xfrm>
            <a:off x="7504390" y="2717483"/>
            <a:ext cx="6339840" cy="610553"/>
          </a:xfrm>
          <a:prstGeom prst="rect">
            <a:avLst/>
          </a:prstGeom>
          <a:noFill/>
        </p:spPr>
        <p:txBody>
          <a:bodyPr wrap="square" lIns="0" tIns="0" rIns="0" bIns="0" rtlCol="0" anchor="t"/>
          <a:lstStyle/>
          <a:p>
            <a:pPr marL="0" indent="0" algn="l">
              <a:lnSpc>
                <a:spcPts val="2300"/>
              </a:lnSpc>
              <a:buNone/>
            </a:pPr>
            <a:r>
              <a:rPr lang="en-US" sz="1450" dirty="0">
                <a:solidFill>
                  <a:srgbClr val="CFD0D8"/>
                </a:solidFill>
                <a:latin typeface="Instrument Sans Medium" pitchFamily="34" charset="0"/>
                <a:ea typeface="Instrument Sans Medium" pitchFamily="34" charset="-122"/>
                <a:cs typeface="Instrument Sans Medium" pitchFamily="34" charset="-120"/>
              </a:rPr>
              <a:t>Combine two or more lists using the </a:t>
            </a:r>
            <a:r>
              <a:rPr lang="en-US" sz="1450" dirty="0">
                <a:solidFill>
                  <a:srgbClr val="CFD0D8"/>
                </a:solidFill>
                <a:highlight>
                  <a:srgbClr val="37373A"/>
                </a:highlight>
                <a:latin typeface="Consolas" panose="020B0609020204030204" charset="0"/>
                <a:ea typeface="Consolas" panose="020B0609020204030204" pitchFamily="34" charset="-122"/>
                <a:cs typeface="Consolas" panose="020B0609020204030204" pitchFamily="34" charset="-120"/>
              </a:rPr>
              <a:t>+</a:t>
            </a:r>
            <a:r>
              <a:rPr lang="en-US" sz="1450" dirty="0">
                <a:solidFill>
                  <a:srgbClr val="CFD0D8"/>
                </a:solidFill>
                <a:latin typeface="Instrument Sans Medium" pitchFamily="34" charset="0"/>
                <a:ea typeface="Instrument Sans Medium" pitchFamily="34" charset="-122"/>
                <a:cs typeface="Instrument Sans Medium" pitchFamily="34" charset="-120"/>
              </a:rPr>
              <a:t> operator to create a new, unified list.</a:t>
            </a:r>
            <a:endParaRPr lang="en-US" sz="1450" dirty="0"/>
          </a:p>
        </p:txBody>
      </p:sp>
      <p:sp>
        <p:nvSpPr>
          <p:cNvPr id="11" name="Shape 9"/>
          <p:cNvSpPr/>
          <p:nvPr>
            <p:custDataLst>
              <p:tags r:id="rId8"/>
            </p:custDataLst>
          </p:nvPr>
        </p:nvSpPr>
        <p:spPr>
          <a:xfrm>
            <a:off x="7504390" y="3495437"/>
            <a:ext cx="6339840" cy="1413748"/>
          </a:xfrm>
          <a:prstGeom prst="roundRect">
            <a:avLst>
              <a:gd name="adj" fmla="val 4422"/>
            </a:avLst>
          </a:prstGeom>
          <a:solidFill>
            <a:srgbClr val="37373A"/>
          </a:solidFill>
        </p:spPr>
      </p:sp>
      <p:sp>
        <p:nvSpPr>
          <p:cNvPr id="12" name="Shape 10"/>
          <p:cNvSpPr/>
          <p:nvPr>
            <p:custDataLst>
              <p:tags r:id="rId9"/>
            </p:custDataLst>
          </p:nvPr>
        </p:nvSpPr>
        <p:spPr>
          <a:xfrm>
            <a:off x="7340798" y="3461782"/>
            <a:ext cx="6354604" cy="1413748"/>
          </a:xfrm>
          <a:prstGeom prst="roundRect">
            <a:avLst>
              <a:gd name="adj" fmla="val 1579"/>
            </a:avLst>
          </a:prstGeom>
          <a:solidFill>
            <a:srgbClr val="37373A"/>
          </a:solidFill>
        </p:spPr>
      </p:sp>
      <p:sp>
        <p:nvSpPr>
          <p:cNvPr id="13" name="Text 11"/>
          <p:cNvSpPr/>
          <p:nvPr>
            <p:custDataLst>
              <p:tags r:id="rId10"/>
            </p:custDataLst>
          </p:nvPr>
        </p:nvSpPr>
        <p:spPr>
          <a:xfrm>
            <a:off x="7779187" y="3589218"/>
            <a:ext cx="6056948" cy="1190625"/>
          </a:xfrm>
          <a:prstGeom prst="rect">
            <a:avLst/>
          </a:prstGeom>
          <a:noFill/>
        </p:spPr>
        <p:txBody>
          <a:bodyPr wrap="square" lIns="0" tIns="0" rIns="0" bIns="0" rtlCol="0" anchor="t"/>
          <a:lstStyle/>
          <a:p>
            <a:pPr marL="0" indent="0" algn="l">
              <a:lnSpc>
                <a:spcPts val="18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list1 = [1, 2, 3]</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8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list2 = [4, 5, 6]</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8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combined = list1 + list2</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8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print(combined)   # Output: [1, 2, 3, 4, 5, 6]</a:t>
            </a:r>
            <a:endParaRPr lang="en-US" sz="1400" dirty="0"/>
          </a:p>
        </p:txBody>
      </p:sp>
      <p:sp>
        <p:nvSpPr>
          <p:cNvPr id="14" name="Text 12"/>
          <p:cNvSpPr/>
          <p:nvPr/>
        </p:nvSpPr>
        <p:spPr>
          <a:xfrm>
            <a:off x="793790" y="5243989"/>
            <a:ext cx="13042821" cy="297656"/>
          </a:xfrm>
          <a:prstGeom prst="rect">
            <a:avLst/>
          </a:prstGeom>
          <a:noFill/>
        </p:spPr>
        <p:txBody>
          <a:bodyPr wrap="none" lIns="0" tIns="0" rIns="0" bIns="0" rtlCol="0" anchor="t"/>
          <a:lstStyle/>
          <a:p>
            <a:pPr marL="0" indent="0" algn="l">
              <a:lnSpc>
                <a:spcPts val="2300"/>
              </a:lnSpc>
              <a:buNone/>
            </a:pPr>
            <a:r>
              <a:rPr lang="en-US" sz="1600" b="1" dirty="0">
                <a:solidFill>
                  <a:srgbClr val="CFD0D8"/>
                </a:solidFill>
                <a:latin typeface="Instrument Sans Medium" pitchFamily="34" charset="0"/>
                <a:ea typeface="Instrument Sans Medium" pitchFamily="34" charset="-122"/>
                <a:cs typeface="Instrument Sans Medium" pitchFamily="34" charset="-120"/>
              </a:rPr>
              <a:t>Repetition Operatio</a:t>
            </a:r>
            <a:r>
              <a:rPr lang="en-US" sz="1450" dirty="0">
                <a:solidFill>
                  <a:srgbClr val="CFD0D8"/>
                </a:solidFill>
                <a:latin typeface="Instrument Sans Medium" pitchFamily="34" charset="0"/>
                <a:ea typeface="Instrument Sans Medium" pitchFamily="34" charset="-122"/>
                <a:cs typeface="Instrument Sans Medium" pitchFamily="34" charset="-120"/>
              </a:rPr>
              <a:t>n</a:t>
            </a:r>
            <a:endParaRPr lang="en-US" sz="1450" dirty="0"/>
          </a:p>
        </p:txBody>
      </p:sp>
      <p:sp>
        <p:nvSpPr>
          <p:cNvPr id="15" name="Text 13"/>
          <p:cNvSpPr/>
          <p:nvPr/>
        </p:nvSpPr>
        <p:spPr>
          <a:xfrm>
            <a:off x="793790" y="5709047"/>
            <a:ext cx="13042821" cy="312896"/>
          </a:xfrm>
          <a:prstGeom prst="rect">
            <a:avLst/>
          </a:prstGeom>
          <a:noFill/>
        </p:spPr>
        <p:txBody>
          <a:bodyPr wrap="none" lIns="0" tIns="0" rIns="0" bIns="0" rtlCol="0" anchor="t"/>
          <a:lstStyle/>
          <a:p>
            <a:pPr marL="0" indent="0" algn="l">
              <a:lnSpc>
                <a:spcPts val="2300"/>
              </a:lnSpc>
              <a:buNone/>
            </a:pPr>
            <a:r>
              <a:rPr lang="en-US" sz="1450" dirty="0">
                <a:solidFill>
                  <a:srgbClr val="CFD0D8"/>
                </a:solidFill>
                <a:latin typeface="Instrument Sans Medium" pitchFamily="34" charset="0"/>
                <a:ea typeface="Instrument Sans Medium" pitchFamily="34" charset="-122"/>
                <a:cs typeface="Instrument Sans Medium" pitchFamily="34" charset="-120"/>
              </a:rPr>
              <a:t>Repeat list elements using the </a:t>
            </a:r>
            <a:r>
              <a:rPr lang="en-US" sz="1450" dirty="0">
                <a:solidFill>
                  <a:srgbClr val="CFD0D8"/>
                </a:solidFill>
                <a:highlight>
                  <a:srgbClr val="37373A"/>
                </a:highlight>
                <a:latin typeface="Consolas" panose="020B0609020204030204" charset="0"/>
                <a:ea typeface="Consolas" panose="020B0609020204030204" pitchFamily="34" charset="-122"/>
                <a:cs typeface="Consolas" panose="020B0609020204030204" pitchFamily="34" charset="-120"/>
              </a:rPr>
              <a:t>*</a:t>
            </a:r>
            <a:r>
              <a:rPr lang="en-US" sz="1450" dirty="0">
                <a:solidFill>
                  <a:srgbClr val="CFD0D8"/>
                </a:solidFill>
                <a:latin typeface="Instrument Sans Medium" pitchFamily="34" charset="0"/>
                <a:ea typeface="Instrument Sans Medium" pitchFamily="34" charset="-122"/>
                <a:cs typeface="Instrument Sans Medium" pitchFamily="34" charset="-120"/>
              </a:rPr>
              <a:t> operator to quickly generate patterns or fill initial data structures.</a:t>
            </a:r>
            <a:endParaRPr lang="en-US" sz="1450" dirty="0"/>
          </a:p>
        </p:txBody>
      </p:sp>
      <p:sp>
        <p:nvSpPr>
          <p:cNvPr id="16" name="Shape 14"/>
          <p:cNvSpPr/>
          <p:nvPr/>
        </p:nvSpPr>
        <p:spPr>
          <a:xfrm>
            <a:off x="793790" y="6189345"/>
            <a:ext cx="13042821" cy="1413748"/>
          </a:xfrm>
          <a:prstGeom prst="roundRect">
            <a:avLst>
              <a:gd name="adj" fmla="val 4422"/>
            </a:avLst>
          </a:prstGeom>
          <a:solidFill>
            <a:srgbClr val="37373A"/>
          </a:solidFill>
        </p:spPr>
      </p:sp>
      <p:sp>
        <p:nvSpPr>
          <p:cNvPr id="17" name="Shape 15"/>
          <p:cNvSpPr/>
          <p:nvPr/>
        </p:nvSpPr>
        <p:spPr>
          <a:xfrm>
            <a:off x="786408" y="6189345"/>
            <a:ext cx="13057584" cy="1413748"/>
          </a:xfrm>
          <a:prstGeom prst="roundRect">
            <a:avLst>
              <a:gd name="adj" fmla="val 1579"/>
            </a:avLst>
          </a:prstGeom>
          <a:solidFill>
            <a:srgbClr val="37373A"/>
          </a:solidFill>
        </p:spPr>
      </p:sp>
      <p:sp>
        <p:nvSpPr>
          <p:cNvPr id="18" name="Text 16"/>
          <p:cNvSpPr/>
          <p:nvPr/>
        </p:nvSpPr>
        <p:spPr>
          <a:xfrm>
            <a:off x="935871" y="6189147"/>
            <a:ext cx="12759928" cy="1190625"/>
          </a:xfrm>
          <a:prstGeom prst="rect">
            <a:avLst/>
          </a:prstGeom>
          <a:noFill/>
        </p:spPr>
        <p:txBody>
          <a:bodyPr wrap="square" lIns="0" tIns="0" rIns="0" bIns="0" rtlCol="0" anchor="t"/>
          <a:lstStyle/>
          <a:p>
            <a:pPr marL="0" indent="0" algn="l">
              <a:lnSpc>
                <a:spcPts val="18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pattern = [0] * 5</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8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print(pattern) # Output: [0, 0, 0, 0, 0]</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8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repeated = ["x", "y"] * 3</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8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print(repeated) # Output: ['x', 'y', 'x', 'y', 'x', 'y']</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8550" y="343853"/>
            <a:ext cx="13042821" cy="277892"/>
          </a:xfrm>
          <a:prstGeom prst="rect">
            <a:avLst/>
          </a:prstGeom>
          <a:noFill/>
        </p:spPr>
        <p:txBody>
          <a:bodyPr wrap="none" lIns="0" tIns="0" rIns="0" bIns="0" rtlCol="0" anchor="t"/>
          <a:lstStyle/>
          <a:p>
            <a:pPr marL="0" indent="0" algn="l">
              <a:lnSpc>
                <a:spcPts val="2150"/>
              </a:lnSpc>
              <a:buNone/>
            </a:pPr>
            <a:r>
              <a:rPr lang="en-US" sz="1600" b="1" dirty="0">
                <a:solidFill>
                  <a:srgbClr val="CFD0D8"/>
                </a:solidFill>
                <a:latin typeface="Instrument Sans Medium" pitchFamily="34" charset="0"/>
                <a:ea typeface="Instrument Sans Medium" pitchFamily="34" charset="-122"/>
                <a:cs typeface="Instrument Sans Medium" pitchFamily="34" charset="-120"/>
              </a:rPr>
              <a:t>Modifying Lists: Adding and Removing Elements</a:t>
            </a:r>
            <a:endParaRPr lang="en-US" sz="1600" b="1" dirty="0">
              <a:solidFill>
                <a:srgbClr val="CFD0D8"/>
              </a:solidFill>
              <a:latin typeface="Instrument Sans Medium" pitchFamily="34" charset="0"/>
              <a:ea typeface="Instrument Sans Medium" pitchFamily="34" charset="-122"/>
              <a:cs typeface="Instrument Sans Medium" pitchFamily="34" charset="-120"/>
            </a:endParaRPr>
          </a:p>
        </p:txBody>
      </p:sp>
      <p:sp>
        <p:nvSpPr>
          <p:cNvPr id="3" name="Text 1"/>
          <p:cNvSpPr/>
          <p:nvPr/>
        </p:nvSpPr>
        <p:spPr>
          <a:xfrm>
            <a:off x="809030" y="777954"/>
            <a:ext cx="13042821" cy="277892"/>
          </a:xfrm>
          <a:prstGeom prst="rect">
            <a:avLst/>
          </a:prstGeom>
          <a:noFill/>
        </p:spPr>
        <p:txBody>
          <a:bodyPr wrap="none" lIns="0" tIns="0" rIns="0" bIns="0" rtlCol="0" anchor="t"/>
          <a:lstStyle/>
          <a:p>
            <a:pPr marL="0" indent="0" algn="l">
              <a:lnSpc>
                <a:spcPts val="2150"/>
              </a:lnSpc>
              <a:buNone/>
            </a:pPr>
            <a:r>
              <a:rPr lang="en-US" sz="1350" dirty="0">
                <a:solidFill>
                  <a:srgbClr val="CFD0D8"/>
                </a:solidFill>
                <a:latin typeface="Instrument Sans Medium" pitchFamily="34" charset="0"/>
                <a:ea typeface="Instrument Sans Medium" pitchFamily="34" charset="-122"/>
                <a:cs typeface="Instrument Sans Medium" pitchFamily="34" charset="-120"/>
              </a:rPr>
              <a:t>Lists are mutable, meaning you can change them after creation. Master these essential methods to add, insert, and remove elements dynamically.</a:t>
            </a:r>
            <a:endParaRPr lang="en-US" sz="1350" dirty="0"/>
          </a:p>
        </p:txBody>
      </p:sp>
      <p:sp>
        <p:nvSpPr>
          <p:cNvPr id="4" name="Shape 2"/>
          <p:cNvSpPr/>
          <p:nvPr>
            <p:custDataLst>
              <p:tags r:id="rId1"/>
            </p:custDataLst>
          </p:nvPr>
        </p:nvSpPr>
        <p:spPr>
          <a:xfrm>
            <a:off x="793790" y="1442561"/>
            <a:ext cx="6451997" cy="2895600"/>
          </a:xfrm>
          <a:prstGeom prst="roundRect">
            <a:avLst>
              <a:gd name="adj" fmla="val 2015"/>
            </a:avLst>
          </a:prstGeom>
          <a:solidFill>
            <a:srgbClr val="2A2A2D">
              <a:alpha val="95000"/>
            </a:srgbClr>
          </a:solidFill>
          <a:ln w="15240">
            <a:solidFill>
              <a:srgbClr val="56565B"/>
            </a:solidFill>
            <a:prstDash val="solid"/>
          </a:ln>
        </p:spPr>
      </p:sp>
      <p:sp>
        <p:nvSpPr>
          <p:cNvPr id="5" name="Shape 3"/>
          <p:cNvSpPr/>
          <p:nvPr>
            <p:custDataLst>
              <p:tags r:id="rId2"/>
            </p:custDataLst>
          </p:nvPr>
        </p:nvSpPr>
        <p:spPr>
          <a:xfrm>
            <a:off x="824270" y="1428591"/>
            <a:ext cx="6421517" cy="416719"/>
          </a:xfrm>
          <a:prstGeom prst="roundRect">
            <a:avLst>
              <a:gd name="adj" fmla="val 9614"/>
            </a:avLst>
          </a:prstGeom>
          <a:solidFill>
            <a:srgbClr val="3D3D42"/>
          </a:solidFill>
        </p:spPr>
      </p:sp>
      <p:sp>
        <p:nvSpPr>
          <p:cNvPr id="6" name="Text 4"/>
          <p:cNvSpPr/>
          <p:nvPr>
            <p:custDataLst>
              <p:tags r:id="rId3"/>
            </p:custDataLst>
          </p:nvPr>
        </p:nvSpPr>
        <p:spPr>
          <a:xfrm>
            <a:off x="3915608" y="1532096"/>
            <a:ext cx="208359" cy="260390"/>
          </a:xfrm>
          <a:prstGeom prst="rect">
            <a:avLst/>
          </a:prstGeom>
          <a:noFill/>
        </p:spPr>
        <p:txBody>
          <a:bodyPr wrap="none" lIns="0" tIns="0" rIns="0" bIns="0" rtlCol="0" anchor="t"/>
          <a:lstStyle/>
          <a:p>
            <a:pPr marL="0" indent="0" algn="l">
              <a:lnSpc>
                <a:spcPts val="1600"/>
              </a:lnSpc>
              <a:buNone/>
            </a:pPr>
            <a:r>
              <a:rPr lang="en-US" sz="1600" dirty="0">
                <a:solidFill>
                  <a:srgbClr val="CFD0D8"/>
                </a:solidFill>
                <a:latin typeface="Instrument Sans Semi Bold" pitchFamily="34" charset="0"/>
                <a:ea typeface="Instrument Sans Semi Bold" pitchFamily="34" charset="-122"/>
                <a:cs typeface="Instrument Sans Semi Bold" pitchFamily="34" charset="-120"/>
              </a:rPr>
              <a:t>1</a:t>
            </a:r>
            <a:endParaRPr lang="en-US" sz="1600" dirty="0"/>
          </a:p>
        </p:txBody>
      </p:sp>
      <p:sp>
        <p:nvSpPr>
          <p:cNvPr id="7" name="Text 5"/>
          <p:cNvSpPr/>
          <p:nvPr>
            <p:custDataLst>
              <p:tags r:id="rId4"/>
            </p:custDataLst>
          </p:nvPr>
        </p:nvSpPr>
        <p:spPr>
          <a:xfrm>
            <a:off x="947857" y="2013347"/>
            <a:ext cx="6143863" cy="277892"/>
          </a:xfrm>
          <a:prstGeom prst="rect">
            <a:avLst/>
          </a:prstGeom>
          <a:noFill/>
        </p:spPr>
        <p:txBody>
          <a:bodyPr wrap="none" lIns="0" tIns="0" rIns="0" bIns="0" rtlCol="0" anchor="t"/>
          <a:lstStyle/>
          <a:p>
            <a:pPr marL="0" indent="0" algn="l">
              <a:lnSpc>
                <a:spcPts val="2150"/>
              </a:lnSpc>
              <a:buNone/>
            </a:pPr>
            <a:r>
              <a:rPr lang="en-US" sz="1350" dirty="0">
                <a:solidFill>
                  <a:srgbClr val="CFD0D8"/>
                </a:solidFill>
                <a:latin typeface="Instrument Sans Medium" pitchFamily="34" charset="0"/>
                <a:ea typeface="Instrument Sans Medium" pitchFamily="34" charset="-122"/>
                <a:cs typeface="Instrument Sans Medium" pitchFamily="34" charset="-120"/>
              </a:rPr>
              <a:t>append() Method</a:t>
            </a:r>
            <a:endParaRPr lang="en-US" sz="1350" dirty="0"/>
          </a:p>
        </p:txBody>
      </p:sp>
      <p:sp>
        <p:nvSpPr>
          <p:cNvPr id="8" name="Text 6"/>
          <p:cNvSpPr/>
          <p:nvPr>
            <p:custDataLst>
              <p:tags r:id="rId5"/>
            </p:custDataLst>
          </p:nvPr>
        </p:nvSpPr>
        <p:spPr>
          <a:xfrm>
            <a:off x="947857" y="2374583"/>
            <a:ext cx="6143863" cy="555784"/>
          </a:xfrm>
          <a:prstGeom prst="rect">
            <a:avLst/>
          </a:prstGeom>
          <a:noFill/>
        </p:spPr>
        <p:txBody>
          <a:bodyPr wrap="square" lIns="0" tIns="0" rIns="0" bIns="0" rtlCol="0" anchor="t"/>
          <a:lstStyle/>
          <a:p>
            <a:pPr marL="0" indent="0" algn="l">
              <a:lnSpc>
                <a:spcPts val="2150"/>
              </a:lnSpc>
              <a:buNone/>
            </a:pPr>
            <a:r>
              <a:rPr lang="en-US" sz="1350" dirty="0">
                <a:solidFill>
                  <a:srgbClr val="CFD0D8"/>
                </a:solidFill>
                <a:latin typeface="Instrument Sans Medium" pitchFamily="34" charset="0"/>
                <a:ea typeface="Instrument Sans Medium" pitchFamily="34" charset="-122"/>
                <a:cs typeface="Instrument Sans Medium" pitchFamily="34" charset="-120"/>
              </a:rPr>
              <a:t>Add a single element to the end of the list. This is the most common way to grow a list.</a:t>
            </a:r>
            <a:endParaRPr lang="en-US" sz="1350" dirty="0"/>
          </a:p>
        </p:txBody>
      </p:sp>
      <p:sp>
        <p:nvSpPr>
          <p:cNvPr id="9" name="Shape 7"/>
          <p:cNvSpPr/>
          <p:nvPr>
            <p:custDataLst>
              <p:tags r:id="rId6"/>
            </p:custDataLst>
          </p:nvPr>
        </p:nvSpPr>
        <p:spPr>
          <a:xfrm>
            <a:off x="947857" y="3086576"/>
            <a:ext cx="6143863" cy="1097518"/>
          </a:xfrm>
          <a:prstGeom prst="roundRect">
            <a:avLst>
              <a:gd name="adj" fmla="val 5317"/>
            </a:avLst>
          </a:prstGeom>
          <a:solidFill>
            <a:srgbClr val="37373A"/>
          </a:solidFill>
        </p:spPr>
      </p:sp>
      <p:sp>
        <p:nvSpPr>
          <p:cNvPr id="10" name="Shape 8"/>
          <p:cNvSpPr/>
          <p:nvPr>
            <p:custDataLst>
              <p:tags r:id="rId7"/>
            </p:custDataLst>
          </p:nvPr>
        </p:nvSpPr>
        <p:spPr>
          <a:xfrm>
            <a:off x="940951" y="3086576"/>
            <a:ext cx="6157674" cy="1097518"/>
          </a:xfrm>
          <a:prstGeom prst="roundRect">
            <a:avLst>
              <a:gd name="adj" fmla="val 1899"/>
            </a:avLst>
          </a:prstGeom>
          <a:solidFill>
            <a:srgbClr val="37373A"/>
          </a:solidFill>
        </p:spPr>
      </p:sp>
      <p:sp>
        <p:nvSpPr>
          <p:cNvPr id="11" name="Text 9"/>
          <p:cNvSpPr/>
          <p:nvPr>
            <p:custDataLst>
              <p:tags r:id="rId8"/>
            </p:custDataLst>
          </p:nvPr>
        </p:nvSpPr>
        <p:spPr>
          <a:xfrm>
            <a:off x="1079778" y="3190756"/>
            <a:ext cx="5880021" cy="889159"/>
          </a:xfrm>
          <a:prstGeom prst="rect">
            <a:avLst/>
          </a:prstGeom>
          <a:noFill/>
        </p:spPr>
        <p:txBody>
          <a:bodyPr wrap="square" lIns="0" tIns="0" rIns="0" bIns="0" rtlCol="0" anchor="t"/>
          <a:lstStyle/>
          <a:p>
            <a:pPr marL="0" indent="0" algn="l">
              <a:lnSpc>
                <a:spcPts val="17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tasks = ["code", "test"]</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7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tasks.append("deploy")</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7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print(tasks)  # Output: ["code", "test", "deploy"]</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p:txBody>
      </p:sp>
      <p:sp>
        <p:nvSpPr>
          <p:cNvPr id="12" name="Shape 10"/>
          <p:cNvSpPr/>
          <p:nvPr>
            <p:custDataLst>
              <p:tags r:id="rId9"/>
            </p:custDataLst>
          </p:nvPr>
        </p:nvSpPr>
        <p:spPr>
          <a:xfrm>
            <a:off x="7384613" y="1442561"/>
            <a:ext cx="6451997" cy="2895600"/>
          </a:xfrm>
          <a:prstGeom prst="roundRect">
            <a:avLst>
              <a:gd name="adj" fmla="val 2015"/>
            </a:avLst>
          </a:prstGeom>
          <a:solidFill>
            <a:srgbClr val="2A2A2D">
              <a:alpha val="95000"/>
            </a:srgbClr>
          </a:solidFill>
          <a:ln w="15240">
            <a:solidFill>
              <a:srgbClr val="56565B"/>
            </a:solidFill>
            <a:prstDash val="solid"/>
          </a:ln>
        </p:spPr>
      </p:sp>
      <p:sp>
        <p:nvSpPr>
          <p:cNvPr id="13" name="Shape 11"/>
          <p:cNvSpPr/>
          <p:nvPr>
            <p:custDataLst>
              <p:tags r:id="rId10"/>
            </p:custDataLst>
          </p:nvPr>
        </p:nvSpPr>
        <p:spPr>
          <a:xfrm>
            <a:off x="7399853" y="1457801"/>
            <a:ext cx="6421517" cy="416719"/>
          </a:xfrm>
          <a:prstGeom prst="roundRect">
            <a:avLst>
              <a:gd name="adj" fmla="val 9614"/>
            </a:avLst>
          </a:prstGeom>
          <a:solidFill>
            <a:srgbClr val="3D3D42"/>
          </a:solidFill>
        </p:spPr>
      </p:sp>
      <p:sp>
        <p:nvSpPr>
          <p:cNvPr id="14" name="Text 12"/>
          <p:cNvSpPr/>
          <p:nvPr>
            <p:custDataLst>
              <p:tags r:id="rId11"/>
            </p:custDataLst>
          </p:nvPr>
        </p:nvSpPr>
        <p:spPr>
          <a:xfrm>
            <a:off x="10506432" y="1532096"/>
            <a:ext cx="208359" cy="260390"/>
          </a:xfrm>
          <a:prstGeom prst="rect">
            <a:avLst/>
          </a:prstGeom>
          <a:noFill/>
        </p:spPr>
        <p:txBody>
          <a:bodyPr wrap="none" lIns="0" tIns="0" rIns="0" bIns="0" rtlCol="0" anchor="t"/>
          <a:lstStyle/>
          <a:p>
            <a:pPr marL="0" indent="0" algn="l">
              <a:lnSpc>
                <a:spcPts val="1600"/>
              </a:lnSpc>
              <a:buNone/>
            </a:pPr>
            <a:r>
              <a:rPr lang="en-US" sz="1600" dirty="0">
                <a:solidFill>
                  <a:srgbClr val="CFD0D8"/>
                </a:solidFill>
                <a:latin typeface="Instrument Sans Semi Bold" pitchFamily="34" charset="0"/>
                <a:ea typeface="Instrument Sans Semi Bold" pitchFamily="34" charset="-122"/>
                <a:cs typeface="Instrument Sans Semi Bold" pitchFamily="34" charset="-120"/>
              </a:rPr>
              <a:t>2</a:t>
            </a:r>
            <a:endParaRPr lang="en-US" sz="1600" dirty="0"/>
          </a:p>
        </p:txBody>
      </p:sp>
      <p:sp>
        <p:nvSpPr>
          <p:cNvPr id="15" name="Text 13"/>
          <p:cNvSpPr/>
          <p:nvPr>
            <p:custDataLst>
              <p:tags r:id="rId12"/>
            </p:custDataLst>
          </p:nvPr>
        </p:nvSpPr>
        <p:spPr>
          <a:xfrm>
            <a:off x="7538680" y="2013347"/>
            <a:ext cx="6143863" cy="277892"/>
          </a:xfrm>
          <a:prstGeom prst="rect">
            <a:avLst/>
          </a:prstGeom>
          <a:noFill/>
        </p:spPr>
        <p:txBody>
          <a:bodyPr wrap="none" lIns="0" tIns="0" rIns="0" bIns="0" rtlCol="0" anchor="t"/>
          <a:lstStyle/>
          <a:p>
            <a:pPr marL="0" indent="0" algn="l">
              <a:lnSpc>
                <a:spcPts val="2150"/>
              </a:lnSpc>
              <a:buNone/>
            </a:pPr>
            <a:r>
              <a:rPr lang="en-US" sz="1350" dirty="0">
                <a:solidFill>
                  <a:srgbClr val="CFD0D8"/>
                </a:solidFill>
                <a:latin typeface="Instrument Sans Medium" pitchFamily="34" charset="0"/>
                <a:ea typeface="Instrument Sans Medium" pitchFamily="34" charset="-122"/>
                <a:cs typeface="Instrument Sans Medium" pitchFamily="34" charset="-120"/>
              </a:rPr>
              <a:t>insert() Method</a:t>
            </a:r>
            <a:endParaRPr lang="en-US" sz="1350" dirty="0"/>
          </a:p>
        </p:txBody>
      </p:sp>
      <p:sp>
        <p:nvSpPr>
          <p:cNvPr id="16" name="Text 14"/>
          <p:cNvSpPr/>
          <p:nvPr>
            <p:custDataLst>
              <p:tags r:id="rId13"/>
            </p:custDataLst>
          </p:nvPr>
        </p:nvSpPr>
        <p:spPr>
          <a:xfrm>
            <a:off x="7538680" y="2374583"/>
            <a:ext cx="6143863" cy="555784"/>
          </a:xfrm>
          <a:prstGeom prst="rect">
            <a:avLst/>
          </a:prstGeom>
          <a:noFill/>
        </p:spPr>
        <p:txBody>
          <a:bodyPr wrap="square" lIns="0" tIns="0" rIns="0" bIns="0" rtlCol="0" anchor="t"/>
          <a:lstStyle/>
          <a:p>
            <a:pPr marL="0" indent="0" algn="l">
              <a:lnSpc>
                <a:spcPts val="2150"/>
              </a:lnSpc>
              <a:buNone/>
            </a:pPr>
            <a:r>
              <a:rPr lang="en-US" sz="1350" dirty="0">
                <a:solidFill>
                  <a:srgbClr val="CFD0D8"/>
                </a:solidFill>
                <a:latin typeface="Instrument Sans Medium" pitchFamily="34" charset="0"/>
                <a:ea typeface="Instrument Sans Medium" pitchFamily="34" charset="-122"/>
                <a:cs typeface="Instrument Sans Medium" pitchFamily="34" charset="-120"/>
              </a:rPr>
              <a:t>Add an element at a specific position. Elements after the insertion point shift to the right.</a:t>
            </a:r>
            <a:endParaRPr lang="en-US" sz="1350" dirty="0"/>
          </a:p>
        </p:txBody>
      </p:sp>
      <p:sp>
        <p:nvSpPr>
          <p:cNvPr id="17" name="Shape 15"/>
          <p:cNvSpPr/>
          <p:nvPr>
            <p:custDataLst>
              <p:tags r:id="rId14"/>
            </p:custDataLst>
          </p:nvPr>
        </p:nvSpPr>
        <p:spPr>
          <a:xfrm>
            <a:off x="7538680" y="3086576"/>
            <a:ext cx="6143863" cy="1097518"/>
          </a:xfrm>
          <a:prstGeom prst="roundRect">
            <a:avLst>
              <a:gd name="adj" fmla="val 5317"/>
            </a:avLst>
          </a:prstGeom>
          <a:solidFill>
            <a:srgbClr val="37373A"/>
          </a:solidFill>
        </p:spPr>
      </p:sp>
      <p:sp>
        <p:nvSpPr>
          <p:cNvPr id="18" name="Shape 16"/>
          <p:cNvSpPr/>
          <p:nvPr>
            <p:custDataLst>
              <p:tags r:id="rId15"/>
            </p:custDataLst>
          </p:nvPr>
        </p:nvSpPr>
        <p:spPr>
          <a:xfrm>
            <a:off x="7531775" y="3086576"/>
            <a:ext cx="6157674" cy="1097518"/>
          </a:xfrm>
          <a:prstGeom prst="roundRect">
            <a:avLst>
              <a:gd name="adj" fmla="val 1899"/>
            </a:avLst>
          </a:prstGeom>
          <a:solidFill>
            <a:srgbClr val="37373A"/>
          </a:solidFill>
        </p:spPr>
      </p:sp>
      <p:sp>
        <p:nvSpPr>
          <p:cNvPr id="19" name="Text 17"/>
          <p:cNvSpPr/>
          <p:nvPr>
            <p:custDataLst>
              <p:tags r:id="rId16"/>
            </p:custDataLst>
          </p:nvPr>
        </p:nvSpPr>
        <p:spPr>
          <a:xfrm>
            <a:off x="7670602" y="3190756"/>
            <a:ext cx="5880021" cy="889159"/>
          </a:xfrm>
          <a:prstGeom prst="rect">
            <a:avLst/>
          </a:prstGeom>
          <a:noFill/>
        </p:spPr>
        <p:txBody>
          <a:bodyPr wrap="square" lIns="0" tIns="0" rIns="0" bIns="0" rtlCol="0" anchor="t"/>
          <a:lstStyle/>
          <a:p>
            <a:pPr marL="0" indent="0" algn="l">
              <a:lnSpc>
                <a:spcPts val="1750"/>
              </a:lnSpc>
              <a:buNone/>
            </a:pPr>
            <a:r>
              <a:rPr lang="en-US" sz="1050" dirty="0">
                <a:solidFill>
                  <a:srgbClr val="CFD0D8"/>
                </a:solidFill>
                <a:highlight>
                  <a:srgbClr val="37373A"/>
                </a:highlight>
                <a:latin typeface="Consolas Medium" pitchFamily="34" charset="0"/>
                <a:ea typeface="Consolas Medium" pitchFamily="34" charset="-122"/>
                <a:cs typeface="Consolas Medium" pitchFamily="34" charset="-120"/>
              </a:rPr>
              <a:t>c</a:t>
            </a: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olors = ["red", "blue"]</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7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colors.insert(1, "green")</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7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print(colors)   # Output: ["red", "green", "blue"]</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p:txBody>
      </p:sp>
      <p:sp>
        <p:nvSpPr>
          <p:cNvPr id="20" name="Shape 18"/>
          <p:cNvSpPr/>
          <p:nvPr>
            <p:custDataLst>
              <p:tags r:id="rId17"/>
            </p:custDataLst>
          </p:nvPr>
        </p:nvSpPr>
        <p:spPr>
          <a:xfrm>
            <a:off x="793790" y="4476988"/>
            <a:ext cx="6451997" cy="2895600"/>
          </a:xfrm>
          <a:prstGeom prst="roundRect">
            <a:avLst>
              <a:gd name="adj" fmla="val 2015"/>
            </a:avLst>
          </a:prstGeom>
          <a:solidFill>
            <a:srgbClr val="2A2A2D">
              <a:alpha val="95000"/>
            </a:srgbClr>
          </a:solidFill>
          <a:ln w="15240">
            <a:solidFill>
              <a:srgbClr val="56565B"/>
            </a:solidFill>
            <a:prstDash val="solid"/>
          </a:ln>
        </p:spPr>
      </p:sp>
      <p:sp>
        <p:nvSpPr>
          <p:cNvPr id="21" name="Shape 19"/>
          <p:cNvSpPr/>
          <p:nvPr>
            <p:custDataLst>
              <p:tags r:id="rId18"/>
            </p:custDataLst>
          </p:nvPr>
        </p:nvSpPr>
        <p:spPr>
          <a:xfrm>
            <a:off x="809030" y="4492228"/>
            <a:ext cx="6421517" cy="416719"/>
          </a:xfrm>
          <a:prstGeom prst="roundRect">
            <a:avLst>
              <a:gd name="adj" fmla="val 9614"/>
            </a:avLst>
          </a:prstGeom>
          <a:solidFill>
            <a:srgbClr val="3D3D42"/>
          </a:solidFill>
        </p:spPr>
      </p:sp>
      <p:sp>
        <p:nvSpPr>
          <p:cNvPr id="22" name="Text 20"/>
          <p:cNvSpPr/>
          <p:nvPr>
            <p:custDataLst>
              <p:tags r:id="rId19"/>
            </p:custDataLst>
          </p:nvPr>
        </p:nvSpPr>
        <p:spPr>
          <a:xfrm>
            <a:off x="3915608" y="4566523"/>
            <a:ext cx="208359" cy="260390"/>
          </a:xfrm>
          <a:prstGeom prst="rect">
            <a:avLst/>
          </a:prstGeom>
          <a:noFill/>
        </p:spPr>
        <p:txBody>
          <a:bodyPr wrap="none" lIns="0" tIns="0" rIns="0" bIns="0" rtlCol="0" anchor="t"/>
          <a:lstStyle/>
          <a:p>
            <a:pPr marL="0" indent="0" algn="l">
              <a:lnSpc>
                <a:spcPts val="1600"/>
              </a:lnSpc>
              <a:buNone/>
            </a:pPr>
            <a:r>
              <a:rPr lang="en-US" sz="1600" dirty="0">
                <a:solidFill>
                  <a:srgbClr val="CFD0D8"/>
                </a:solidFill>
                <a:latin typeface="Instrument Sans Semi Bold" pitchFamily="34" charset="0"/>
                <a:ea typeface="Instrument Sans Semi Bold" pitchFamily="34" charset="-122"/>
                <a:cs typeface="Instrument Sans Semi Bold" pitchFamily="34" charset="-120"/>
              </a:rPr>
              <a:t>3</a:t>
            </a:r>
            <a:endParaRPr lang="en-US" sz="1600" dirty="0"/>
          </a:p>
        </p:txBody>
      </p:sp>
      <p:sp>
        <p:nvSpPr>
          <p:cNvPr id="23" name="Text 21"/>
          <p:cNvSpPr/>
          <p:nvPr>
            <p:custDataLst>
              <p:tags r:id="rId20"/>
            </p:custDataLst>
          </p:nvPr>
        </p:nvSpPr>
        <p:spPr>
          <a:xfrm>
            <a:off x="947857" y="5047774"/>
            <a:ext cx="6143863" cy="277892"/>
          </a:xfrm>
          <a:prstGeom prst="rect">
            <a:avLst/>
          </a:prstGeom>
          <a:noFill/>
        </p:spPr>
        <p:txBody>
          <a:bodyPr wrap="none" lIns="0" tIns="0" rIns="0" bIns="0" rtlCol="0" anchor="t"/>
          <a:lstStyle/>
          <a:p>
            <a:pPr marL="0" indent="0" algn="l">
              <a:lnSpc>
                <a:spcPts val="2150"/>
              </a:lnSpc>
              <a:buNone/>
            </a:pPr>
            <a:r>
              <a:rPr lang="en-US" sz="1350" dirty="0">
                <a:solidFill>
                  <a:srgbClr val="CFD0D8"/>
                </a:solidFill>
                <a:latin typeface="Instrument Sans Medium" pitchFamily="34" charset="0"/>
                <a:ea typeface="Instrument Sans Medium" pitchFamily="34" charset="-122"/>
                <a:cs typeface="Instrument Sans Medium" pitchFamily="34" charset="-120"/>
              </a:rPr>
              <a:t>remove() Method</a:t>
            </a:r>
            <a:endParaRPr lang="en-US" sz="1350" dirty="0"/>
          </a:p>
        </p:txBody>
      </p:sp>
      <p:sp>
        <p:nvSpPr>
          <p:cNvPr id="24" name="Text 22"/>
          <p:cNvSpPr/>
          <p:nvPr>
            <p:custDataLst>
              <p:tags r:id="rId21"/>
            </p:custDataLst>
          </p:nvPr>
        </p:nvSpPr>
        <p:spPr>
          <a:xfrm>
            <a:off x="947857" y="5409009"/>
            <a:ext cx="6143863" cy="555784"/>
          </a:xfrm>
          <a:prstGeom prst="rect">
            <a:avLst/>
          </a:prstGeom>
          <a:noFill/>
        </p:spPr>
        <p:txBody>
          <a:bodyPr wrap="square" lIns="0" tIns="0" rIns="0" bIns="0" rtlCol="0" anchor="t"/>
          <a:lstStyle/>
          <a:p>
            <a:pPr marL="0" indent="0" algn="l">
              <a:lnSpc>
                <a:spcPts val="2150"/>
              </a:lnSpc>
              <a:buNone/>
            </a:pPr>
            <a:r>
              <a:rPr lang="en-US" sz="1350" dirty="0">
                <a:solidFill>
                  <a:srgbClr val="CFD0D8"/>
                </a:solidFill>
                <a:latin typeface="Instrument Sans Medium" pitchFamily="34" charset="0"/>
                <a:ea typeface="Instrument Sans Medium" pitchFamily="34" charset="-122"/>
                <a:cs typeface="Instrument Sans Medium" pitchFamily="34" charset="-120"/>
              </a:rPr>
              <a:t>Delete the first occurrence of a value. Raises an error if the element doesn't exist.</a:t>
            </a:r>
            <a:endParaRPr lang="en-US" sz="1350" dirty="0"/>
          </a:p>
        </p:txBody>
      </p:sp>
      <p:sp>
        <p:nvSpPr>
          <p:cNvPr id="25" name="Shape 23"/>
          <p:cNvSpPr/>
          <p:nvPr>
            <p:custDataLst>
              <p:tags r:id="rId22"/>
            </p:custDataLst>
          </p:nvPr>
        </p:nvSpPr>
        <p:spPr>
          <a:xfrm>
            <a:off x="947857" y="6121003"/>
            <a:ext cx="6143863" cy="1097518"/>
          </a:xfrm>
          <a:prstGeom prst="roundRect">
            <a:avLst>
              <a:gd name="adj" fmla="val 5317"/>
            </a:avLst>
          </a:prstGeom>
          <a:solidFill>
            <a:srgbClr val="37373A"/>
          </a:solidFill>
        </p:spPr>
      </p:sp>
      <p:sp>
        <p:nvSpPr>
          <p:cNvPr id="26" name="Shape 24"/>
          <p:cNvSpPr/>
          <p:nvPr>
            <p:custDataLst>
              <p:tags r:id="rId23"/>
            </p:custDataLst>
          </p:nvPr>
        </p:nvSpPr>
        <p:spPr>
          <a:xfrm>
            <a:off x="940951" y="6121003"/>
            <a:ext cx="6157674" cy="1097518"/>
          </a:xfrm>
          <a:prstGeom prst="roundRect">
            <a:avLst>
              <a:gd name="adj" fmla="val 1899"/>
            </a:avLst>
          </a:prstGeom>
          <a:solidFill>
            <a:srgbClr val="37373A"/>
          </a:solidFill>
        </p:spPr>
      </p:sp>
      <p:sp>
        <p:nvSpPr>
          <p:cNvPr id="27" name="Text 25"/>
          <p:cNvSpPr/>
          <p:nvPr>
            <p:custDataLst>
              <p:tags r:id="rId24"/>
            </p:custDataLst>
          </p:nvPr>
        </p:nvSpPr>
        <p:spPr>
          <a:xfrm>
            <a:off x="1079778" y="6225183"/>
            <a:ext cx="5880021" cy="889159"/>
          </a:xfrm>
          <a:prstGeom prst="rect">
            <a:avLst/>
          </a:prstGeom>
          <a:noFill/>
        </p:spPr>
        <p:txBody>
          <a:bodyPr wrap="square" lIns="0" tIns="0" rIns="0" bIns="0" rtlCol="0" anchor="t"/>
          <a:lstStyle/>
          <a:p>
            <a:pPr marL="0" indent="0" algn="l">
              <a:lnSpc>
                <a:spcPts val="1750"/>
              </a:lnSpc>
              <a:buNone/>
            </a:pPr>
            <a:r>
              <a:rPr lang="en-US" sz="1050" dirty="0">
                <a:solidFill>
                  <a:srgbClr val="CFD0D8"/>
                </a:solidFill>
                <a:highlight>
                  <a:srgbClr val="37373A"/>
                </a:highlight>
                <a:latin typeface="Consolas Medium" pitchFamily="34" charset="0"/>
                <a:ea typeface="Consolas Medium" pitchFamily="34" charset="-122"/>
                <a:cs typeface="Consolas Medium" pitchFamily="34" charset="-120"/>
              </a:rPr>
              <a:t>i</a:t>
            </a: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nventory = ["apple", "banana", </a:t>
            </a:r>
            <a:r>
              <a:rPr lang="en-US" sz="1400" dirty="0">
                <a:solidFill>
                  <a:srgbClr val="CFD0D8"/>
                </a:solidFill>
                <a:highlight>
                  <a:srgbClr val="37373A"/>
                </a:highlight>
                <a:latin typeface="Consolas Medium" pitchFamily="34" charset="0"/>
                <a:ea typeface="Consolas Medium" pitchFamily="34" charset="-122"/>
                <a:cs typeface="Consolas Medium" pitchFamily="34" charset="-120"/>
                <a:sym typeface="+mn-ea"/>
              </a:rPr>
              <a:t>"apple"]</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7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inventory.remove("apple")</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7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print(inventory)      # Output: ["banana", "apple"]</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p:txBody>
      </p:sp>
      <p:sp>
        <p:nvSpPr>
          <p:cNvPr id="28" name="Shape 26"/>
          <p:cNvSpPr/>
          <p:nvPr>
            <p:custDataLst>
              <p:tags r:id="rId25"/>
            </p:custDataLst>
          </p:nvPr>
        </p:nvSpPr>
        <p:spPr>
          <a:xfrm>
            <a:off x="7384613" y="4476988"/>
            <a:ext cx="6451997" cy="2895600"/>
          </a:xfrm>
          <a:prstGeom prst="roundRect">
            <a:avLst>
              <a:gd name="adj" fmla="val 2015"/>
            </a:avLst>
          </a:prstGeom>
          <a:solidFill>
            <a:srgbClr val="2A2A2D">
              <a:alpha val="95000"/>
            </a:srgbClr>
          </a:solidFill>
          <a:ln w="15240">
            <a:solidFill>
              <a:srgbClr val="56565B"/>
            </a:solidFill>
            <a:prstDash val="solid"/>
          </a:ln>
        </p:spPr>
      </p:sp>
      <p:sp>
        <p:nvSpPr>
          <p:cNvPr id="29" name="Shape 27"/>
          <p:cNvSpPr/>
          <p:nvPr>
            <p:custDataLst>
              <p:tags r:id="rId26"/>
            </p:custDataLst>
          </p:nvPr>
        </p:nvSpPr>
        <p:spPr>
          <a:xfrm>
            <a:off x="7399853" y="4492228"/>
            <a:ext cx="6421517" cy="416719"/>
          </a:xfrm>
          <a:prstGeom prst="roundRect">
            <a:avLst>
              <a:gd name="adj" fmla="val 9614"/>
            </a:avLst>
          </a:prstGeom>
          <a:solidFill>
            <a:srgbClr val="3D3D42"/>
          </a:solidFill>
        </p:spPr>
      </p:sp>
      <p:sp>
        <p:nvSpPr>
          <p:cNvPr id="30" name="Text 28"/>
          <p:cNvSpPr/>
          <p:nvPr>
            <p:custDataLst>
              <p:tags r:id="rId27"/>
            </p:custDataLst>
          </p:nvPr>
        </p:nvSpPr>
        <p:spPr>
          <a:xfrm>
            <a:off x="10506432" y="4566523"/>
            <a:ext cx="208359" cy="260390"/>
          </a:xfrm>
          <a:prstGeom prst="rect">
            <a:avLst/>
          </a:prstGeom>
          <a:noFill/>
        </p:spPr>
        <p:txBody>
          <a:bodyPr wrap="none" lIns="0" tIns="0" rIns="0" bIns="0" rtlCol="0" anchor="t"/>
          <a:lstStyle/>
          <a:p>
            <a:pPr marL="0" indent="0" algn="l">
              <a:lnSpc>
                <a:spcPts val="1600"/>
              </a:lnSpc>
              <a:buNone/>
            </a:pPr>
            <a:r>
              <a:rPr lang="en-US" sz="1600" dirty="0">
                <a:solidFill>
                  <a:srgbClr val="CFD0D8"/>
                </a:solidFill>
                <a:latin typeface="Instrument Sans Semi Bold" pitchFamily="34" charset="0"/>
                <a:ea typeface="Instrument Sans Semi Bold" pitchFamily="34" charset="-122"/>
                <a:cs typeface="Instrument Sans Semi Bold" pitchFamily="34" charset="-120"/>
              </a:rPr>
              <a:t>4</a:t>
            </a:r>
            <a:endParaRPr lang="en-US" sz="1600" dirty="0"/>
          </a:p>
        </p:txBody>
      </p:sp>
      <p:sp>
        <p:nvSpPr>
          <p:cNvPr id="31" name="Text 29"/>
          <p:cNvSpPr/>
          <p:nvPr>
            <p:custDataLst>
              <p:tags r:id="rId28"/>
            </p:custDataLst>
          </p:nvPr>
        </p:nvSpPr>
        <p:spPr>
          <a:xfrm>
            <a:off x="7538680" y="5047774"/>
            <a:ext cx="6143863" cy="277892"/>
          </a:xfrm>
          <a:prstGeom prst="rect">
            <a:avLst/>
          </a:prstGeom>
          <a:noFill/>
        </p:spPr>
        <p:txBody>
          <a:bodyPr wrap="none" lIns="0" tIns="0" rIns="0" bIns="0" rtlCol="0" anchor="t"/>
          <a:lstStyle/>
          <a:p>
            <a:pPr marL="0" indent="0" algn="l">
              <a:lnSpc>
                <a:spcPts val="2150"/>
              </a:lnSpc>
              <a:buNone/>
            </a:pPr>
            <a:r>
              <a:rPr lang="en-US" sz="1350" dirty="0">
                <a:solidFill>
                  <a:srgbClr val="CFD0D8"/>
                </a:solidFill>
                <a:latin typeface="Instrument Sans Medium" pitchFamily="34" charset="0"/>
                <a:ea typeface="Instrument Sans Medium" pitchFamily="34" charset="-122"/>
                <a:cs typeface="Instrument Sans Medium" pitchFamily="34" charset="-120"/>
              </a:rPr>
              <a:t>pop() Method</a:t>
            </a:r>
            <a:endParaRPr lang="en-US" sz="1350" dirty="0"/>
          </a:p>
        </p:txBody>
      </p:sp>
      <p:sp>
        <p:nvSpPr>
          <p:cNvPr id="32" name="Text 30"/>
          <p:cNvSpPr/>
          <p:nvPr>
            <p:custDataLst>
              <p:tags r:id="rId29"/>
            </p:custDataLst>
          </p:nvPr>
        </p:nvSpPr>
        <p:spPr>
          <a:xfrm>
            <a:off x="7538680" y="5409009"/>
            <a:ext cx="6143863" cy="555784"/>
          </a:xfrm>
          <a:prstGeom prst="rect">
            <a:avLst/>
          </a:prstGeom>
          <a:noFill/>
        </p:spPr>
        <p:txBody>
          <a:bodyPr wrap="square" lIns="0" tIns="0" rIns="0" bIns="0" rtlCol="0" anchor="t"/>
          <a:lstStyle/>
          <a:p>
            <a:pPr marL="0" indent="0" algn="l">
              <a:lnSpc>
                <a:spcPts val="2150"/>
              </a:lnSpc>
              <a:buNone/>
            </a:pPr>
            <a:r>
              <a:rPr lang="en-US" sz="1350" dirty="0">
                <a:solidFill>
                  <a:srgbClr val="CFD0D8"/>
                </a:solidFill>
                <a:latin typeface="Instrument Sans Medium" pitchFamily="34" charset="0"/>
                <a:ea typeface="Instrument Sans Medium" pitchFamily="34" charset="-122"/>
                <a:cs typeface="Instrument Sans Medium" pitchFamily="34" charset="-120"/>
              </a:rPr>
              <a:t>Remove and return an element by index (default: last element). Useful for stacks and queues.</a:t>
            </a:r>
            <a:endParaRPr lang="en-US" sz="1350" dirty="0"/>
          </a:p>
        </p:txBody>
      </p:sp>
      <p:sp>
        <p:nvSpPr>
          <p:cNvPr id="33" name="Shape 31"/>
          <p:cNvSpPr/>
          <p:nvPr>
            <p:custDataLst>
              <p:tags r:id="rId30"/>
            </p:custDataLst>
          </p:nvPr>
        </p:nvSpPr>
        <p:spPr>
          <a:xfrm>
            <a:off x="7538680" y="6121003"/>
            <a:ext cx="6143863" cy="1097518"/>
          </a:xfrm>
          <a:prstGeom prst="roundRect">
            <a:avLst>
              <a:gd name="adj" fmla="val 5317"/>
            </a:avLst>
          </a:prstGeom>
          <a:solidFill>
            <a:srgbClr val="37373A"/>
          </a:solidFill>
        </p:spPr>
      </p:sp>
      <p:sp>
        <p:nvSpPr>
          <p:cNvPr id="34" name="Shape 32"/>
          <p:cNvSpPr/>
          <p:nvPr>
            <p:custDataLst>
              <p:tags r:id="rId31"/>
            </p:custDataLst>
          </p:nvPr>
        </p:nvSpPr>
        <p:spPr>
          <a:xfrm>
            <a:off x="7531775" y="6121003"/>
            <a:ext cx="6157674" cy="1097518"/>
          </a:xfrm>
          <a:prstGeom prst="roundRect">
            <a:avLst>
              <a:gd name="adj" fmla="val 1899"/>
            </a:avLst>
          </a:prstGeom>
          <a:solidFill>
            <a:srgbClr val="37373A"/>
          </a:solidFill>
        </p:spPr>
      </p:sp>
      <p:sp>
        <p:nvSpPr>
          <p:cNvPr id="35" name="Text 33"/>
          <p:cNvSpPr/>
          <p:nvPr>
            <p:custDataLst>
              <p:tags r:id="rId32"/>
            </p:custDataLst>
          </p:nvPr>
        </p:nvSpPr>
        <p:spPr>
          <a:xfrm>
            <a:off x="7670602" y="6225183"/>
            <a:ext cx="5880021" cy="889159"/>
          </a:xfrm>
          <a:prstGeom prst="rect">
            <a:avLst/>
          </a:prstGeom>
          <a:noFill/>
        </p:spPr>
        <p:txBody>
          <a:bodyPr wrap="square" lIns="0" tIns="0" rIns="0" bIns="0" rtlCol="0" anchor="t"/>
          <a:lstStyle/>
          <a:p>
            <a:pPr marL="0" indent="0" algn="l">
              <a:lnSpc>
                <a:spcPts val="17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scores = [100, 85, 92, 78]</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7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last = scores.pop() # Returns 78</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7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first = scores.pop(0) # Returns 100</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7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print(scores) # Output: [85, 92]</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5813" y="546021"/>
            <a:ext cx="5428178" cy="613886"/>
          </a:xfrm>
          <a:prstGeom prst="rect">
            <a:avLst/>
          </a:prstGeom>
          <a:noFill/>
        </p:spPr>
        <p:txBody>
          <a:bodyPr wrap="none" lIns="0" tIns="0" rIns="0" bIns="0" rtlCol="0" anchor="t"/>
          <a:lstStyle/>
          <a:p>
            <a:pPr marL="0" indent="0" algn="l">
              <a:lnSpc>
                <a:spcPts val="4800"/>
              </a:lnSpc>
              <a:buNone/>
            </a:pPr>
            <a:r>
              <a:rPr lang="en-US" sz="3850" dirty="0">
                <a:solidFill>
                  <a:srgbClr val="CBCCCE"/>
                </a:solidFill>
                <a:latin typeface="Instrument Sans Semi Bold" pitchFamily="34" charset="0"/>
                <a:ea typeface="Instrument Sans Semi Bold" pitchFamily="34" charset="-122"/>
                <a:cs typeface="Instrument Sans Semi Bold" pitchFamily="34" charset="-120"/>
              </a:rPr>
              <a:t>Advanced List Methods</a:t>
            </a:r>
            <a:endParaRPr lang="en-US" sz="3850" dirty="0"/>
          </a:p>
        </p:txBody>
      </p:sp>
      <p:sp>
        <p:nvSpPr>
          <p:cNvPr id="3" name="Text 1"/>
          <p:cNvSpPr/>
          <p:nvPr/>
        </p:nvSpPr>
        <p:spPr>
          <a:xfrm>
            <a:off x="785813" y="1454587"/>
            <a:ext cx="13058775" cy="785813"/>
          </a:xfrm>
          <a:prstGeom prst="rect">
            <a:avLst/>
          </a:prstGeom>
          <a:noFill/>
        </p:spPr>
        <p:txBody>
          <a:bodyPr wrap="square" lIns="0" tIns="0" rIns="0" bIns="0" rtlCol="0" anchor="t"/>
          <a:lstStyle/>
          <a:p>
            <a:pPr marL="0" indent="0" algn="l">
              <a:lnSpc>
                <a:spcPts val="3050"/>
              </a:lnSpc>
              <a:buNone/>
            </a:pPr>
            <a:r>
              <a:rPr lang="en-US" sz="1900" dirty="0">
                <a:solidFill>
                  <a:srgbClr val="CFD0D8"/>
                </a:solidFill>
                <a:latin typeface="Instrument Sans Medium" pitchFamily="34" charset="0"/>
                <a:ea typeface="Instrument Sans Medium" pitchFamily="34" charset="-122"/>
                <a:cs typeface="Instrument Sans Medium" pitchFamily="34" charset="-120"/>
              </a:rPr>
              <a:t>Elevate your list manipulation skills with these powerful methods for sorting, searching, and transforming your data structures.</a:t>
            </a:r>
            <a:endParaRPr lang="en-US" sz="1900" dirty="0"/>
          </a:p>
        </p:txBody>
      </p:sp>
      <p:sp>
        <p:nvSpPr>
          <p:cNvPr id="4" name="Text 2"/>
          <p:cNvSpPr/>
          <p:nvPr>
            <p:custDataLst>
              <p:tags r:id="rId1"/>
            </p:custDataLst>
          </p:nvPr>
        </p:nvSpPr>
        <p:spPr>
          <a:xfrm>
            <a:off x="785813" y="2638187"/>
            <a:ext cx="3988118" cy="392906"/>
          </a:xfrm>
          <a:prstGeom prst="rect">
            <a:avLst/>
          </a:prstGeom>
          <a:noFill/>
        </p:spPr>
        <p:txBody>
          <a:bodyPr wrap="none" lIns="0" tIns="0" rIns="0" bIns="0" rtlCol="0" anchor="t"/>
          <a:lstStyle/>
          <a:p>
            <a:pPr marL="0" indent="0" algn="l">
              <a:lnSpc>
                <a:spcPts val="3050"/>
              </a:lnSpc>
              <a:buNone/>
            </a:pPr>
            <a:r>
              <a:rPr lang="en-US" sz="1900" dirty="0">
                <a:solidFill>
                  <a:srgbClr val="CFD0D8"/>
                </a:solidFill>
                <a:latin typeface="Instrument Sans Medium" pitchFamily="34" charset="0"/>
                <a:ea typeface="Instrument Sans Medium" pitchFamily="34" charset="-122"/>
                <a:cs typeface="Instrument Sans Medium" pitchFamily="34" charset="-120"/>
              </a:rPr>
              <a:t>sort() and reverse()</a:t>
            </a:r>
            <a:endParaRPr lang="en-US" sz="1900" dirty="0"/>
          </a:p>
        </p:txBody>
      </p:sp>
      <p:sp>
        <p:nvSpPr>
          <p:cNvPr id="5" name="Text 3"/>
          <p:cNvSpPr/>
          <p:nvPr>
            <p:custDataLst>
              <p:tags r:id="rId2"/>
            </p:custDataLst>
          </p:nvPr>
        </p:nvSpPr>
        <p:spPr>
          <a:xfrm>
            <a:off x="785813" y="3207901"/>
            <a:ext cx="3988118" cy="1224439"/>
          </a:xfrm>
          <a:prstGeom prst="rect">
            <a:avLst/>
          </a:prstGeom>
          <a:noFill/>
        </p:spPr>
        <p:txBody>
          <a:bodyPr wrap="square" lIns="0" tIns="0" rIns="0" bIns="0" rtlCol="0" anchor="t"/>
          <a:lstStyle/>
          <a:p>
            <a:pPr marL="0" indent="0" algn="l">
              <a:lnSpc>
                <a:spcPts val="3050"/>
              </a:lnSpc>
              <a:buNone/>
            </a:pPr>
            <a:r>
              <a:rPr lang="en-US" sz="1900" dirty="0">
                <a:solidFill>
                  <a:srgbClr val="CFD0D8"/>
                </a:solidFill>
                <a:highlight>
                  <a:srgbClr val="37373A"/>
                </a:highlight>
                <a:latin typeface="Consolas" panose="020B0609020204030204" charset="0"/>
                <a:ea typeface="Consolas" panose="020B0609020204030204" pitchFamily="34" charset="-122"/>
                <a:cs typeface="Consolas" panose="020B0609020204030204" pitchFamily="34" charset="-120"/>
              </a:rPr>
              <a:t>sort()</a:t>
            </a:r>
            <a:r>
              <a:rPr lang="en-US" sz="1900" dirty="0">
                <a:solidFill>
                  <a:srgbClr val="CFD0D8"/>
                </a:solidFill>
                <a:latin typeface="Instrument Sans Medium" pitchFamily="34" charset="0"/>
                <a:ea typeface="Instrument Sans Medium" pitchFamily="34" charset="-122"/>
                <a:cs typeface="Instrument Sans Medium" pitchFamily="34" charset="-120"/>
              </a:rPr>
              <a:t> arranges elements in order (modifies in-place). </a:t>
            </a:r>
            <a:r>
              <a:rPr lang="en-US" sz="1900" dirty="0">
                <a:solidFill>
                  <a:srgbClr val="CFD0D8"/>
                </a:solidFill>
                <a:highlight>
                  <a:srgbClr val="37373A"/>
                </a:highlight>
                <a:latin typeface="Consolas" panose="020B0609020204030204" charset="0"/>
                <a:ea typeface="Consolas" panose="020B0609020204030204" pitchFamily="34" charset="-122"/>
                <a:cs typeface="Consolas" panose="020B0609020204030204" pitchFamily="34" charset="-120"/>
              </a:rPr>
              <a:t>reverse()</a:t>
            </a:r>
            <a:r>
              <a:rPr lang="en-US" sz="1900" dirty="0">
                <a:solidFill>
                  <a:srgbClr val="CFD0D8"/>
                </a:solidFill>
                <a:latin typeface="Instrument Sans Medium" pitchFamily="34" charset="0"/>
                <a:ea typeface="Instrument Sans Medium" pitchFamily="34" charset="-122"/>
                <a:cs typeface="Instrument Sans Medium" pitchFamily="34" charset="-120"/>
              </a:rPr>
              <a:t> flips the list.</a:t>
            </a:r>
            <a:endParaRPr lang="en-US" sz="1900" dirty="0"/>
          </a:p>
        </p:txBody>
      </p:sp>
      <p:sp>
        <p:nvSpPr>
          <p:cNvPr id="6" name="Shape 4"/>
          <p:cNvSpPr/>
          <p:nvPr>
            <p:custDataLst>
              <p:tags r:id="rId3"/>
            </p:custDataLst>
          </p:nvPr>
        </p:nvSpPr>
        <p:spPr>
          <a:xfrm>
            <a:off x="785813" y="4653320"/>
            <a:ext cx="3988118" cy="2809161"/>
          </a:xfrm>
          <a:prstGeom prst="roundRect">
            <a:avLst>
              <a:gd name="adj" fmla="val 2937"/>
            </a:avLst>
          </a:prstGeom>
          <a:solidFill>
            <a:srgbClr val="37373A"/>
          </a:solidFill>
        </p:spPr>
      </p:sp>
      <p:sp>
        <p:nvSpPr>
          <p:cNvPr id="7" name="Shape 5"/>
          <p:cNvSpPr/>
          <p:nvPr>
            <p:custDataLst>
              <p:tags r:id="rId4"/>
            </p:custDataLst>
          </p:nvPr>
        </p:nvSpPr>
        <p:spPr>
          <a:xfrm>
            <a:off x="776049" y="4653320"/>
            <a:ext cx="4007644" cy="2809161"/>
          </a:xfrm>
          <a:prstGeom prst="roundRect">
            <a:avLst>
              <a:gd name="adj" fmla="val 1049"/>
            </a:avLst>
          </a:prstGeom>
          <a:solidFill>
            <a:srgbClr val="37373A"/>
          </a:solidFill>
        </p:spPr>
      </p:sp>
      <p:sp>
        <p:nvSpPr>
          <p:cNvPr id="8" name="Text 6"/>
          <p:cNvSpPr/>
          <p:nvPr>
            <p:custDataLst>
              <p:tags r:id="rId5"/>
            </p:custDataLst>
          </p:nvPr>
        </p:nvSpPr>
        <p:spPr>
          <a:xfrm>
            <a:off x="972503" y="4800600"/>
            <a:ext cx="3614738" cy="2514600"/>
          </a:xfrm>
          <a:prstGeom prst="rect">
            <a:avLst/>
          </a:prstGeom>
          <a:noFill/>
        </p:spPr>
        <p:txBody>
          <a:bodyPr wrap="square" lIns="0" tIns="0" rIns="0" bIns="0" rtlCol="0" anchor="t"/>
          <a:lstStyle/>
          <a:p>
            <a:pPr marL="0" indent="0" algn="l">
              <a:lnSpc>
                <a:spcPts val="2450"/>
              </a:lnSpc>
              <a:buNone/>
            </a:pPr>
            <a:r>
              <a:rPr lang="en-US" sz="1500" dirty="0">
                <a:solidFill>
                  <a:srgbClr val="CFD0D8"/>
                </a:solidFill>
                <a:highlight>
                  <a:srgbClr val="37373A"/>
                </a:highlight>
                <a:latin typeface="Consolas Medium" pitchFamily="34" charset="0"/>
                <a:ea typeface="Consolas Medium" pitchFamily="34" charset="-122"/>
                <a:cs typeface="Consolas Medium" pitchFamily="34" charset="-120"/>
              </a:rPr>
              <a:t>numbers = [3, 1, 4, 1, 5]</a:t>
            </a:r>
            <a:endParaRPr lang="en-US" sz="15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450"/>
              </a:lnSpc>
              <a:buNone/>
            </a:pPr>
            <a:r>
              <a:rPr lang="en-US" sz="1500" dirty="0">
                <a:solidFill>
                  <a:srgbClr val="CFD0D8"/>
                </a:solidFill>
                <a:highlight>
                  <a:srgbClr val="37373A"/>
                </a:highlight>
                <a:latin typeface="Consolas Medium" pitchFamily="34" charset="0"/>
                <a:ea typeface="Consolas Medium" pitchFamily="34" charset="-122"/>
                <a:cs typeface="Consolas Medium" pitchFamily="34" charset="-120"/>
              </a:rPr>
              <a:t>numbers.sort()</a:t>
            </a:r>
            <a:endParaRPr lang="en-US" sz="15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450"/>
              </a:lnSpc>
              <a:buNone/>
            </a:pPr>
            <a:r>
              <a:rPr lang="en-US" sz="1500" dirty="0">
                <a:solidFill>
                  <a:srgbClr val="CFD0D8"/>
                </a:solidFill>
                <a:highlight>
                  <a:srgbClr val="37373A"/>
                </a:highlight>
                <a:latin typeface="Consolas Medium" pitchFamily="34" charset="0"/>
                <a:ea typeface="Consolas Medium" pitchFamily="34" charset="-122"/>
                <a:cs typeface="Consolas Medium" pitchFamily="34" charset="-120"/>
              </a:rPr>
              <a:t>print(numbers)# [1, 1, 3, 4, 5]</a:t>
            </a:r>
            <a:endParaRPr lang="en-US" sz="15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450"/>
              </a:lnSpc>
              <a:buNone/>
            </a:pPr>
            <a:r>
              <a:rPr lang="en-US" sz="1500" dirty="0">
                <a:solidFill>
                  <a:srgbClr val="CFD0D8"/>
                </a:solidFill>
                <a:highlight>
                  <a:srgbClr val="37373A"/>
                </a:highlight>
                <a:latin typeface="Consolas Medium" pitchFamily="34" charset="0"/>
                <a:ea typeface="Consolas Medium" pitchFamily="34" charset="-122"/>
                <a:cs typeface="Consolas Medium" pitchFamily="34" charset="-120"/>
              </a:rPr>
              <a:t>numbers.reverse()</a:t>
            </a:r>
            <a:endParaRPr lang="en-US" sz="15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450"/>
              </a:lnSpc>
              <a:buNone/>
            </a:pPr>
            <a:r>
              <a:rPr lang="en-US" sz="1500" dirty="0">
                <a:solidFill>
                  <a:srgbClr val="CFD0D8"/>
                </a:solidFill>
                <a:highlight>
                  <a:srgbClr val="37373A"/>
                </a:highlight>
                <a:latin typeface="Consolas Medium" pitchFamily="34" charset="0"/>
                <a:ea typeface="Consolas Medium" pitchFamily="34" charset="-122"/>
                <a:cs typeface="Consolas Medium" pitchFamily="34" charset="-120"/>
              </a:rPr>
              <a:t>print(numbers)# [5, 4, 3, 1, 1]</a:t>
            </a:r>
            <a:endParaRPr lang="en-US" sz="1500" dirty="0"/>
          </a:p>
        </p:txBody>
      </p:sp>
      <p:sp>
        <p:nvSpPr>
          <p:cNvPr id="9" name="Text 7"/>
          <p:cNvSpPr/>
          <p:nvPr>
            <p:custDataLst>
              <p:tags r:id="rId6"/>
            </p:custDataLst>
          </p:nvPr>
        </p:nvSpPr>
        <p:spPr>
          <a:xfrm>
            <a:off x="5260896" y="2638187"/>
            <a:ext cx="3988118" cy="392906"/>
          </a:xfrm>
          <a:prstGeom prst="rect">
            <a:avLst/>
          </a:prstGeom>
          <a:noFill/>
        </p:spPr>
        <p:txBody>
          <a:bodyPr wrap="none" lIns="0" tIns="0" rIns="0" bIns="0" rtlCol="0" anchor="t"/>
          <a:lstStyle/>
          <a:p>
            <a:pPr marL="0" indent="0" algn="l">
              <a:lnSpc>
                <a:spcPts val="3050"/>
              </a:lnSpc>
              <a:buNone/>
            </a:pPr>
            <a:r>
              <a:rPr lang="en-US" sz="1900" dirty="0">
                <a:solidFill>
                  <a:srgbClr val="CFD0D8"/>
                </a:solidFill>
                <a:latin typeface="Instrument Sans Medium" pitchFamily="34" charset="0"/>
                <a:ea typeface="Instrument Sans Medium" pitchFamily="34" charset="-122"/>
                <a:cs typeface="Instrument Sans Medium" pitchFamily="34" charset="-120"/>
              </a:rPr>
              <a:t>count() and index()</a:t>
            </a:r>
            <a:endParaRPr lang="en-US" sz="1900" dirty="0"/>
          </a:p>
        </p:txBody>
      </p:sp>
      <p:sp>
        <p:nvSpPr>
          <p:cNvPr id="10" name="Text 8"/>
          <p:cNvSpPr/>
          <p:nvPr>
            <p:custDataLst>
              <p:tags r:id="rId7"/>
            </p:custDataLst>
          </p:nvPr>
        </p:nvSpPr>
        <p:spPr>
          <a:xfrm>
            <a:off x="5260896" y="3207901"/>
            <a:ext cx="3988118" cy="1224439"/>
          </a:xfrm>
          <a:prstGeom prst="rect">
            <a:avLst/>
          </a:prstGeom>
          <a:noFill/>
        </p:spPr>
        <p:txBody>
          <a:bodyPr wrap="square" lIns="0" tIns="0" rIns="0" bIns="0" rtlCol="0" anchor="t"/>
          <a:lstStyle/>
          <a:p>
            <a:pPr marL="0" indent="0" algn="l">
              <a:lnSpc>
                <a:spcPts val="3050"/>
              </a:lnSpc>
              <a:buNone/>
            </a:pPr>
            <a:r>
              <a:rPr lang="en-US" sz="1900" dirty="0">
                <a:solidFill>
                  <a:srgbClr val="CFD0D8"/>
                </a:solidFill>
                <a:highlight>
                  <a:srgbClr val="37373A"/>
                </a:highlight>
                <a:latin typeface="Consolas" panose="020B0609020204030204" charset="0"/>
                <a:ea typeface="Consolas" panose="020B0609020204030204" pitchFamily="34" charset="-122"/>
                <a:cs typeface="Consolas" panose="020B0609020204030204" pitchFamily="34" charset="-120"/>
              </a:rPr>
              <a:t>count()</a:t>
            </a:r>
            <a:r>
              <a:rPr lang="en-US" sz="1900" dirty="0">
                <a:solidFill>
                  <a:srgbClr val="CFD0D8"/>
                </a:solidFill>
                <a:latin typeface="Instrument Sans Medium" pitchFamily="34" charset="0"/>
                <a:ea typeface="Instrument Sans Medium" pitchFamily="34" charset="-122"/>
                <a:cs typeface="Instrument Sans Medium" pitchFamily="34" charset="-120"/>
              </a:rPr>
              <a:t> returns how many times an element appears. </a:t>
            </a:r>
            <a:r>
              <a:rPr lang="en-US" sz="1900" dirty="0">
                <a:solidFill>
                  <a:srgbClr val="CFD0D8"/>
                </a:solidFill>
                <a:highlight>
                  <a:srgbClr val="37373A"/>
                </a:highlight>
                <a:latin typeface="Consolas" panose="020B0609020204030204" charset="0"/>
                <a:ea typeface="Consolas" panose="020B0609020204030204" pitchFamily="34" charset="-122"/>
                <a:cs typeface="Consolas" panose="020B0609020204030204" pitchFamily="34" charset="-120"/>
              </a:rPr>
              <a:t>index()</a:t>
            </a:r>
            <a:r>
              <a:rPr lang="en-US" sz="1900" dirty="0">
                <a:solidFill>
                  <a:srgbClr val="CFD0D8"/>
                </a:solidFill>
                <a:latin typeface="Instrument Sans Medium" pitchFamily="34" charset="0"/>
                <a:ea typeface="Instrument Sans Medium" pitchFamily="34" charset="-122"/>
                <a:cs typeface="Instrument Sans Medium" pitchFamily="34" charset="-120"/>
              </a:rPr>
              <a:t> finds its position.</a:t>
            </a:r>
            <a:endParaRPr lang="en-US" sz="1900" dirty="0"/>
          </a:p>
        </p:txBody>
      </p:sp>
      <p:sp>
        <p:nvSpPr>
          <p:cNvPr id="11" name="Shape 9"/>
          <p:cNvSpPr/>
          <p:nvPr>
            <p:custDataLst>
              <p:tags r:id="rId8"/>
            </p:custDataLst>
          </p:nvPr>
        </p:nvSpPr>
        <p:spPr>
          <a:xfrm>
            <a:off x="5260896" y="4653320"/>
            <a:ext cx="3988118" cy="2180511"/>
          </a:xfrm>
          <a:prstGeom prst="roundRect">
            <a:avLst>
              <a:gd name="adj" fmla="val 3784"/>
            </a:avLst>
          </a:prstGeom>
          <a:solidFill>
            <a:srgbClr val="37373A"/>
          </a:solidFill>
        </p:spPr>
      </p:sp>
      <p:sp>
        <p:nvSpPr>
          <p:cNvPr id="12" name="Shape 10"/>
          <p:cNvSpPr/>
          <p:nvPr>
            <p:custDataLst>
              <p:tags r:id="rId9"/>
            </p:custDataLst>
          </p:nvPr>
        </p:nvSpPr>
        <p:spPr>
          <a:xfrm>
            <a:off x="5251133" y="4653320"/>
            <a:ext cx="4007644" cy="2180511"/>
          </a:xfrm>
          <a:prstGeom prst="roundRect">
            <a:avLst>
              <a:gd name="adj" fmla="val 1352"/>
            </a:avLst>
          </a:prstGeom>
          <a:solidFill>
            <a:srgbClr val="37373A"/>
          </a:solidFill>
        </p:spPr>
      </p:sp>
      <p:sp>
        <p:nvSpPr>
          <p:cNvPr id="13" name="Text 11"/>
          <p:cNvSpPr/>
          <p:nvPr>
            <p:custDataLst>
              <p:tags r:id="rId10"/>
            </p:custDataLst>
          </p:nvPr>
        </p:nvSpPr>
        <p:spPr>
          <a:xfrm>
            <a:off x="5447665" y="4800600"/>
            <a:ext cx="3780790" cy="1885950"/>
          </a:xfrm>
          <a:prstGeom prst="rect">
            <a:avLst/>
          </a:prstGeom>
          <a:noFill/>
        </p:spPr>
        <p:txBody>
          <a:bodyPr wrap="square" lIns="0" tIns="0" rIns="0" bIns="0" rtlCol="0" anchor="t"/>
          <a:lstStyle/>
          <a:p>
            <a:pPr marL="0" indent="0" algn="l">
              <a:lnSpc>
                <a:spcPts val="2450"/>
              </a:lnSpc>
              <a:buNone/>
            </a:pPr>
            <a:r>
              <a:rPr lang="en-US" sz="1500" dirty="0">
                <a:solidFill>
                  <a:srgbClr val="CFD0D8"/>
                </a:solidFill>
                <a:highlight>
                  <a:srgbClr val="37373A"/>
                </a:highlight>
                <a:latin typeface="Consolas Medium" pitchFamily="34" charset="0"/>
                <a:ea typeface="Consolas Medium" pitchFamily="34" charset="-122"/>
                <a:cs typeface="Consolas Medium" pitchFamily="34" charset="-120"/>
              </a:rPr>
              <a:t>letters = ['a', 'b', 'a', 'c', 'a']</a:t>
            </a:r>
            <a:endParaRPr lang="en-US" sz="15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450"/>
              </a:lnSpc>
              <a:buNone/>
            </a:pPr>
            <a:r>
              <a:rPr lang="en-US" sz="1500" dirty="0">
                <a:solidFill>
                  <a:srgbClr val="CFD0D8"/>
                </a:solidFill>
                <a:highlight>
                  <a:srgbClr val="37373A"/>
                </a:highlight>
                <a:latin typeface="Consolas Medium" pitchFamily="34" charset="0"/>
                <a:ea typeface="Consolas Medium" pitchFamily="34" charset="-122"/>
                <a:cs typeface="Consolas Medium" pitchFamily="34" charset="-120"/>
              </a:rPr>
              <a:t>print(letters.count('a'))# Output: 3</a:t>
            </a:r>
            <a:endParaRPr lang="en-US" sz="15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450"/>
              </a:lnSpc>
              <a:buNone/>
            </a:pPr>
            <a:r>
              <a:rPr lang="en-US" sz="1500" dirty="0">
                <a:solidFill>
                  <a:srgbClr val="CFD0D8"/>
                </a:solidFill>
                <a:highlight>
                  <a:srgbClr val="37373A"/>
                </a:highlight>
                <a:latin typeface="Consolas Medium" pitchFamily="34" charset="0"/>
                <a:ea typeface="Consolas Medium" pitchFamily="34" charset="-122"/>
                <a:cs typeface="Consolas Medium" pitchFamily="34" charset="-120"/>
              </a:rPr>
              <a:t>print(letters.index('c'))# Output: 3</a:t>
            </a:r>
            <a:endParaRPr lang="en-US" sz="1500" dirty="0"/>
          </a:p>
        </p:txBody>
      </p:sp>
      <p:sp>
        <p:nvSpPr>
          <p:cNvPr id="14" name="Text 12"/>
          <p:cNvSpPr/>
          <p:nvPr>
            <p:custDataLst>
              <p:tags r:id="rId11"/>
            </p:custDataLst>
          </p:nvPr>
        </p:nvSpPr>
        <p:spPr>
          <a:xfrm>
            <a:off x="9735979" y="2638187"/>
            <a:ext cx="4123611" cy="392906"/>
          </a:xfrm>
          <a:prstGeom prst="rect">
            <a:avLst/>
          </a:prstGeom>
          <a:noFill/>
        </p:spPr>
        <p:txBody>
          <a:bodyPr wrap="none" lIns="0" tIns="0" rIns="0" bIns="0" rtlCol="0" anchor="t"/>
          <a:lstStyle/>
          <a:p>
            <a:pPr marL="0" indent="0" algn="l">
              <a:lnSpc>
                <a:spcPts val="3050"/>
              </a:lnSpc>
              <a:buNone/>
            </a:pPr>
            <a:r>
              <a:rPr lang="en-US" sz="1900" dirty="0">
                <a:solidFill>
                  <a:srgbClr val="CFD0D8"/>
                </a:solidFill>
                <a:latin typeface="Instrument Sans Medium" pitchFamily="34" charset="0"/>
                <a:ea typeface="Instrument Sans Medium" pitchFamily="34" charset="-122"/>
                <a:cs typeface="Instrument Sans Medium" pitchFamily="34" charset="-120"/>
              </a:rPr>
              <a:t>clear() Method</a:t>
            </a:r>
            <a:endParaRPr lang="en-US" sz="1900" dirty="0"/>
          </a:p>
        </p:txBody>
      </p:sp>
      <p:sp>
        <p:nvSpPr>
          <p:cNvPr id="15" name="Text 13"/>
          <p:cNvSpPr/>
          <p:nvPr>
            <p:custDataLst>
              <p:tags r:id="rId12"/>
            </p:custDataLst>
          </p:nvPr>
        </p:nvSpPr>
        <p:spPr>
          <a:xfrm>
            <a:off x="9735979" y="3207901"/>
            <a:ext cx="4123611" cy="808673"/>
          </a:xfrm>
          <a:prstGeom prst="rect">
            <a:avLst/>
          </a:prstGeom>
          <a:noFill/>
        </p:spPr>
        <p:txBody>
          <a:bodyPr wrap="square" lIns="0" tIns="0" rIns="0" bIns="0" rtlCol="0" anchor="t"/>
          <a:lstStyle/>
          <a:p>
            <a:pPr marL="0" indent="0" algn="l">
              <a:lnSpc>
                <a:spcPts val="3050"/>
              </a:lnSpc>
              <a:buNone/>
            </a:pPr>
            <a:r>
              <a:rPr lang="en-US" sz="1900" dirty="0">
                <a:solidFill>
                  <a:srgbClr val="CFD0D8"/>
                </a:solidFill>
                <a:highlight>
                  <a:srgbClr val="37373A"/>
                </a:highlight>
                <a:latin typeface="Consolas" panose="020B0609020204030204" charset="0"/>
                <a:ea typeface="Consolas" panose="020B0609020204030204" pitchFamily="34" charset="-122"/>
                <a:cs typeface="Consolas" panose="020B0609020204030204" pitchFamily="34" charset="-120"/>
              </a:rPr>
              <a:t>clear()</a:t>
            </a:r>
            <a:r>
              <a:rPr lang="en-US" sz="1900" dirty="0">
                <a:solidFill>
                  <a:srgbClr val="CFD0D8"/>
                </a:solidFill>
                <a:latin typeface="Instrument Sans Medium" pitchFamily="34" charset="0"/>
                <a:ea typeface="Instrument Sans Medium" pitchFamily="34" charset="-122"/>
                <a:cs typeface="Instrument Sans Medium" pitchFamily="34" charset="-120"/>
              </a:rPr>
              <a:t> empties the entire list while keeping the variable intact.</a:t>
            </a:r>
            <a:endParaRPr lang="en-US" sz="1900" dirty="0"/>
          </a:p>
        </p:txBody>
      </p:sp>
      <p:sp>
        <p:nvSpPr>
          <p:cNvPr id="16" name="Shape 14"/>
          <p:cNvSpPr/>
          <p:nvPr>
            <p:custDataLst>
              <p:tags r:id="rId13"/>
            </p:custDataLst>
          </p:nvPr>
        </p:nvSpPr>
        <p:spPr>
          <a:xfrm>
            <a:off x="9735979" y="4237553"/>
            <a:ext cx="4123611" cy="2180511"/>
          </a:xfrm>
          <a:prstGeom prst="roundRect">
            <a:avLst>
              <a:gd name="adj" fmla="val 3784"/>
            </a:avLst>
          </a:prstGeom>
          <a:solidFill>
            <a:srgbClr val="37373A"/>
          </a:solidFill>
        </p:spPr>
      </p:sp>
      <p:sp>
        <p:nvSpPr>
          <p:cNvPr id="17" name="Shape 15"/>
          <p:cNvSpPr/>
          <p:nvPr>
            <p:custDataLst>
              <p:tags r:id="rId14"/>
            </p:custDataLst>
          </p:nvPr>
        </p:nvSpPr>
        <p:spPr>
          <a:xfrm>
            <a:off x="9726216" y="4237553"/>
            <a:ext cx="4143137" cy="2180511"/>
          </a:xfrm>
          <a:prstGeom prst="roundRect">
            <a:avLst>
              <a:gd name="adj" fmla="val 1352"/>
            </a:avLst>
          </a:prstGeom>
          <a:solidFill>
            <a:srgbClr val="37373A"/>
          </a:solidFill>
        </p:spPr>
      </p:sp>
      <p:sp>
        <p:nvSpPr>
          <p:cNvPr id="18" name="Text 16"/>
          <p:cNvSpPr/>
          <p:nvPr>
            <p:custDataLst>
              <p:tags r:id="rId15"/>
            </p:custDataLst>
          </p:nvPr>
        </p:nvSpPr>
        <p:spPr>
          <a:xfrm>
            <a:off x="9922669" y="4384834"/>
            <a:ext cx="3750231" cy="1885950"/>
          </a:xfrm>
          <a:prstGeom prst="rect">
            <a:avLst/>
          </a:prstGeom>
          <a:noFill/>
        </p:spPr>
        <p:txBody>
          <a:bodyPr wrap="square" lIns="0" tIns="0" rIns="0" bIns="0" rtlCol="0" anchor="t"/>
          <a:lstStyle/>
          <a:p>
            <a:pPr marL="0" indent="0" algn="l">
              <a:lnSpc>
                <a:spcPts val="2450"/>
              </a:lnSpc>
              <a:buNone/>
            </a:pPr>
            <a:r>
              <a:rPr lang="en-US" sz="1500" dirty="0">
                <a:solidFill>
                  <a:srgbClr val="CFD0D8"/>
                </a:solidFill>
                <a:highlight>
                  <a:srgbClr val="37373A"/>
                </a:highlight>
                <a:latin typeface="Consolas Medium" pitchFamily="34" charset="0"/>
                <a:ea typeface="Consolas Medium" pitchFamily="34" charset="-122"/>
                <a:cs typeface="Consolas Medium" pitchFamily="34" charset="-120"/>
              </a:rPr>
              <a:t>data = [1, 2, 3, 4, 5]</a:t>
            </a:r>
            <a:endParaRPr lang="en-US" sz="15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450"/>
              </a:lnSpc>
              <a:buNone/>
            </a:pPr>
            <a:r>
              <a:rPr lang="en-US" sz="1500" dirty="0">
                <a:solidFill>
                  <a:srgbClr val="CFD0D8"/>
                </a:solidFill>
                <a:highlight>
                  <a:srgbClr val="37373A"/>
                </a:highlight>
                <a:latin typeface="Consolas Medium" pitchFamily="34" charset="0"/>
                <a:ea typeface="Consolas Medium" pitchFamily="34" charset="-122"/>
                <a:cs typeface="Consolas Medium" pitchFamily="34" charset="-120"/>
              </a:rPr>
              <a:t>data.clear()</a:t>
            </a:r>
            <a:endParaRPr lang="en-US" sz="15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450"/>
              </a:lnSpc>
              <a:buNone/>
            </a:pPr>
            <a:r>
              <a:rPr lang="en-US" sz="1500" dirty="0">
                <a:solidFill>
                  <a:srgbClr val="CFD0D8"/>
                </a:solidFill>
                <a:highlight>
                  <a:srgbClr val="37373A"/>
                </a:highlight>
                <a:latin typeface="Consolas Medium" pitchFamily="34" charset="0"/>
                <a:ea typeface="Consolas Medium" pitchFamily="34" charset="-122"/>
                <a:cs typeface="Consolas Medium" pitchFamily="34" charset="-120"/>
              </a:rPr>
              <a:t>print(data)# Output: []</a:t>
            </a:r>
            <a:endParaRPr lang="en-US" sz="15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450"/>
              </a:lnSpc>
              <a:buNone/>
            </a:pPr>
            <a:r>
              <a:rPr lang="en-US" sz="1500" dirty="0">
                <a:solidFill>
                  <a:srgbClr val="CFD0D8"/>
                </a:solidFill>
                <a:highlight>
                  <a:srgbClr val="37373A"/>
                </a:highlight>
                <a:latin typeface="Consolas Medium" pitchFamily="34" charset="0"/>
                <a:ea typeface="Consolas Medium" pitchFamily="34" charset="-122"/>
                <a:cs typeface="Consolas Medium" pitchFamily="34" charset="-120"/>
              </a:rPr>
              <a:t>print(len(data)) # Output: 0</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29615" y="619244"/>
            <a:ext cx="6361390" cy="370523"/>
          </a:xfrm>
          <a:prstGeom prst="rect">
            <a:avLst/>
          </a:prstGeom>
          <a:noFill/>
        </p:spPr>
        <p:txBody>
          <a:bodyPr wrap="none" lIns="0" tIns="0" rIns="0" bIns="0" rtlCol="0" anchor="t"/>
          <a:lstStyle/>
          <a:p>
            <a:pPr marL="0" indent="0" algn="l">
              <a:lnSpc>
                <a:spcPts val="2900"/>
              </a:lnSpc>
              <a:buNone/>
            </a:pPr>
            <a:r>
              <a:rPr lang="en-US" sz="2300" dirty="0">
                <a:solidFill>
                  <a:srgbClr val="CBCCCE"/>
                </a:solidFill>
                <a:latin typeface="Instrument Sans Semi Bold" pitchFamily="34" charset="0"/>
                <a:ea typeface="Instrument Sans Semi Bold" pitchFamily="34" charset="-122"/>
                <a:cs typeface="Instrument Sans Semi Bold" pitchFamily="34" charset="-120"/>
              </a:rPr>
              <a:t>Multi-Dimensional Lists: Matrices and Beyond</a:t>
            </a:r>
            <a:endParaRPr lang="en-US" sz="2300" dirty="0"/>
          </a:p>
        </p:txBody>
      </p:sp>
      <p:sp>
        <p:nvSpPr>
          <p:cNvPr id="3" name="Text 1"/>
          <p:cNvSpPr/>
          <p:nvPr/>
        </p:nvSpPr>
        <p:spPr>
          <a:xfrm>
            <a:off x="617220" y="1226820"/>
            <a:ext cx="13171170" cy="401320"/>
          </a:xfrm>
          <a:prstGeom prst="rect">
            <a:avLst/>
          </a:prstGeom>
          <a:noFill/>
        </p:spPr>
        <p:txBody>
          <a:bodyPr wrap="none" lIns="0" tIns="0" rIns="0" bIns="0" rtlCol="0" anchor="t"/>
          <a:lstStyle/>
          <a:p>
            <a:pPr marL="0" indent="0" algn="l">
              <a:lnSpc>
                <a:spcPts val="1850"/>
              </a:lnSpc>
              <a:buNone/>
            </a:pPr>
            <a:r>
              <a:rPr lang="en-US" sz="1400" dirty="0">
                <a:solidFill>
                  <a:srgbClr val="CFD0D8"/>
                </a:solidFill>
                <a:latin typeface="Instrument Sans Medium" pitchFamily="34" charset="0"/>
                <a:ea typeface="Instrument Sans Medium" pitchFamily="34" charset="-122"/>
                <a:cs typeface="Instrument Sans Medium" pitchFamily="34" charset="-120"/>
              </a:rPr>
              <a:t>Step into advanced territory by nesting lists within lists. Multi-dimensional lists represent matrices, tables, and complex data structures essential for data science and</a:t>
            </a:r>
            <a:endParaRPr lang="en-US" sz="1400" dirty="0">
              <a:solidFill>
                <a:srgbClr val="CFD0D8"/>
              </a:solidFill>
              <a:latin typeface="Instrument Sans Medium" pitchFamily="34" charset="0"/>
              <a:ea typeface="Instrument Sans Medium" pitchFamily="34" charset="-122"/>
              <a:cs typeface="Instrument Sans Medium" pitchFamily="34" charset="-120"/>
            </a:endParaRPr>
          </a:p>
          <a:p>
            <a:pPr marL="0" indent="0" algn="l">
              <a:lnSpc>
                <a:spcPts val="1850"/>
              </a:lnSpc>
              <a:buNone/>
            </a:pPr>
            <a:r>
              <a:rPr lang="en-US" sz="1400" dirty="0">
                <a:solidFill>
                  <a:srgbClr val="CFD0D8"/>
                </a:solidFill>
                <a:latin typeface="Instrument Sans Medium" pitchFamily="34" charset="0"/>
                <a:ea typeface="Instrument Sans Medium" pitchFamily="34" charset="-122"/>
                <a:cs typeface="Instrument Sans Medium" pitchFamily="34" charset="-120"/>
              </a:rPr>
              <a:t> game development.</a:t>
            </a:r>
            <a:endParaRPr lang="en-US" sz="1400" dirty="0">
              <a:solidFill>
                <a:srgbClr val="CFD0D8"/>
              </a:solidFill>
              <a:latin typeface="Instrument Sans Medium" pitchFamily="34" charset="0"/>
              <a:ea typeface="Instrument Sans Medium" pitchFamily="34" charset="-122"/>
              <a:cs typeface="Instrument Sans Medium" pitchFamily="34" charset="-120"/>
            </a:endParaRPr>
          </a:p>
        </p:txBody>
      </p:sp>
      <p:sp>
        <p:nvSpPr>
          <p:cNvPr id="4" name="Text 2"/>
          <p:cNvSpPr/>
          <p:nvPr/>
        </p:nvSpPr>
        <p:spPr>
          <a:xfrm>
            <a:off x="742950" y="1864678"/>
            <a:ext cx="13171170" cy="237173"/>
          </a:xfrm>
          <a:prstGeom prst="rect">
            <a:avLst/>
          </a:prstGeom>
          <a:noFill/>
        </p:spPr>
        <p:txBody>
          <a:bodyPr wrap="none" lIns="0" tIns="0" rIns="0" bIns="0" rtlCol="0" anchor="t"/>
          <a:lstStyle/>
          <a:p>
            <a:pPr marL="0" indent="0" algn="l">
              <a:lnSpc>
                <a:spcPts val="1850"/>
              </a:lnSpc>
              <a:buNone/>
            </a:pPr>
            <a:r>
              <a:rPr lang="en-US" sz="1600" b="1" dirty="0">
                <a:solidFill>
                  <a:srgbClr val="CFD0D8"/>
                </a:solidFill>
                <a:latin typeface="Instrument Sans Medium" pitchFamily="34" charset="0"/>
                <a:ea typeface="Instrument Sans Medium" pitchFamily="34" charset="-122"/>
                <a:cs typeface="Instrument Sans Medium" pitchFamily="34" charset="-120"/>
              </a:rPr>
              <a:t>2D Lists: Tables and Matrices</a:t>
            </a:r>
            <a:endParaRPr lang="en-US" sz="1600" b="1" dirty="0">
              <a:solidFill>
                <a:srgbClr val="CFD0D8"/>
              </a:solidFill>
              <a:latin typeface="Instrument Sans Medium" pitchFamily="34" charset="0"/>
              <a:ea typeface="Instrument Sans Medium" pitchFamily="34" charset="-122"/>
              <a:cs typeface="Instrument Sans Medium" pitchFamily="34" charset="-120"/>
            </a:endParaRPr>
          </a:p>
        </p:txBody>
      </p:sp>
      <p:sp>
        <p:nvSpPr>
          <p:cNvPr id="5" name="Text 3"/>
          <p:cNvSpPr/>
          <p:nvPr/>
        </p:nvSpPr>
        <p:spPr>
          <a:xfrm>
            <a:off x="723900" y="2131060"/>
            <a:ext cx="13171170" cy="237173"/>
          </a:xfrm>
          <a:prstGeom prst="rect">
            <a:avLst/>
          </a:prstGeom>
          <a:noFill/>
        </p:spPr>
        <p:txBody>
          <a:bodyPr wrap="none" lIns="0" tIns="0" rIns="0" bIns="0" rtlCol="0" anchor="t"/>
          <a:lstStyle/>
          <a:p>
            <a:pPr marL="0" indent="0" algn="l">
              <a:lnSpc>
                <a:spcPts val="1850"/>
              </a:lnSpc>
              <a:buNone/>
            </a:pPr>
            <a:r>
              <a:rPr lang="en-US" sz="1400" dirty="0">
                <a:solidFill>
                  <a:srgbClr val="CFD0D8"/>
                </a:solidFill>
                <a:latin typeface="Instrument Sans Medium" pitchFamily="34" charset="0"/>
                <a:ea typeface="Instrument Sans Medium" pitchFamily="34" charset="-122"/>
                <a:cs typeface="Instrument Sans Medium" pitchFamily="34" charset="-120"/>
              </a:rPr>
              <a:t>A 2D list is essentially a list of lists, where each inner list represents a row. This is perfect for representing grids, spreadsheets, and game boards.</a:t>
            </a:r>
            <a:endParaRPr lang="en-US" sz="1400" dirty="0">
              <a:solidFill>
                <a:srgbClr val="CFD0D8"/>
              </a:solidFill>
              <a:latin typeface="Instrument Sans Medium" pitchFamily="34" charset="0"/>
              <a:ea typeface="Instrument Sans Medium" pitchFamily="34" charset="-122"/>
              <a:cs typeface="Instrument Sans Medium" pitchFamily="34" charset="-120"/>
            </a:endParaRPr>
          </a:p>
        </p:txBody>
      </p:sp>
      <p:sp>
        <p:nvSpPr>
          <p:cNvPr id="6" name="Shape 4"/>
          <p:cNvSpPr/>
          <p:nvPr/>
        </p:nvSpPr>
        <p:spPr>
          <a:xfrm>
            <a:off x="729615" y="2583180"/>
            <a:ext cx="13171170" cy="1449705"/>
          </a:xfrm>
          <a:prstGeom prst="roundRect">
            <a:avLst>
              <a:gd name="adj" fmla="val 2938"/>
            </a:avLst>
          </a:prstGeom>
          <a:solidFill>
            <a:srgbClr val="37373A"/>
          </a:solidFill>
        </p:spPr>
      </p:sp>
      <p:sp>
        <p:nvSpPr>
          <p:cNvPr id="7" name="Shape 5"/>
          <p:cNvSpPr/>
          <p:nvPr/>
        </p:nvSpPr>
        <p:spPr>
          <a:xfrm>
            <a:off x="731520" y="2579370"/>
            <a:ext cx="13182600" cy="1507490"/>
          </a:xfrm>
          <a:prstGeom prst="roundRect">
            <a:avLst>
              <a:gd name="adj" fmla="val 1049"/>
            </a:avLst>
          </a:prstGeom>
          <a:solidFill>
            <a:srgbClr val="37373A"/>
          </a:solidFill>
        </p:spPr>
      </p:sp>
      <p:sp>
        <p:nvSpPr>
          <p:cNvPr id="8" name="Text 6"/>
          <p:cNvSpPr/>
          <p:nvPr/>
        </p:nvSpPr>
        <p:spPr>
          <a:xfrm>
            <a:off x="842010" y="2707640"/>
            <a:ext cx="12945745" cy="1240155"/>
          </a:xfrm>
          <a:prstGeom prst="rect">
            <a:avLst/>
          </a:prstGeom>
          <a:noFill/>
        </p:spPr>
        <p:txBody>
          <a:bodyPr wrap="square" lIns="0" tIns="0" rIns="0" bIns="0" rtlCol="0" anchor="t"/>
          <a:lstStyle/>
          <a:p>
            <a:pPr marL="0" indent="0" algn="l">
              <a:lnSpc>
                <a:spcPts val="1450"/>
              </a:lnSpc>
              <a:buNone/>
            </a:pP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450"/>
              </a:lnSpc>
              <a:buNone/>
            </a:pP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4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matrix = [    [1, 2, 3],    [4, 5, 6],    [7, 8, 9]]</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450"/>
              </a:lnSpc>
              <a:buNone/>
            </a:pP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4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print(matrix[0][1])      # Output: 2 (first row, second column)</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450"/>
              </a:lnSpc>
              <a:buNone/>
            </a:pP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4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print(matrix[2][2])      # Output: 9 (third row, third column)</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p:txBody>
      </p:sp>
      <p:sp>
        <p:nvSpPr>
          <p:cNvPr id="9" name="Text 7"/>
          <p:cNvSpPr/>
          <p:nvPr/>
        </p:nvSpPr>
        <p:spPr>
          <a:xfrm>
            <a:off x="729615" y="4273391"/>
            <a:ext cx="6440924" cy="237173"/>
          </a:xfrm>
          <a:prstGeom prst="rect">
            <a:avLst/>
          </a:prstGeom>
          <a:noFill/>
        </p:spPr>
        <p:txBody>
          <a:bodyPr wrap="none" lIns="0" tIns="0" rIns="0" bIns="0" rtlCol="0" anchor="t"/>
          <a:lstStyle/>
          <a:p>
            <a:pPr marL="0" indent="0" algn="l">
              <a:lnSpc>
                <a:spcPts val="1850"/>
              </a:lnSpc>
              <a:buNone/>
            </a:pPr>
            <a:r>
              <a:rPr lang="en-US" sz="1150" dirty="0">
                <a:solidFill>
                  <a:srgbClr val="CFD0D8"/>
                </a:solidFill>
                <a:latin typeface="Instrument Sans Medium" pitchFamily="34" charset="0"/>
                <a:ea typeface="Instrument Sans Medium" pitchFamily="34" charset="-122"/>
                <a:cs typeface="Instrument Sans Medium" pitchFamily="34" charset="-120"/>
              </a:rPr>
              <a:t>Practical Example: Game Board</a:t>
            </a:r>
            <a:endParaRPr lang="en-US" sz="1150" dirty="0"/>
          </a:p>
        </p:txBody>
      </p:sp>
      <p:sp>
        <p:nvSpPr>
          <p:cNvPr id="10" name="Shape 8"/>
          <p:cNvSpPr/>
          <p:nvPr/>
        </p:nvSpPr>
        <p:spPr>
          <a:xfrm>
            <a:off x="729615" y="4643914"/>
            <a:ext cx="6440924" cy="2832973"/>
          </a:xfrm>
          <a:prstGeom prst="roundRect">
            <a:avLst>
              <a:gd name="adj" fmla="val 1758"/>
            </a:avLst>
          </a:prstGeom>
          <a:solidFill>
            <a:srgbClr val="37373A"/>
          </a:solidFill>
        </p:spPr>
      </p:sp>
      <p:sp>
        <p:nvSpPr>
          <p:cNvPr id="11" name="Shape 9"/>
          <p:cNvSpPr/>
          <p:nvPr/>
        </p:nvSpPr>
        <p:spPr>
          <a:xfrm>
            <a:off x="723781" y="4643914"/>
            <a:ext cx="6452592" cy="2832973"/>
          </a:xfrm>
          <a:prstGeom prst="roundRect">
            <a:avLst>
              <a:gd name="adj" fmla="val 628"/>
            </a:avLst>
          </a:prstGeom>
          <a:solidFill>
            <a:srgbClr val="37373A"/>
          </a:solidFill>
        </p:spPr>
      </p:sp>
      <p:sp>
        <p:nvSpPr>
          <p:cNvPr id="12" name="Text 10"/>
          <p:cNvSpPr/>
          <p:nvPr/>
        </p:nvSpPr>
        <p:spPr>
          <a:xfrm>
            <a:off x="842248" y="4732734"/>
            <a:ext cx="6215658" cy="2655332"/>
          </a:xfrm>
          <a:prstGeom prst="rect">
            <a:avLst/>
          </a:prstGeom>
          <a:noFill/>
        </p:spPr>
        <p:txBody>
          <a:bodyPr wrap="square" lIns="0" tIns="0" rIns="0" bIns="0" rtlCol="0" anchor="t"/>
          <a:lstStyle/>
          <a:p>
            <a:pPr marL="0" indent="0" algn="l">
              <a:lnSpc>
                <a:spcPts val="14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board = [ ['X', 'O', 'X'], ['O', 'X', 'O'], [' ', 'X', 'O']]</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4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 Access and modify</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450"/>
              </a:lnSpc>
              <a:buNone/>
            </a:pP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4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print(board[1][0])  # 'O'</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450"/>
              </a:lnSpc>
              <a:buNone/>
            </a:pP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4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board[2][0] = 'X'# Iterate through all cells</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450"/>
              </a:lnSpc>
              <a:buNone/>
            </a:pP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4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for row in board:    </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457200" algn="l">
              <a:lnSpc>
                <a:spcPts val="1450"/>
              </a:lnSpc>
              <a:buNone/>
            </a:pP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457200" algn="l">
              <a:lnSpc>
                <a:spcPts val="14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for cell in row:     </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457200" algn="l">
              <a:lnSpc>
                <a:spcPts val="1450"/>
              </a:lnSpc>
              <a:buNone/>
            </a:pP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457200" algn="l">
              <a:lnSpc>
                <a:spcPts val="14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   print(cell, end=' ')</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p:txBody>
      </p:sp>
      <p:sp>
        <p:nvSpPr>
          <p:cNvPr id="13" name="Text 11"/>
          <p:cNvSpPr/>
          <p:nvPr/>
        </p:nvSpPr>
        <p:spPr>
          <a:xfrm>
            <a:off x="7467481" y="4273391"/>
            <a:ext cx="6440924" cy="237173"/>
          </a:xfrm>
          <a:prstGeom prst="rect">
            <a:avLst/>
          </a:prstGeom>
          <a:noFill/>
        </p:spPr>
        <p:txBody>
          <a:bodyPr wrap="none" lIns="0" tIns="0" rIns="0" bIns="0" rtlCol="0" anchor="t"/>
          <a:lstStyle/>
          <a:p>
            <a:pPr marL="0" indent="0" algn="l">
              <a:lnSpc>
                <a:spcPts val="1850"/>
              </a:lnSpc>
              <a:buNone/>
            </a:pPr>
            <a:r>
              <a:rPr lang="en-US" sz="1150" dirty="0">
                <a:solidFill>
                  <a:srgbClr val="CFD0D8"/>
                </a:solidFill>
                <a:latin typeface="Instrument Sans Medium" pitchFamily="34" charset="0"/>
                <a:ea typeface="Instrument Sans Medium" pitchFamily="34" charset="-122"/>
                <a:cs typeface="Instrument Sans Medium" pitchFamily="34" charset="-120"/>
              </a:rPr>
              <a:t>3D Lists and Beyond</a:t>
            </a:r>
            <a:endParaRPr lang="en-US" sz="1150" dirty="0"/>
          </a:p>
        </p:txBody>
      </p:sp>
      <p:sp>
        <p:nvSpPr>
          <p:cNvPr id="14" name="Text 12"/>
          <p:cNvSpPr/>
          <p:nvPr/>
        </p:nvSpPr>
        <p:spPr>
          <a:xfrm>
            <a:off x="7467481" y="4617244"/>
            <a:ext cx="6440924" cy="474345"/>
          </a:xfrm>
          <a:prstGeom prst="rect">
            <a:avLst/>
          </a:prstGeom>
          <a:noFill/>
        </p:spPr>
        <p:txBody>
          <a:bodyPr wrap="square" lIns="0" tIns="0" rIns="0" bIns="0" rtlCol="0" anchor="t"/>
          <a:lstStyle/>
          <a:p>
            <a:pPr marL="0" indent="0" algn="l">
              <a:lnSpc>
                <a:spcPts val="1850"/>
              </a:lnSpc>
              <a:buNone/>
            </a:pPr>
            <a:r>
              <a:rPr lang="en-US" sz="1400" dirty="0">
                <a:solidFill>
                  <a:srgbClr val="CFD0D8"/>
                </a:solidFill>
                <a:latin typeface="Instrument Sans Medium" pitchFamily="34" charset="0"/>
                <a:ea typeface="Instrument Sans Medium" pitchFamily="34" charset="-122"/>
                <a:cs typeface="Instrument Sans Medium" pitchFamily="34" charset="-120"/>
              </a:rPr>
              <a:t>Extend the concept further with deeper nesting. A 3D list could represent layers in a 3D grid or multiple tables.</a:t>
            </a:r>
            <a:endParaRPr lang="en-US" sz="1400" dirty="0">
              <a:solidFill>
                <a:srgbClr val="CFD0D8"/>
              </a:solidFill>
              <a:latin typeface="Instrument Sans Medium" pitchFamily="34" charset="0"/>
              <a:ea typeface="Instrument Sans Medium" pitchFamily="34" charset="-122"/>
              <a:cs typeface="Instrument Sans Medium" pitchFamily="34" charset="-120"/>
            </a:endParaRPr>
          </a:p>
        </p:txBody>
      </p:sp>
      <p:sp>
        <p:nvSpPr>
          <p:cNvPr id="15" name="Shape 13"/>
          <p:cNvSpPr/>
          <p:nvPr/>
        </p:nvSpPr>
        <p:spPr>
          <a:xfrm>
            <a:off x="7467481" y="5224939"/>
            <a:ext cx="6440924" cy="1694974"/>
          </a:xfrm>
          <a:prstGeom prst="roundRect">
            <a:avLst>
              <a:gd name="adj" fmla="val 2938"/>
            </a:avLst>
          </a:prstGeom>
          <a:solidFill>
            <a:srgbClr val="37373A"/>
          </a:solidFill>
        </p:spPr>
      </p:sp>
      <p:sp>
        <p:nvSpPr>
          <p:cNvPr id="16" name="Shape 14"/>
          <p:cNvSpPr/>
          <p:nvPr/>
        </p:nvSpPr>
        <p:spPr>
          <a:xfrm>
            <a:off x="7461647" y="5224939"/>
            <a:ext cx="6452592" cy="1694974"/>
          </a:xfrm>
          <a:prstGeom prst="roundRect">
            <a:avLst>
              <a:gd name="adj" fmla="val 1049"/>
            </a:avLst>
          </a:prstGeom>
          <a:solidFill>
            <a:srgbClr val="37373A"/>
          </a:solidFill>
        </p:spPr>
      </p:sp>
      <p:sp>
        <p:nvSpPr>
          <p:cNvPr id="17" name="Text 15"/>
          <p:cNvSpPr/>
          <p:nvPr/>
        </p:nvSpPr>
        <p:spPr>
          <a:xfrm>
            <a:off x="7580114" y="5313759"/>
            <a:ext cx="6215658" cy="1517333"/>
          </a:xfrm>
          <a:prstGeom prst="rect">
            <a:avLst/>
          </a:prstGeom>
          <a:noFill/>
        </p:spPr>
        <p:txBody>
          <a:bodyPr wrap="square" lIns="0" tIns="0" rIns="0" bIns="0" rtlCol="0" anchor="t"/>
          <a:lstStyle/>
          <a:p>
            <a:pPr marL="0" indent="0" algn="l">
              <a:lnSpc>
                <a:spcPts val="14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data_3d = [ [[1, 2], [3, 4]], [[5, 6], [7, 8]]]# Access </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450"/>
              </a:lnSpc>
              <a:buNone/>
            </a:pP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4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element: layer, row, column</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450"/>
              </a:lnSpc>
              <a:buNone/>
            </a:pP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1450"/>
              </a:lnSpc>
              <a:buNone/>
            </a:pPr>
            <a:r>
              <a:rPr lang="en-US" sz="1400" dirty="0">
                <a:solidFill>
                  <a:srgbClr val="CFD0D8"/>
                </a:solidFill>
                <a:highlight>
                  <a:srgbClr val="37373A"/>
                </a:highlight>
                <a:latin typeface="Consolas Medium" pitchFamily="34" charset="0"/>
                <a:ea typeface="Consolas Medium" pitchFamily="34" charset="-122"/>
                <a:cs typeface="Consolas Medium" pitchFamily="34" charset="-120"/>
              </a:rPr>
              <a:t>print(data_3d[0][1][0])  # Output: 3</a:t>
            </a:r>
            <a:endParaRPr lang="en-US" sz="1400" dirty="0">
              <a:solidFill>
                <a:srgbClr val="CFD0D8"/>
              </a:solidFill>
              <a:highlight>
                <a:srgbClr val="37373A"/>
              </a:highlight>
              <a:latin typeface="Consolas Medium" pitchFamily="34" charset="0"/>
              <a:ea typeface="Consolas Medium" pitchFamily="34" charset="-122"/>
              <a:cs typeface="Consolas Medium" pitchFamily="34"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943689"/>
            <a:ext cx="8646676" cy="527090"/>
          </a:xfrm>
          <a:prstGeom prst="rect">
            <a:avLst/>
          </a:prstGeom>
          <a:noFill/>
        </p:spPr>
        <p:txBody>
          <a:bodyPr wrap="none" lIns="0" tIns="0" rIns="0" bIns="0" rtlCol="0" anchor="t"/>
          <a:lstStyle/>
          <a:p>
            <a:pPr marL="0" indent="0" algn="l">
              <a:lnSpc>
                <a:spcPts val="4150"/>
              </a:lnSpc>
              <a:buNone/>
            </a:pPr>
            <a:r>
              <a:rPr lang="en-US" sz="3300" dirty="0">
                <a:solidFill>
                  <a:srgbClr val="CBCCCE"/>
                </a:solidFill>
                <a:latin typeface="Instrument Sans Semi Bold" pitchFamily="34" charset="0"/>
                <a:ea typeface="Instrument Sans Semi Bold" pitchFamily="34" charset="-122"/>
                <a:cs typeface="Instrument Sans Semi Bold" pitchFamily="34" charset="-120"/>
              </a:rPr>
              <a:t>List Comprehensions: Elegant and Powerful</a:t>
            </a:r>
            <a:endParaRPr lang="en-US" sz="3300" dirty="0"/>
          </a:p>
        </p:txBody>
      </p:sp>
      <p:sp>
        <p:nvSpPr>
          <p:cNvPr id="3" name="Text 1"/>
          <p:cNvSpPr/>
          <p:nvPr/>
        </p:nvSpPr>
        <p:spPr>
          <a:xfrm>
            <a:off x="793790" y="1808083"/>
            <a:ext cx="13042821" cy="674608"/>
          </a:xfrm>
          <a:prstGeom prst="rect">
            <a:avLst/>
          </a:prstGeom>
          <a:noFill/>
        </p:spPr>
        <p:txBody>
          <a:bodyPr wrap="square" lIns="0" tIns="0" rIns="0" bIns="0" rtlCol="0" anchor="t"/>
          <a:lstStyle/>
          <a:p>
            <a:pPr marL="0" indent="0" algn="l">
              <a:lnSpc>
                <a:spcPts val="2650"/>
              </a:lnSpc>
              <a:buNone/>
            </a:pPr>
            <a:r>
              <a:rPr lang="en-US" sz="1650" dirty="0">
                <a:solidFill>
                  <a:srgbClr val="CFD0D8"/>
                </a:solidFill>
                <a:latin typeface="Instrument Sans Medium" pitchFamily="34" charset="0"/>
                <a:ea typeface="Instrument Sans Medium" pitchFamily="34" charset="-122"/>
                <a:cs typeface="Instrument Sans Medium" pitchFamily="34" charset="-120"/>
              </a:rPr>
              <a:t>List comprehensions are Python's gift to concise, efficient code. They allow you to create complex lists in a single, readable line by combining filtering, transformation, and iteration elegantly.</a:t>
            </a:r>
            <a:endParaRPr lang="en-US" sz="1650" dirty="0"/>
          </a:p>
        </p:txBody>
      </p:sp>
      <p:sp>
        <p:nvSpPr>
          <p:cNvPr id="4" name="Shape 2"/>
          <p:cNvSpPr/>
          <p:nvPr>
            <p:custDataLst>
              <p:tags r:id="rId1"/>
            </p:custDataLst>
          </p:nvPr>
        </p:nvSpPr>
        <p:spPr>
          <a:xfrm>
            <a:off x="793790" y="2672477"/>
            <a:ext cx="379571" cy="379571"/>
          </a:xfrm>
          <a:prstGeom prst="roundRect">
            <a:avLst>
              <a:gd name="adj" fmla="val 18667"/>
            </a:avLst>
          </a:prstGeom>
          <a:solidFill>
            <a:srgbClr val="3D3D42"/>
          </a:solidFill>
          <a:ln w="7620">
            <a:solidFill>
              <a:srgbClr val="56565B"/>
            </a:solidFill>
            <a:prstDash val="solid"/>
          </a:ln>
        </p:spPr>
      </p:sp>
      <p:sp>
        <p:nvSpPr>
          <p:cNvPr id="5" name="Text 3"/>
          <p:cNvSpPr/>
          <p:nvPr>
            <p:custDataLst>
              <p:tags r:id="rId2"/>
            </p:custDataLst>
          </p:nvPr>
        </p:nvSpPr>
        <p:spPr>
          <a:xfrm>
            <a:off x="857071" y="2704148"/>
            <a:ext cx="253008" cy="316230"/>
          </a:xfrm>
          <a:prstGeom prst="rect">
            <a:avLst/>
          </a:prstGeom>
          <a:noFill/>
        </p:spPr>
        <p:txBody>
          <a:bodyPr wrap="none" lIns="0" tIns="0" rIns="0" bIns="0" rtlCol="0" anchor="t"/>
          <a:lstStyle/>
          <a:p>
            <a:pPr marL="0" indent="0" algn="ctr">
              <a:lnSpc>
                <a:spcPts val="1950"/>
              </a:lnSpc>
              <a:buNone/>
            </a:pPr>
            <a:r>
              <a:rPr lang="en-US" sz="1950" dirty="0">
                <a:solidFill>
                  <a:srgbClr val="CFD0D8"/>
                </a:solidFill>
                <a:latin typeface="Instrument Sans Semi Bold" pitchFamily="34" charset="0"/>
                <a:ea typeface="Instrument Sans Semi Bold" pitchFamily="34" charset="-122"/>
                <a:cs typeface="Instrument Sans Semi Bold" pitchFamily="34" charset="-120"/>
              </a:rPr>
              <a:t>1</a:t>
            </a:r>
            <a:endParaRPr lang="en-US" sz="1950" dirty="0"/>
          </a:p>
        </p:txBody>
      </p:sp>
      <p:sp>
        <p:nvSpPr>
          <p:cNvPr id="6" name="Text 4"/>
          <p:cNvSpPr/>
          <p:nvPr>
            <p:custDataLst>
              <p:tags r:id="rId3"/>
            </p:custDataLst>
          </p:nvPr>
        </p:nvSpPr>
        <p:spPr>
          <a:xfrm>
            <a:off x="1341953" y="2693551"/>
            <a:ext cx="3658791" cy="674608"/>
          </a:xfrm>
          <a:prstGeom prst="rect">
            <a:avLst/>
          </a:prstGeom>
          <a:noFill/>
        </p:spPr>
        <p:txBody>
          <a:bodyPr wrap="square" lIns="0" tIns="0" rIns="0" bIns="0" rtlCol="0" anchor="t"/>
          <a:lstStyle/>
          <a:p>
            <a:pPr marL="0" indent="0" algn="l">
              <a:lnSpc>
                <a:spcPts val="2650"/>
              </a:lnSpc>
              <a:buNone/>
            </a:pPr>
            <a:r>
              <a:rPr lang="en-US" sz="1650" dirty="0">
                <a:solidFill>
                  <a:srgbClr val="CFD0D8"/>
                </a:solidFill>
                <a:latin typeface="Instrument Sans Medium" pitchFamily="34" charset="0"/>
                <a:ea typeface="Instrument Sans Medium" pitchFamily="34" charset="-122"/>
                <a:cs typeface="Instrument Sans Medium" pitchFamily="34" charset="-120"/>
              </a:rPr>
              <a:t>Basic Syntax and Simple Transformation</a:t>
            </a:r>
            <a:endParaRPr lang="en-US" sz="1650" dirty="0"/>
          </a:p>
        </p:txBody>
      </p:sp>
      <p:sp>
        <p:nvSpPr>
          <p:cNvPr id="7" name="Text 5"/>
          <p:cNvSpPr/>
          <p:nvPr>
            <p:custDataLst>
              <p:tags r:id="rId4"/>
            </p:custDataLst>
          </p:nvPr>
        </p:nvSpPr>
        <p:spPr>
          <a:xfrm>
            <a:off x="1341953" y="3469362"/>
            <a:ext cx="3658791" cy="1349216"/>
          </a:xfrm>
          <a:prstGeom prst="rect">
            <a:avLst/>
          </a:prstGeom>
          <a:noFill/>
        </p:spPr>
        <p:txBody>
          <a:bodyPr wrap="square" lIns="0" tIns="0" rIns="0" bIns="0" rtlCol="0" anchor="t"/>
          <a:lstStyle/>
          <a:p>
            <a:pPr marL="0" indent="0" algn="l">
              <a:lnSpc>
                <a:spcPts val="2650"/>
              </a:lnSpc>
              <a:buNone/>
            </a:pPr>
            <a:r>
              <a:rPr lang="en-US" sz="1650" dirty="0">
                <a:solidFill>
                  <a:srgbClr val="CFD0D8"/>
                </a:solidFill>
                <a:latin typeface="Instrument Sans Medium" pitchFamily="34" charset="0"/>
                <a:ea typeface="Instrument Sans Medium" pitchFamily="34" charset="-122"/>
                <a:cs typeface="Instrument Sans Medium" pitchFamily="34" charset="-120"/>
              </a:rPr>
              <a:t>Generate a new list by applying an operation to each element. This replaces traditional for loops with clean, Pythonic syntax.</a:t>
            </a:r>
            <a:endParaRPr lang="en-US" sz="1650" dirty="0"/>
          </a:p>
        </p:txBody>
      </p:sp>
      <p:sp>
        <p:nvSpPr>
          <p:cNvPr id="8" name="Shape 6"/>
          <p:cNvSpPr/>
          <p:nvPr>
            <p:custDataLst>
              <p:tags r:id="rId5"/>
            </p:custDataLst>
          </p:nvPr>
        </p:nvSpPr>
        <p:spPr>
          <a:xfrm>
            <a:off x="1341953" y="5008364"/>
            <a:ext cx="3658791" cy="2142292"/>
          </a:xfrm>
          <a:prstGeom prst="roundRect">
            <a:avLst>
              <a:gd name="adj" fmla="val 3307"/>
            </a:avLst>
          </a:prstGeom>
          <a:solidFill>
            <a:srgbClr val="37373A"/>
          </a:solidFill>
        </p:spPr>
      </p:sp>
      <p:sp>
        <p:nvSpPr>
          <p:cNvPr id="9" name="Shape 7"/>
          <p:cNvSpPr/>
          <p:nvPr>
            <p:custDataLst>
              <p:tags r:id="rId6"/>
            </p:custDataLst>
          </p:nvPr>
        </p:nvSpPr>
        <p:spPr>
          <a:xfrm>
            <a:off x="1333619" y="5008364"/>
            <a:ext cx="3675459" cy="2142292"/>
          </a:xfrm>
          <a:prstGeom prst="roundRect">
            <a:avLst>
              <a:gd name="adj" fmla="val 1181"/>
            </a:avLst>
          </a:prstGeom>
          <a:solidFill>
            <a:srgbClr val="37373A"/>
          </a:solidFill>
        </p:spPr>
      </p:sp>
      <p:sp>
        <p:nvSpPr>
          <p:cNvPr id="10" name="Text 8"/>
          <p:cNvSpPr/>
          <p:nvPr>
            <p:custDataLst>
              <p:tags r:id="rId7"/>
            </p:custDataLst>
          </p:nvPr>
        </p:nvSpPr>
        <p:spPr>
          <a:xfrm>
            <a:off x="1502410" y="5134610"/>
            <a:ext cx="3338195" cy="2162810"/>
          </a:xfrm>
          <a:prstGeom prst="rect">
            <a:avLst/>
          </a:prstGeom>
          <a:noFill/>
        </p:spPr>
        <p:txBody>
          <a:bodyPr wrap="square" lIns="0" tIns="0" rIns="0" bIns="0" rtlCol="0" anchor="t"/>
          <a:lstStyle/>
          <a:p>
            <a:pPr marL="0" indent="0" algn="l">
              <a:lnSpc>
                <a:spcPts val="2100"/>
              </a:lnSpc>
              <a:buNone/>
            </a:pPr>
            <a:r>
              <a:rPr lang="en-US" sz="1300" dirty="0">
                <a:solidFill>
                  <a:srgbClr val="CFD0D8"/>
                </a:solidFill>
                <a:highlight>
                  <a:srgbClr val="37373A"/>
                </a:highlight>
                <a:latin typeface="Consolas Medium" pitchFamily="34" charset="0"/>
                <a:ea typeface="Consolas Medium" pitchFamily="34" charset="-122"/>
                <a:cs typeface="Consolas Medium" pitchFamily="34" charset="-120"/>
              </a:rPr>
              <a:t>squares = [x**2 for x in range(1, 6)]</a:t>
            </a:r>
            <a:endParaRPr lang="en-US" sz="13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100"/>
              </a:lnSpc>
              <a:buNone/>
            </a:pPr>
            <a:r>
              <a:rPr lang="en-US" sz="1300" dirty="0">
                <a:solidFill>
                  <a:srgbClr val="CFD0D8"/>
                </a:solidFill>
                <a:highlight>
                  <a:srgbClr val="37373A"/>
                </a:highlight>
                <a:latin typeface="Consolas Medium" pitchFamily="34" charset="0"/>
                <a:ea typeface="Consolas Medium" pitchFamily="34" charset="-122"/>
                <a:cs typeface="Consolas Medium" pitchFamily="34" charset="-120"/>
              </a:rPr>
              <a:t>print(squares)  # [1, 4, 9, 16, 25]</a:t>
            </a:r>
            <a:endParaRPr lang="en-US" sz="13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100"/>
              </a:lnSpc>
              <a:buNone/>
            </a:pPr>
            <a:r>
              <a:rPr lang="en-US" sz="1300" dirty="0">
                <a:solidFill>
                  <a:srgbClr val="CFD0D8"/>
                </a:solidFill>
                <a:highlight>
                  <a:srgbClr val="37373A"/>
                </a:highlight>
                <a:latin typeface="Consolas Medium" pitchFamily="34" charset="0"/>
                <a:ea typeface="Consolas Medium" pitchFamily="34" charset="-122"/>
                <a:cs typeface="Consolas Medium" pitchFamily="34" charset="-120"/>
              </a:rPr>
              <a:t>names = ["alice", "bob", "charlie"]</a:t>
            </a:r>
            <a:endParaRPr lang="en-US" sz="13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100"/>
              </a:lnSpc>
              <a:buNone/>
            </a:pPr>
            <a:r>
              <a:rPr lang="en-US" sz="1300" dirty="0">
                <a:solidFill>
                  <a:srgbClr val="CFD0D8"/>
                </a:solidFill>
                <a:highlight>
                  <a:srgbClr val="37373A"/>
                </a:highlight>
                <a:latin typeface="Consolas Medium" pitchFamily="34" charset="0"/>
                <a:ea typeface="Consolas Medium" pitchFamily="34" charset="-122"/>
                <a:cs typeface="Consolas Medium" pitchFamily="34" charset="-120"/>
              </a:rPr>
              <a:t>upper = [name.upper() for name in names]</a:t>
            </a:r>
            <a:endParaRPr lang="en-US" sz="13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100"/>
              </a:lnSpc>
              <a:buNone/>
            </a:pPr>
            <a:r>
              <a:rPr lang="en-US" sz="1300" dirty="0">
                <a:solidFill>
                  <a:srgbClr val="CFD0D8"/>
                </a:solidFill>
                <a:highlight>
                  <a:srgbClr val="37373A"/>
                </a:highlight>
                <a:latin typeface="Consolas Medium" pitchFamily="34" charset="0"/>
                <a:ea typeface="Consolas Medium" pitchFamily="34" charset="-122"/>
                <a:cs typeface="Consolas Medium" pitchFamily="34" charset="-120"/>
              </a:rPr>
              <a:t>print(upper)  # ['ALICE', 'BOB', 'CHARLIE']</a:t>
            </a:r>
            <a:endParaRPr lang="en-US" sz="1300" dirty="0"/>
          </a:p>
        </p:txBody>
      </p:sp>
      <p:sp>
        <p:nvSpPr>
          <p:cNvPr id="11" name="Shape 9"/>
          <p:cNvSpPr/>
          <p:nvPr>
            <p:custDataLst>
              <p:tags r:id="rId8"/>
            </p:custDataLst>
          </p:nvPr>
        </p:nvSpPr>
        <p:spPr>
          <a:xfrm>
            <a:off x="5211604" y="2672477"/>
            <a:ext cx="379571" cy="379571"/>
          </a:xfrm>
          <a:prstGeom prst="roundRect">
            <a:avLst>
              <a:gd name="adj" fmla="val 18667"/>
            </a:avLst>
          </a:prstGeom>
          <a:solidFill>
            <a:srgbClr val="3D3D42"/>
          </a:solidFill>
          <a:ln w="7620">
            <a:solidFill>
              <a:srgbClr val="56565B"/>
            </a:solidFill>
            <a:prstDash val="solid"/>
          </a:ln>
        </p:spPr>
      </p:sp>
      <p:sp>
        <p:nvSpPr>
          <p:cNvPr id="12" name="Text 10"/>
          <p:cNvSpPr/>
          <p:nvPr>
            <p:custDataLst>
              <p:tags r:id="rId9"/>
            </p:custDataLst>
          </p:nvPr>
        </p:nvSpPr>
        <p:spPr>
          <a:xfrm>
            <a:off x="5274885" y="2704148"/>
            <a:ext cx="253008" cy="316230"/>
          </a:xfrm>
          <a:prstGeom prst="rect">
            <a:avLst/>
          </a:prstGeom>
          <a:noFill/>
        </p:spPr>
        <p:txBody>
          <a:bodyPr wrap="none" lIns="0" tIns="0" rIns="0" bIns="0" rtlCol="0" anchor="t"/>
          <a:lstStyle/>
          <a:p>
            <a:pPr marL="0" indent="0" algn="ctr">
              <a:lnSpc>
                <a:spcPts val="1950"/>
              </a:lnSpc>
              <a:buNone/>
            </a:pPr>
            <a:r>
              <a:rPr lang="en-US" sz="1950" dirty="0">
                <a:solidFill>
                  <a:srgbClr val="CFD0D8"/>
                </a:solidFill>
                <a:latin typeface="Instrument Sans Semi Bold" pitchFamily="34" charset="0"/>
                <a:ea typeface="Instrument Sans Semi Bold" pitchFamily="34" charset="-122"/>
                <a:cs typeface="Instrument Sans Semi Bold" pitchFamily="34" charset="-120"/>
              </a:rPr>
              <a:t>2</a:t>
            </a:r>
            <a:endParaRPr lang="en-US" sz="1950" dirty="0"/>
          </a:p>
        </p:txBody>
      </p:sp>
      <p:sp>
        <p:nvSpPr>
          <p:cNvPr id="13" name="Text 11"/>
          <p:cNvSpPr/>
          <p:nvPr>
            <p:custDataLst>
              <p:tags r:id="rId10"/>
            </p:custDataLst>
          </p:nvPr>
        </p:nvSpPr>
        <p:spPr>
          <a:xfrm>
            <a:off x="5759768" y="2693551"/>
            <a:ext cx="3658910" cy="337304"/>
          </a:xfrm>
          <a:prstGeom prst="rect">
            <a:avLst/>
          </a:prstGeom>
          <a:noFill/>
        </p:spPr>
        <p:txBody>
          <a:bodyPr wrap="none" lIns="0" tIns="0" rIns="0" bIns="0" rtlCol="0" anchor="t"/>
          <a:lstStyle/>
          <a:p>
            <a:pPr marL="0" indent="0" algn="l">
              <a:lnSpc>
                <a:spcPts val="2650"/>
              </a:lnSpc>
              <a:buNone/>
            </a:pPr>
            <a:r>
              <a:rPr lang="en-US" sz="1650" dirty="0">
                <a:solidFill>
                  <a:srgbClr val="CFD0D8"/>
                </a:solidFill>
                <a:latin typeface="Instrument Sans Medium" pitchFamily="34" charset="0"/>
                <a:ea typeface="Instrument Sans Medium" pitchFamily="34" charset="-122"/>
                <a:cs typeface="Instrument Sans Medium" pitchFamily="34" charset="-120"/>
              </a:rPr>
              <a:t>Filtering with Conditions</a:t>
            </a:r>
            <a:endParaRPr lang="en-US" sz="1650" dirty="0"/>
          </a:p>
        </p:txBody>
      </p:sp>
      <p:sp>
        <p:nvSpPr>
          <p:cNvPr id="14" name="Text 12"/>
          <p:cNvSpPr/>
          <p:nvPr>
            <p:custDataLst>
              <p:tags r:id="rId11"/>
            </p:custDataLst>
          </p:nvPr>
        </p:nvSpPr>
        <p:spPr>
          <a:xfrm>
            <a:off x="5759768" y="3132058"/>
            <a:ext cx="3658910" cy="1011912"/>
          </a:xfrm>
          <a:prstGeom prst="rect">
            <a:avLst/>
          </a:prstGeom>
          <a:noFill/>
        </p:spPr>
        <p:txBody>
          <a:bodyPr wrap="square" lIns="0" tIns="0" rIns="0" bIns="0" rtlCol="0" anchor="t"/>
          <a:lstStyle/>
          <a:p>
            <a:pPr marL="0" indent="0" algn="l">
              <a:lnSpc>
                <a:spcPts val="2650"/>
              </a:lnSpc>
              <a:buNone/>
            </a:pPr>
            <a:r>
              <a:rPr lang="en-US" sz="1650" dirty="0">
                <a:solidFill>
                  <a:srgbClr val="CFD0D8"/>
                </a:solidFill>
                <a:latin typeface="Instrument Sans Medium" pitchFamily="34" charset="0"/>
                <a:ea typeface="Instrument Sans Medium" pitchFamily="34" charset="-122"/>
                <a:cs typeface="Instrument Sans Medium" pitchFamily="34" charset="-120"/>
              </a:rPr>
              <a:t>Create lists with only elements that meet specific criteria. Add an if clause to filter data efficiently.</a:t>
            </a:r>
            <a:endParaRPr lang="en-US" sz="1650" dirty="0"/>
          </a:p>
        </p:txBody>
      </p:sp>
      <p:sp>
        <p:nvSpPr>
          <p:cNvPr id="15" name="Shape 13"/>
          <p:cNvSpPr/>
          <p:nvPr>
            <p:custDataLst>
              <p:tags r:id="rId12"/>
            </p:custDataLst>
          </p:nvPr>
        </p:nvSpPr>
        <p:spPr>
          <a:xfrm>
            <a:off x="5759768" y="4333756"/>
            <a:ext cx="3658910" cy="2952036"/>
          </a:xfrm>
          <a:prstGeom prst="roundRect">
            <a:avLst>
              <a:gd name="adj" fmla="val 2400"/>
            </a:avLst>
          </a:prstGeom>
          <a:solidFill>
            <a:srgbClr val="37373A"/>
          </a:solidFill>
        </p:spPr>
      </p:sp>
      <p:sp>
        <p:nvSpPr>
          <p:cNvPr id="16" name="Shape 14"/>
          <p:cNvSpPr/>
          <p:nvPr>
            <p:custDataLst>
              <p:tags r:id="rId13"/>
            </p:custDataLst>
          </p:nvPr>
        </p:nvSpPr>
        <p:spPr>
          <a:xfrm>
            <a:off x="5751433" y="4333756"/>
            <a:ext cx="3675578" cy="2952036"/>
          </a:xfrm>
          <a:prstGeom prst="roundRect">
            <a:avLst>
              <a:gd name="adj" fmla="val 857"/>
            </a:avLst>
          </a:prstGeom>
          <a:solidFill>
            <a:srgbClr val="37373A"/>
          </a:solidFill>
        </p:spPr>
      </p:sp>
      <p:sp>
        <p:nvSpPr>
          <p:cNvPr id="17" name="Text 15"/>
          <p:cNvSpPr/>
          <p:nvPr>
            <p:custDataLst>
              <p:tags r:id="rId14"/>
            </p:custDataLst>
          </p:nvPr>
        </p:nvSpPr>
        <p:spPr>
          <a:xfrm>
            <a:off x="5757545" y="4460240"/>
            <a:ext cx="3749675" cy="3014980"/>
          </a:xfrm>
          <a:prstGeom prst="rect">
            <a:avLst/>
          </a:prstGeom>
          <a:noFill/>
        </p:spPr>
        <p:txBody>
          <a:bodyPr wrap="square" lIns="0" tIns="0" rIns="0" bIns="0" rtlCol="0" anchor="t"/>
          <a:lstStyle/>
          <a:p>
            <a:pPr marL="0" indent="0" algn="l">
              <a:lnSpc>
                <a:spcPts val="2100"/>
              </a:lnSpc>
              <a:buNone/>
            </a:pPr>
            <a:r>
              <a:rPr lang="en-US" sz="1300" dirty="0">
                <a:solidFill>
                  <a:srgbClr val="CFD0D8"/>
                </a:solidFill>
                <a:highlight>
                  <a:srgbClr val="37373A"/>
                </a:highlight>
                <a:latin typeface="Consolas Medium" pitchFamily="34" charset="0"/>
                <a:ea typeface="Consolas Medium" pitchFamily="34" charset="-122"/>
                <a:cs typeface="Consolas Medium" pitchFamily="34" charset="-120"/>
              </a:rPr>
              <a:t>numbers = [1, 2, 3, 4, 5, 6, 7, 8, 9, 10]</a:t>
            </a:r>
            <a:endParaRPr lang="en-US" sz="13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100"/>
              </a:lnSpc>
              <a:buNone/>
            </a:pPr>
            <a:r>
              <a:rPr lang="en-US" sz="1300" dirty="0">
                <a:solidFill>
                  <a:srgbClr val="CFD0D8"/>
                </a:solidFill>
                <a:highlight>
                  <a:srgbClr val="37373A"/>
                </a:highlight>
                <a:latin typeface="Consolas Medium" pitchFamily="34" charset="0"/>
                <a:ea typeface="Consolas Medium" pitchFamily="34" charset="-122"/>
                <a:cs typeface="Consolas Medium" pitchFamily="34" charset="-120"/>
              </a:rPr>
              <a:t>evens = [n for n in numbers if n % 2 == 0]</a:t>
            </a:r>
            <a:endParaRPr lang="en-US" sz="13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100"/>
              </a:lnSpc>
              <a:buNone/>
            </a:pPr>
            <a:r>
              <a:rPr lang="en-US" sz="1300" dirty="0">
                <a:solidFill>
                  <a:srgbClr val="CFD0D8"/>
                </a:solidFill>
                <a:highlight>
                  <a:srgbClr val="37373A"/>
                </a:highlight>
                <a:latin typeface="Consolas Medium" pitchFamily="34" charset="0"/>
                <a:ea typeface="Consolas Medium" pitchFamily="34" charset="-122"/>
                <a:cs typeface="Consolas Medium" pitchFamily="34" charset="-120"/>
              </a:rPr>
              <a:t>print(evens)  # [2, 4, 6, 8, 10]</a:t>
            </a:r>
            <a:endParaRPr lang="en-US" sz="13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100"/>
              </a:lnSpc>
              <a:buNone/>
            </a:pPr>
            <a:r>
              <a:rPr lang="en-US" sz="1300" dirty="0">
                <a:solidFill>
                  <a:srgbClr val="CFD0D8"/>
                </a:solidFill>
                <a:highlight>
                  <a:srgbClr val="37373A"/>
                </a:highlight>
                <a:latin typeface="Consolas Medium" pitchFamily="34" charset="0"/>
                <a:ea typeface="Consolas Medium" pitchFamily="34" charset="-122"/>
                <a:cs typeface="Consolas Medium" pitchFamily="34" charset="-120"/>
              </a:rPr>
              <a:t>words = ["cat", "elephant", "dog", "butterfly"]</a:t>
            </a:r>
            <a:endParaRPr lang="en-US" sz="13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100"/>
              </a:lnSpc>
              <a:buNone/>
            </a:pPr>
            <a:r>
              <a:rPr lang="en-US" sz="1300" dirty="0">
                <a:solidFill>
                  <a:srgbClr val="CFD0D8"/>
                </a:solidFill>
                <a:highlight>
                  <a:srgbClr val="37373A"/>
                </a:highlight>
                <a:latin typeface="Consolas Medium" pitchFamily="34" charset="0"/>
                <a:ea typeface="Consolas Medium" pitchFamily="34" charset="-122"/>
                <a:cs typeface="Consolas Medium" pitchFamily="34" charset="-120"/>
              </a:rPr>
              <a:t>long_words = [w for w in words if len(w) &gt; 4]</a:t>
            </a:r>
            <a:endParaRPr lang="en-US" sz="13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100"/>
              </a:lnSpc>
              <a:buNone/>
            </a:pPr>
            <a:r>
              <a:rPr lang="en-US" sz="1300" dirty="0">
                <a:solidFill>
                  <a:srgbClr val="CFD0D8"/>
                </a:solidFill>
                <a:highlight>
                  <a:srgbClr val="37373A"/>
                </a:highlight>
                <a:latin typeface="Consolas Medium" pitchFamily="34" charset="0"/>
                <a:ea typeface="Consolas Medium" pitchFamily="34" charset="-122"/>
                <a:cs typeface="Consolas Medium" pitchFamily="34" charset="-120"/>
              </a:rPr>
              <a:t>print(long_words)  # ['elephant', 'butterfly']</a:t>
            </a:r>
            <a:endParaRPr lang="en-US" sz="1300" dirty="0"/>
          </a:p>
        </p:txBody>
      </p:sp>
      <p:sp>
        <p:nvSpPr>
          <p:cNvPr id="18" name="Shape 16"/>
          <p:cNvSpPr/>
          <p:nvPr>
            <p:custDataLst>
              <p:tags r:id="rId15"/>
            </p:custDataLst>
          </p:nvPr>
        </p:nvSpPr>
        <p:spPr>
          <a:xfrm>
            <a:off x="9629537" y="2672477"/>
            <a:ext cx="379571" cy="379571"/>
          </a:xfrm>
          <a:prstGeom prst="roundRect">
            <a:avLst>
              <a:gd name="adj" fmla="val 18667"/>
            </a:avLst>
          </a:prstGeom>
          <a:solidFill>
            <a:srgbClr val="3D3D42"/>
          </a:solidFill>
          <a:ln w="7620">
            <a:solidFill>
              <a:srgbClr val="56565B"/>
            </a:solidFill>
            <a:prstDash val="solid"/>
          </a:ln>
        </p:spPr>
      </p:sp>
      <p:sp>
        <p:nvSpPr>
          <p:cNvPr id="19" name="Text 17"/>
          <p:cNvSpPr/>
          <p:nvPr>
            <p:custDataLst>
              <p:tags r:id="rId16"/>
            </p:custDataLst>
          </p:nvPr>
        </p:nvSpPr>
        <p:spPr>
          <a:xfrm>
            <a:off x="9692819" y="2704148"/>
            <a:ext cx="253008" cy="316230"/>
          </a:xfrm>
          <a:prstGeom prst="rect">
            <a:avLst/>
          </a:prstGeom>
          <a:noFill/>
        </p:spPr>
        <p:txBody>
          <a:bodyPr wrap="none" lIns="0" tIns="0" rIns="0" bIns="0" rtlCol="0" anchor="t"/>
          <a:lstStyle/>
          <a:p>
            <a:pPr marL="0" indent="0" algn="ctr">
              <a:lnSpc>
                <a:spcPts val="1950"/>
              </a:lnSpc>
              <a:buNone/>
            </a:pPr>
            <a:r>
              <a:rPr lang="en-US" sz="1950" dirty="0">
                <a:solidFill>
                  <a:srgbClr val="CFD0D8"/>
                </a:solidFill>
                <a:latin typeface="Instrument Sans Semi Bold" pitchFamily="34" charset="0"/>
                <a:ea typeface="Instrument Sans Semi Bold" pitchFamily="34" charset="-122"/>
                <a:cs typeface="Instrument Sans Semi Bold" pitchFamily="34" charset="-120"/>
              </a:rPr>
              <a:t>3</a:t>
            </a:r>
            <a:endParaRPr lang="en-US" sz="1950" dirty="0"/>
          </a:p>
        </p:txBody>
      </p:sp>
      <p:sp>
        <p:nvSpPr>
          <p:cNvPr id="20" name="Text 18"/>
          <p:cNvSpPr/>
          <p:nvPr>
            <p:custDataLst>
              <p:tags r:id="rId17"/>
            </p:custDataLst>
          </p:nvPr>
        </p:nvSpPr>
        <p:spPr>
          <a:xfrm>
            <a:off x="10177701" y="2693551"/>
            <a:ext cx="3658910" cy="337304"/>
          </a:xfrm>
          <a:prstGeom prst="rect">
            <a:avLst/>
          </a:prstGeom>
          <a:noFill/>
        </p:spPr>
        <p:txBody>
          <a:bodyPr wrap="none" lIns="0" tIns="0" rIns="0" bIns="0" rtlCol="0" anchor="t"/>
          <a:lstStyle/>
          <a:p>
            <a:pPr marL="0" indent="0" algn="l">
              <a:lnSpc>
                <a:spcPts val="2650"/>
              </a:lnSpc>
              <a:buNone/>
            </a:pPr>
            <a:r>
              <a:rPr lang="en-US" sz="1650" dirty="0">
                <a:solidFill>
                  <a:srgbClr val="CFD0D8"/>
                </a:solidFill>
                <a:latin typeface="Instrument Sans Medium" pitchFamily="34" charset="0"/>
                <a:ea typeface="Instrument Sans Medium" pitchFamily="34" charset="-122"/>
                <a:cs typeface="Instrument Sans Medium" pitchFamily="34" charset="-120"/>
              </a:rPr>
              <a:t>Nested Comprehensions</a:t>
            </a:r>
            <a:endParaRPr lang="en-US" sz="1650" dirty="0"/>
          </a:p>
        </p:txBody>
      </p:sp>
      <p:sp>
        <p:nvSpPr>
          <p:cNvPr id="21" name="Text 19"/>
          <p:cNvSpPr/>
          <p:nvPr>
            <p:custDataLst>
              <p:tags r:id="rId18"/>
            </p:custDataLst>
          </p:nvPr>
        </p:nvSpPr>
        <p:spPr>
          <a:xfrm>
            <a:off x="10177701" y="3132058"/>
            <a:ext cx="3658910" cy="1011912"/>
          </a:xfrm>
          <a:prstGeom prst="rect">
            <a:avLst/>
          </a:prstGeom>
          <a:noFill/>
        </p:spPr>
        <p:txBody>
          <a:bodyPr wrap="square" lIns="0" tIns="0" rIns="0" bIns="0" rtlCol="0" anchor="t"/>
          <a:lstStyle/>
          <a:p>
            <a:pPr marL="0" indent="0" algn="l">
              <a:lnSpc>
                <a:spcPts val="2650"/>
              </a:lnSpc>
              <a:buNone/>
            </a:pPr>
            <a:r>
              <a:rPr lang="en-US" sz="1650" dirty="0">
                <a:solidFill>
                  <a:srgbClr val="CFD0D8"/>
                </a:solidFill>
                <a:latin typeface="Instrument Sans Medium" pitchFamily="34" charset="0"/>
                <a:ea typeface="Instrument Sans Medium" pitchFamily="34" charset="-122"/>
                <a:cs typeface="Instrument Sans Medium" pitchFamily="34" charset="-120"/>
              </a:rPr>
              <a:t>Combine multiple loops and conditions to create complex data structures in a single expression.</a:t>
            </a:r>
            <a:endParaRPr lang="en-US" sz="1650" dirty="0"/>
          </a:p>
        </p:txBody>
      </p:sp>
      <p:sp>
        <p:nvSpPr>
          <p:cNvPr id="22" name="Shape 20"/>
          <p:cNvSpPr/>
          <p:nvPr>
            <p:custDataLst>
              <p:tags r:id="rId19"/>
            </p:custDataLst>
          </p:nvPr>
        </p:nvSpPr>
        <p:spPr>
          <a:xfrm>
            <a:off x="10177701" y="4333756"/>
            <a:ext cx="3658910" cy="2412206"/>
          </a:xfrm>
          <a:prstGeom prst="roundRect">
            <a:avLst>
              <a:gd name="adj" fmla="val 2937"/>
            </a:avLst>
          </a:prstGeom>
          <a:solidFill>
            <a:srgbClr val="37373A"/>
          </a:solidFill>
        </p:spPr>
      </p:sp>
      <p:sp>
        <p:nvSpPr>
          <p:cNvPr id="23" name="Shape 21"/>
          <p:cNvSpPr/>
          <p:nvPr>
            <p:custDataLst>
              <p:tags r:id="rId20"/>
            </p:custDataLst>
          </p:nvPr>
        </p:nvSpPr>
        <p:spPr>
          <a:xfrm>
            <a:off x="10169366" y="4333756"/>
            <a:ext cx="3675578" cy="2412206"/>
          </a:xfrm>
          <a:prstGeom prst="roundRect">
            <a:avLst>
              <a:gd name="adj" fmla="val 1049"/>
            </a:avLst>
          </a:prstGeom>
          <a:solidFill>
            <a:srgbClr val="37373A"/>
          </a:solidFill>
        </p:spPr>
      </p:sp>
      <p:sp>
        <p:nvSpPr>
          <p:cNvPr id="24" name="Text 22"/>
          <p:cNvSpPr/>
          <p:nvPr>
            <p:custDataLst>
              <p:tags r:id="rId21"/>
            </p:custDataLst>
          </p:nvPr>
        </p:nvSpPr>
        <p:spPr>
          <a:xfrm>
            <a:off x="10337959" y="4460200"/>
            <a:ext cx="3338393" cy="2159318"/>
          </a:xfrm>
          <a:prstGeom prst="rect">
            <a:avLst/>
          </a:prstGeom>
          <a:noFill/>
        </p:spPr>
        <p:txBody>
          <a:bodyPr wrap="square" lIns="0" tIns="0" rIns="0" bIns="0" rtlCol="0" anchor="t"/>
          <a:lstStyle/>
          <a:p>
            <a:pPr marL="0" indent="0" algn="l">
              <a:lnSpc>
                <a:spcPts val="2100"/>
              </a:lnSpc>
              <a:buNone/>
            </a:pPr>
            <a:r>
              <a:rPr lang="en-US" sz="1300" dirty="0">
                <a:solidFill>
                  <a:srgbClr val="CFD0D8"/>
                </a:solidFill>
                <a:highlight>
                  <a:srgbClr val="37373A"/>
                </a:highlight>
                <a:latin typeface="Consolas Medium" pitchFamily="34" charset="0"/>
                <a:ea typeface="Consolas Medium" pitchFamily="34" charset="-122"/>
                <a:cs typeface="Consolas Medium" pitchFamily="34" charset="-120"/>
              </a:rPr>
              <a:t>matrix = [[x*y for x in range(1, 4)]  for y in range(1, 4)]</a:t>
            </a:r>
            <a:endParaRPr lang="en-US" sz="13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100"/>
              </a:lnSpc>
              <a:buNone/>
            </a:pPr>
            <a:endParaRPr lang="en-US" sz="13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100"/>
              </a:lnSpc>
              <a:buNone/>
            </a:pPr>
            <a:r>
              <a:rPr lang="en-US" sz="1300" dirty="0">
                <a:solidFill>
                  <a:srgbClr val="CFD0D8"/>
                </a:solidFill>
                <a:highlight>
                  <a:srgbClr val="37373A"/>
                </a:highlight>
                <a:latin typeface="Consolas Medium" pitchFamily="34" charset="0"/>
                <a:ea typeface="Consolas Medium" pitchFamily="34" charset="-122"/>
                <a:cs typeface="Consolas Medium" pitchFamily="34" charset="-120"/>
              </a:rPr>
              <a:t>print(matrix)# [[1, 2, 3], [2, 4, 6], [3, 6, 9]]</a:t>
            </a:r>
            <a:endParaRPr lang="en-US" sz="1300" dirty="0">
              <a:solidFill>
                <a:srgbClr val="CFD0D8"/>
              </a:solidFill>
              <a:highlight>
                <a:srgbClr val="37373A"/>
              </a:highlight>
              <a:latin typeface="Consolas Medium" pitchFamily="34" charset="0"/>
              <a:ea typeface="Consolas Medium" pitchFamily="34" charset="-122"/>
              <a:cs typeface="Consolas Medium" pitchFamily="34" charset="-120"/>
            </a:endParaRPr>
          </a:p>
          <a:p>
            <a:pPr marL="0" indent="0" algn="l">
              <a:lnSpc>
                <a:spcPts val="2100"/>
              </a:lnSpc>
              <a:buNone/>
            </a:pP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87837"/>
            <a:ext cx="8979218" cy="496133"/>
          </a:xfrm>
          <a:prstGeom prst="rect">
            <a:avLst/>
          </a:prstGeom>
          <a:noFill/>
        </p:spPr>
        <p:txBody>
          <a:bodyPr wrap="none" lIns="0" tIns="0" rIns="0" bIns="0" rtlCol="0" anchor="t"/>
          <a:lstStyle/>
          <a:p>
            <a:pPr marL="0" indent="0" algn="l">
              <a:lnSpc>
                <a:spcPts val="3900"/>
              </a:lnSpc>
              <a:buNone/>
            </a:pPr>
            <a:r>
              <a:rPr lang="en-US" sz="3100" dirty="0">
                <a:solidFill>
                  <a:srgbClr val="CBCCCE"/>
                </a:solidFill>
                <a:latin typeface="Instrument Sans Semi Bold" pitchFamily="34" charset="0"/>
                <a:ea typeface="Instrument Sans Semi Bold" pitchFamily="34" charset="-122"/>
                <a:cs typeface="Instrument Sans Semi Bold" pitchFamily="34" charset="-120"/>
              </a:rPr>
              <a:t>Best Practices, Common Pitfalls, and Next Steps</a:t>
            </a:r>
            <a:endParaRPr lang="en-US" sz="3100" dirty="0"/>
          </a:p>
        </p:txBody>
      </p:sp>
      <p:sp>
        <p:nvSpPr>
          <p:cNvPr id="3" name="Text 1"/>
          <p:cNvSpPr/>
          <p:nvPr/>
        </p:nvSpPr>
        <p:spPr>
          <a:xfrm>
            <a:off x="793790" y="1601510"/>
            <a:ext cx="13042821" cy="635079"/>
          </a:xfrm>
          <a:prstGeom prst="rect">
            <a:avLst/>
          </a:prstGeom>
          <a:noFill/>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Master lists completely by learning from best practices and avoiding common mistakes. Understanding these principles will make your code more efficient, readable, and maintainable.</a:t>
            </a:r>
            <a:endParaRPr lang="en-US" sz="1550" dirty="0"/>
          </a:p>
        </p:txBody>
      </p:sp>
      <p:sp>
        <p:nvSpPr>
          <p:cNvPr id="4" name="Shape 2"/>
          <p:cNvSpPr/>
          <p:nvPr/>
        </p:nvSpPr>
        <p:spPr>
          <a:xfrm>
            <a:off x="793790" y="2415183"/>
            <a:ext cx="13042821" cy="3855720"/>
          </a:xfrm>
          <a:prstGeom prst="roundRect">
            <a:avLst>
              <a:gd name="adj" fmla="val 1730"/>
            </a:avLst>
          </a:prstGeom>
          <a:solidFill>
            <a:srgbClr val="3D3D42"/>
          </a:solidFill>
          <a:ln w="7620">
            <a:solidFill>
              <a:srgbClr val="56565B"/>
            </a:solidFill>
            <a:prstDash val="solid"/>
          </a:ln>
        </p:spPr>
      </p:sp>
      <p:sp>
        <p:nvSpPr>
          <p:cNvPr id="5" name="Shape 3"/>
          <p:cNvSpPr/>
          <p:nvPr/>
        </p:nvSpPr>
        <p:spPr>
          <a:xfrm>
            <a:off x="801410" y="2422803"/>
            <a:ext cx="4342448" cy="3840480"/>
          </a:xfrm>
          <a:prstGeom prst="roundRect">
            <a:avLst>
              <a:gd name="adj" fmla="val 1736"/>
            </a:avLst>
          </a:prstGeom>
          <a:solidFill>
            <a:srgbClr val="3D3D42"/>
          </a:solidFill>
        </p:spPr>
      </p:sp>
      <p:sp>
        <p:nvSpPr>
          <p:cNvPr id="6" name="Text 4"/>
          <p:cNvSpPr/>
          <p:nvPr/>
        </p:nvSpPr>
        <p:spPr>
          <a:xfrm>
            <a:off x="960120" y="2581513"/>
            <a:ext cx="4025027" cy="317540"/>
          </a:xfrm>
          <a:prstGeom prst="rect">
            <a:avLst/>
          </a:prstGeom>
          <a:noFill/>
        </p:spPr>
        <p:txBody>
          <a:bodyPr wrap="non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 Best Practices</a:t>
            </a:r>
            <a:endParaRPr lang="en-US" sz="1550" dirty="0"/>
          </a:p>
        </p:txBody>
      </p:sp>
      <p:sp>
        <p:nvSpPr>
          <p:cNvPr id="7" name="Text 5"/>
          <p:cNvSpPr/>
          <p:nvPr/>
        </p:nvSpPr>
        <p:spPr>
          <a:xfrm>
            <a:off x="960120" y="2994303"/>
            <a:ext cx="4025027" cy="635079"/>
          </a:xfrm>
          <a:prstGeom prst="rect">
            <a:avLst/>
          </a:prstGeom>
          <a:noFill/>
        </p:spPr>
        <p:txBody>
          <a:bodyPr wrap="square" lIns="0" tIns="0" rIns="0" bIns="0" rtlCol="0" anchor="t"/>
          <a:lstStyle/>
          <a:p>
            <a:pPr marL="342900" indent="-342900" algn="l">
              <a:lnSpc>
                <a:spcPts val="2000"/>
              </a:lnSpc>
              <a:buSzPct val="100000"/>
              <a:buChar char="•"/>
            </a:pPr>
            <a:r>
              <a:rPr lang="en-US" sz="1250" dirty="0">
                <a:solidFill>
                  <a:srgbClr val="CFD0D8"/>
                </a:solidFill>
                <a:latin typeface="Instrument Sans Medium" pitchFamily="34" charset="0"/>
                <a:ea typeface="Instrument Sans Medium" pitchFamily="34" charset="-122"/>
                <a:cs typeface="Instrument Sans Medium" pitchFamily="34" charset="-120"/>
              </a:rPr>
              <a:t>Use meaningful variable names that describe content</a:t>
            </a:r>
            <a:endParaRPr lang="en-US" sz="1250" dirty="0"/>
          </a:p>
        </p:txBody>
      </p:sp>
      <p:sp>
        <p:nvSpPr>
          <p:cNvPr id="8" name="Text 6"/>
          <p:cNvSpPr/>
          <p:nvPr/>
        </p:nvSpPr>
        <p:spPr>
          <a:xfrm>
            <a:off x="960120" y="3684865"/>
            <a:ext cx="4025027" cy="635079"/>
          </a:xfrm>
          <a:prstGeom prst="rect">
            <a:avLst/>
          </a:prstGeom>
          <a:noFill/>
        </p:spPr>
        <p:txBody>
          <a:bodyPr wrap="square" lIns="0" tIns="0" rIns="0" bIns="0" rtlCol="0" anchor="t"/>
          <a:lstStyle/>
          <a:p>
            <a:pPr marL="342900" indent="-342900" algn="l">
              <a:lnSpc>
                <a:spcPts val="2000"/>
              </a:lnSpc>
              <a:buSzPct val="100000"/>
              <a:buChar char="•"/>
            </a:pPr>
            <a:r>
              <a:rPr lang="en-US" sz="1250" dirty="0">
                <a:solidFill>
                  <a:srgbClr val="CFD0D8"/>
                </a:solidFill>
                <a:latin typeface="Instrument Sans Medium" pitchFamily="34" charset="0"/>
                <a:ea typeface="Instrument Sans Medium" pitchFamily="34" charset="-122"/>
                <a:cs typeface="Instrument Sans Medium" pitchFamily="34" charset="-120"/>
              </a:rPr>
              <a:t>Prefer list comprehensions for concise, readable code</a:t>
            </a:r>
            <a:endParaRPr lang="en-US" sz="1250" dirty="0"/>
          </a:p>
        </p:txBody>
      </p:sp>
      <p:sp>
        <p:nvSpPr>
          <p:cNvPr id="9" name="Text 7"/>
          <p:cNvSpPr/>
          <p:nvPr/>
        </p:nvSpPr>
        <p:spPr>
          <a:xfrm>
            <a:off x="960120" y="4375428"/>
            <a:ext cx="4025027" cy="635079"/>
          </a:xfrm>
          <a:prstGeom prst="rect">
            <a:avLst/>
          </a:prstGeom>
          <a:noFill/>
        </p:spPr>
        <p:txBody>
          <a:bodyPr wrap="square" lIns="0" tIns="0" rIns="0" bIns="0" rtlCol="0" anchor="t"/>
          <a:lstStyle/>
          <a:p>
            <a:pPr marL="342900" indent="-342900" algn="l">
              <a:lnSpc>
                <a:spcPts val="2000"/>
              </a:lnSpc>
              <a:buSzPct val="100000"/>
              <a:buChar char="•"/>
            </a:pPr>
            <a:r>
              <a:rPr lang="en-US" sz="1250" dirty="0">
                <a:solidFill>
                  <a:srgbClr val="CFD0D8"/>
                </a:solidFill>
                <a:latin typeface="Instrument Sans Medium" pitchFamily="34" charset="0"/>
                <a:ea typeface="Instrument Sans Medium" pitchFamily="34" charset="-122"/>
                <a:cs typeface="Instrument Sans Medium" pitchFamily="34" charset="-120"/>
              </a:rPr>
              <a:t>Check list length before accessing elements</a:t>
            </a:r>
            <a:endParaRPr lang="en-US" sz="1250" dirty="0"/>
          </a:p>
        </p:txBody>
      </p:sp>
      <p:sp>
        <p:nvSpPr>
          <p:cNvPr id="10" name="Text 8"/>
          <p:cNvSpPr/>
          <p:nvPr/>
        </p:nvSpPr>
        <p:spPr>
          <a:xfrm>
            <a:off x="960120" y="5065990"/>
            <a:ext cx="4025027" cy="317540"/>
          </a:xfrm>
          <a:prstGeom prst="rect">
            <a:avLst/>
          </a:prstGeom>
          <a:noFill/>
        </p:spPr>
        <p:txBody>
          <a:bodyPr wrap="none" lIns="0" tIns="0" rIns="0" bIns="0" rtlCol="0" anchor="t"/>
          <a:lstStyle/>
          <a:p>
            <a:pPr marL="342900" indent="-342900" algn="l">
              <a:lnSpc>
                <a:spcPts val="2000"/>
              </a:lnSpc>
              <a:buSzPct val="100000"/>
              <a:buChar char="•"/>
            </a:pPr>
            <a:r>
              <a:rPr lang="en-US" sz="1250" dirty="0">
                <a:solidFill>
                  <a:srgbClr val="CFD0D8"/>
                </a:solidFill>
                <a:latin typeface="Instrument Sans Medium" pitchFamily="34" charset="0"/>
                <a:ea typeface="Instrument Sans Medium" pitchFamily="34" charset="-122"/>
                <a:cs typeface="Instrument Sans Medium" pitchFamily="34" charset="-120"/>
              </a:rPr>
              <a:t>Use proper indexing to avoid confusion</a:t>
            </a:r>
            <a:endParaRPr lang="en-US" sz="1250" dirty="0"/>
          </a:p>
        </p:txBody>
      </p:sp>
      <p:sp>
        <p:nvSpPr>
          <p:cNvPr id="11" name="Text 9"/>
          <p:cNvSpPr/>
          <p:nvPr/>
        </p:nvSpPr>
        <p:spPr>
          <a:xfrm>
            <a:off x="960120" y="5439013"/>
            <a:ext cx="4025027" cy="635079"/>
          </a:xfrm>
          <a:prstGeom prst="rect">
            <a:avLst/>
          </a:prstGeom>
          <a:noFill/>
        </p:spPr>
        <p:txBody>
          <a:bodyPr wrap="square" lIns="0" tIns="0" rIns="0" bIns="0" rtlCol="0" anchor="t"/>
          <a:lstStyle/>
          <a:p>
            <a:pPr marL="342900" indent="-342900" algn="l">
              <a:lnSpc>
                <a:spcPts val="2000"/>
              </a:lnSpc>
              <a:buSzPct val="100000"/>
              <a:buChar char="•"/>
            </a:pPr>
            <a:r>
              <a:rPr lang="en-US" sz="1250" dirty="0">
                <a:solidFill>
                  <a:srgbClr val="CFD0D8"/>
                </a:solidFill>
                <a:latin typeface="Instrument Sans Medium" pitchFamily="34" charset="0"/>
                <a:ea typeface="Instrument Sans Medium" pitchFamily="34" charset="-122"/>
                <a:cs typeface="Instrument Sans Medium" pitchFamily="34" charset="-120"/>
              </a:rPr>
              <a:t>Document complex list operations with comments</a:t>
            </a:r>
            <a:endParaRPr lang="en-US" sz="1250" dirty="0"/>
          </a:p>
        </p:txBody>
      </p:sp>
      <p:sp>
        <p:nvSpPr>
          <p:cNvPr id="12" name="Shape 10"/>
          <p:cNvSpPr/>
          <p:nvPr/>
        </p:nvSpPr>
        <p:spPr>
          <a:xfrm>
            <a:off x="5143857" y="2422803"/>
            <a:ext cx="4342567" cy="3840480"/>
          </a:xfrm>
          <a:prstGeom prst="rect">
            <a:avLst/>
          </a:prstGeom>
          <a:solidFill>
            <a:srgbClr val="3D3D42"/>
          </a:solidFill>
        </p:spPr>
      </p:sp>
      <p:sp>
        <p:nvSpPr>
          <p:cNvPr id="13" name="Shape 11"/>
          <p:cNvSpPr/>
          <p:nvPr/>
        </p:nvSpPr>
        <p:spPr>
          <a:xfrm>
            <a:off x="5143857" y="2422803"/>
            <a:ext cx="22860" cy="3840480"/>
          </a:xfrm>
          <a:prstGeom prst="roundRect">
            <a:avLst>
              <a:gd name="adj" fmla="val 291721"/>
            </a:avLst>
          </a:prstGeom>
          <a:solidFill>
            <a:srgbClr val="56565B"/>
          </a:solidFill>
        </p:spPr>
      </p:sp>
      <p:sp>
        <p:nvSpPr>
          <p:cNvPr id="14" name="Text 12"/>
          <p:cNvSpPr/>
          <p:nvPr/>
        </p:nvSpPr>
        <p:spPr>
          <a:xfrm>
            <a:off x="5302568" y="2581513"/>
            <a:ext cx="4025146" cy="317540"/>
          </a:xfrm>
          <a:prstGeom prst="rect">
            <a:avLst/>
          </a:prstGeom>
          <a:noFill/>
        </p:spPr>
        <p:txBody>
          <a:bodyPr wrap="none" lIns="0" tIns="0" rIns="0" bIns="0" rtlCol="0" anchor="t"/>
          <a:lstStyle/>
          <a:p>
            <a:pPr marL="0" indent="0" algn="l">
              <a:lnSpc>
                <a:spcPts val="2500"/>
              </a:lnSpc>
              <a:buNone/>
            </a:pPr>
            <a:r>
              <a:rPr lang="en-US" sz="1550" dirty="0">
                <a:solidFill>
                  <a:srgbClr val="000000"/>
                </a:solidFill>
                <a:latin typeface="Instrument Sans Medium" pitchFamily="34" charset="0"/>
                <a:ea typeface="Instrument Sans Medium" pitchFamily="34" charset="-122"/>
                <a:cs typeface="Instrument Sans Medium" pitchFamily="34" charset="-120"/>
              </a:rPr>
              <a:t>⚠</a:t>
            </a:r>
            <a:r>
              <a:rPr lang="en-US" sz="1550" dirty="0">
                <a:solidFill>
                  <a:srgbClr val="CFD0D8"/>
                </a:solidFill>
                <a:latin typeface="Instrument Sans Medium" pitchFamily="34" charset="0"/>
                <a:ea typeface="Instrument Sans Medium" pitchFamily="34" charset="-122"/>
                <a:cs typeface="Instrument Sans Medium" pitchFamily="34" charset="-120"/>
              </a:rPr>
              <a:t> Common Pitfalls</a:t>
            </a:r>
            <a:endParaRPr lang="en-US" sz="1550" dirty="0"/>
          </a:p>
        </p:txBody>
      </p:sp>
      <p:sp>
        <p:nvSpPr>
          <p:cNvPr id="15" name="Text 13"/>
          <p:cNvSpPr/>
          <p:nvPr/>
        </p:nvSpPr>
        <p:spPr>
          <a:xfrm>
            <a:off x="5302568" y="2994303"/>
            <a:ext cx="4025146" cy="635079"/>
          </a:xfrm>
          <a:prstGeom prst="rect">
            <a:avLst/>
          </a:prstGeom>
          <a:noFill/>
        </p:spPr>
        <p:txBody>
          <a:bodyPr wrap="square" lIns="0" tIns="0" rIns="0" bIns="0" rtlCol="0" anchor="t"/>
          <a:lstStyle/>
          <a:p>
            <a:pPr marL="342900" indent="-342900" algn="l">
              <a:lnSpc>
                <a:spcPts val="2000"/>
              </a:lnSpc>
              <a:buSzPct val="100000"/>
              <a:buChar char="•"/>
            </a:pPr>
            <a:r>
              <a:rPr lang="en-US" sz="1250" dirty="0">
                <a:solidFill>
                  <a:srgbClr val="CFD0D8"/>
                </a:solidFill>
                <a:latin typeface="Instrument Sans Medium" pitchFamily="34" charset="0"/>
                <a:ea typeface="Instrument Sans Medium" pitchFamily="34" charset="-122"/>
                <a:cs typeface="Instrument Sans Medium" pitchFamily="34" charset="-120"/>
              </a:rPr>
              <a:t>IndexError: Accessing indices beyond list bounds</a:t>
            </a:r>
            <a:endParaRPr lang="en-US" sz="1250" dirty="0"/>
          </a:p>
        </p:txBody>
      </p:sp>
      <p:sp>
        <p:nvSpPr>
          <p:cNvPr id="16" name="Text 14"/>
          <p:cNvSpPr/>
          <p:nvPr/>
        </p:nvSpPr>
        <p:spPr>
          <a:xfrm>
            <a:off x="5302568" y="3684865"/>
            <a:ext cx="4025146" cy="635079"/>
          </a:xfrm>
          <a:prstGeom prst="rect">
            <a:avLst/>
          </a:prstGeom>
          <a:noFill/>
        </p:spPr>
        <p:txBody>
          <a:bodyPr wrap="square" lIns="0" tIns="0" rIns="0" bIns="0" rtlCol="0" anchor="t"/>
          <a:lstStyle/>
          <a:p>
            <a:pPr marL="342900" indent="-342900" algn="l">
              <a:lnSpc>
                <a:spcPts val="2000"/>
              </a:lnSpc>
              <a:buSzPct val="100000"/>
              <a:buChar char="•"/>
            </a:pPr>
            <a:r>
              <a:rPr lang="en-US" sz="1250" dirty="0">
                <a:solidFill>
                  <a:srgbClr val="CFD0D8"/>
                </a:solidFill>
                <a:latin typeface="Instrument Sans Medium" pitchFamily="34" charset="0"/>
                <a:ea typeface="Instrument Sans Medium" pitchFamily="34" charset="-122"/>
                <a:cs typeface="Instrument Sans Medium" pitchFamily="34" charset="-120"/>
              </a:rPr>
              <a:t>Modifying lists while iterating through them</a:t>
            </a:r>
            <a:endParaRPr lang="en-US" sz="1250" dirty="0"/>
          </a:p>
        </p:txBody>
      </p:sp>
      <p:sp>
        <p:nvSpPr>
          <p:cNvPr id="17" name="Text 15"/>
          <p:cNvSpPr/>
          <p:nvPr/>
        </p:nvSpPr>
        <p:spPr>
          <a:xfrm>
            <a:off x="5302568" y="4375428"/>
            <a:ext cx="4025146" cy="332780"/>
          </a:xfrm>
          <a:prstGeom prst="rect">
            <a:avLst/>
          </a:prstGeom>
          <a:noFill/>
        </p:spPr>
        <p:txBody>
          <a:bodyPr wrap="none" lIns="0" tIns="0" rIns="0" bIns="0" rtlCol="0" anchor="t"/>
          <a:lstStyle/>
          <a:p>
            <a:pPr marL="0" indent="0" algn="l">
              <a:lnSpc>
                <a:spcPts val="2000"/>
              </a:lnSpc>
              <a:buSzPct val="100000"/>
              <a:buNone/>
            </a:pPr>
            <a:r>
              <a:rPr lang="en-US" sz="1250" dirty="0">
                <a:solidFill>
                  <a:srgbClr val="CFD0D8"/>
                </a:solidFill>
                <a:latin typeface="Instrument Sans Medium" pitchFamily="34" charset="0"/>
                <a:ea typeface="Instrument Sans Medium" pitchFamily="34" charset="-122"/>
                <a:cs typeface="Instrument Sans Medium" pitchFamily="34" charset="-120"/>
              </a:rPr>
              <a:t>Confusing </a:t>
            </a:r>
            <a:r>
              <a:rPr lang="en-US" sz="1250" dirty="0">
                <a:solidFill>
                  <a:srgbClr val="CFD0D8"/>
                </a:solidFill>
                <a:highlight>
                  <a:srgbClr val="37373A"/>
                </a:highlight>
                <a:latin typeface="Consolas" panose="020B0609020204030204" charset="0"/>
                <a:ea typeface="Consolas" panose="020B0609020204030204" pitchFamily="34" charset="-122"/>
                <a:cs typeface="Consolas" panose="020B0609020204030204" pitchFamily="34" charset="-120"/>
              </a:rPr>
              <a:t>append()</a:t>
            </a:r>
            <a:r>
              <a:rPr lang="en-US" sz="1250" dirty="0">
                <a:solidFill>
                  <a:srgbClr val="CFD0D8"/>
                </a:solidFill>
                <a:latin typeface="Instrument Sans Medium" pitchFamily="34" charset="0"/>
                <a:ea typeface="Instrument Sans Medium" pitchFamily="34" charset="-122"/>
                <a:cs typeface="Instrument Sans Medium" pitchFamily="34" charset="-120"/>
              </a:rPr>
              <a:t> with concatenation</a:t>
            </a:r>
            <a:endParaRPr lang="en-US" sz="1250" dirty="0"/>
          </a:p>
        </p:txBody>
      </p:sp>
      <p:sp>
        <p:nvSpPr>
          <p:cNvPr id="18" name="Text 16"/>
          <p:cNvSpPr/>
          <p:nvPr/>
        </p:nvSpPr>
        <p:spPr>
          <a:xfrm>
            <a:off x="5302568" y="4763691"/>
            <a:ext cx="4025146" cy="650319"/>
          </a:xfrm>
          <a:prstGeom prst="rect">
            <a:avLst/>
          </a:prstGeom>
          <a:noFill/>
        </p:spPr>
        <p:txBody>
          <a:bodyPr wrap="square" lIns="0" tIns="0" rIns="0" bIns="0" rtlCol="0" anchor="t"/>
          <a:lstStyle/>
          <a:p>
            <a:pPr marL="0" indent="0" algn="l">
              <a:lnSpc>
                <a:spcPts val="2000"/>
              </a:lnSpc>
              <a:buSzPct val="100000"/>
              <a:buNone/>
            </a:pPr>
            <a:r>
              <a:rPr lang="en-US" sz="1250" dirty="0">
                <a:solidFill>
                  <a:srgbClr val="CFD0D8"/>
                </a:solidFill>
                <a:latin typeface="Instrument Sans Medium" pitchFamily="34" charset="0"/>
                <a:ea typeface="Instrument Sans Medium" pitchFamily="34" charset="-122"/>
                <a:cs typeface="Instrument Sans Medium" pitchFamily="34" charset="-120"/>
              </a:rPr>
              <a:t>Assuming </a:t>
            </a:r>
            <a:r>
              <a:rPr lang="en-US" sz="1250" dirty="0">
                <a:solidFill>
                  <a:srgbClr val="CFD0D8"/>
                </a:solidFill>
                <a:highlight>
                  <a:srgbClr val="37373A"/>
                </a:highlight>
                <a:latin typeface="Consolas" panose="020B0609020204030204" charset="0"/>
                <a:ea typeface="Consolas" panose="020B0609020204030204" pitchFamily="34" charset="-122"/>
                <a:cs typeface="Consolas" panose="020B0609020204030204" pitchFamily="34" charset="-120"/>
              </a:rPr>
              <a:t>remove()</a:t>
            </a:r>
            <a:r>
              <a:rPr lang="en-US" sz="1250" dirty="0">
                <a:solidFill>
                  <a:srgbClr val="CFD0D8"/>
                </a:solidFill>
                <a:latin typeface="Instrument Sans Medium" pitchFamily="34" charset="0"/>
                <a:ea typeface="Instrument Sans Medium" pitchFamily="34" charset="-122"/>
                <a:cs typeface="Instrument Sans Medium" pitchFamily="34" charset="-120"/>
              </a:rPr>
              <a:t> removes by index (it doesn't)</a:t>
            </a:r>
            <a:endParaRPr lang="en-US" sz="1250" dirty="0"/>
          </a:p>
        </p:txBody>
      </p:sp>
      <p:sp>
        <p:nvSpPr>
          <p:cNvPr id="19" name="Text 17"/>
          <p:cNvSpPr/>
          <p:nvPr/>
        </p:nvSpPr>
        <p:spPr>
          <a:xfrm>
            <a:off x="5302568" y="5469493"/>
            <a:ext cx="4025146" cy="635079"/>
          </a:xfrm>
          <a:prstGeom prst="rect">
            <a:avLst/>
          </a:prstGeom>
          <a:noFill/>
        </p:spPr>
        <p:txBody>
          <a:bodyPr wrap="square" lIns="0" tIns="0" rIns="0" bIns="0" rtlCol="0" anchor="t"/>
          <a:lstStyle/>
          <a:p>
            <a:pPr marL="342900" indent="-342900" algn="l">
              <a:lnSpc>
                <a:spcPts val="2000"/>
              </a:lnSpc>
              <a:buSzPct val="100000"/>
              <a:buChar char="•"/>
            </a:pPr>
            <a:r>
              <a:rPr lang="en-US" sz="1250" dirty="0">
                <a:solidFill>
                  <a:srgbClr val="CFD0D8"/>
                </a:solidFill>
                <a:latin typeface="Instrument Sans Medium" pitchFamily="34" charset="0"/>
                <a:ea typeface="Instrument Sans Medium" pitchFamily="34" charset="-122"/>
                <a:cs typeface="Instrument Sans Medium" pitchFamily="34" charset="-120"/>
              </a:rPr>
              <a:t>Creating nested lists without proper initialization</a:t>
            </a:r>
            <a:endParaRPr lang="en-US" sz="1250" dirty="0"/>
          </a:p>
        </p:txBody>
      </p:sp>
      <p:sp>
        <p:nvSpPr>
          <p:cNvPr id="20" name="Shape 18"/>
          <p:cNvSpPr/>
          <p:nvPr/>
        </p:nvSpPr>
        <p:spPr>
          <a:xfrm>
            <a:off x="9486424" y="2422803"/>
            <a:ext cx="4342567" cy="3840480"/>
          </a:xfrm>
          <a:prstGeom prst="rect">
            <a:avLst/>
          </a:prstGeom>
          <a:solidFill>
            <a:srgbClr val="3D3D42"/>
          </a:solidFill>
        </p:spPr>
      </p:sp>
      <p:sp>
        <p:nvSpPr>
          <p:cNvPr id="21" name="Shape 19"/>
          <p:cNvSpPr/>
          <p:nvPr/>
        </p:nvSpPr>
        <p:spPr>
          <a:xfrm>
            <a:off x="9486424" y="2422803"/>
            <a:ext cx="22860" cy="3840480"/>
          </a:xfrm>
          <a:prstGeom prst="roundRect">
            <a:avLst>
              <a:gd name="adj" fmla="val 291721"/>
            </a:avLst>
          </a:prstGeom>
          <a:solidFill>
            <a:srgbClr val="56565B"/>
          </a:solidFill>
        </p:spPr>
      </p:sp>
      <p:sp>
        <p:nvSpPr>
          <p:cNvPr id="22" name="Text 20"/>
          <p:cNvSpPr/>
          <p:nvPr/>
        </p:nvSpPr>
        <p:spPr>
          <a:xfrm>
            <a:off x="9645134" y="2581513"/>
            <a:ext cx="4025146" cy="317540"/>
          </a:xfrm>
          <a:prstGeom prst="rect">
            <a:avLst/>
          </a:prstGeom>
          <a:noFill/>
        </p:spPr>
        <p:txBody>
          <a:bodyPr wrap="none" lIns="0" tIns="0" rIns="0" bIns="0" rtlCol="0" anchor="t"/>
          <a:lstStyle/>
          <a:p>
            <a:pPr marL="0" indent="0" algn="l">
              <a:lnSpc>
                <a:spcPts val="2500"/>
              </a:lnSpc>
              <a:buNone/>
            </a:pPr>
            <a:r>
              <a:rPr lang="en-US" sz="1550" dirty="0">
                <a:solidFill>
                  <a:srgbClr val="000000"/>
                </a:solidFill>
                <a:latin typeface="Instrument Sans Medium" pitchFamily="34" charset="0"/>
                <a:ea typeface="Instrument Sans Medium" pitchFamily="34" charset="-122"/>
                <a:cs typeface="Instrument Sans Medium" pitchFamily="34" charset="-120"/>
              </a:rPr>
              <a:t>🚀</a:t>
            </a:r>
            <a:r>
              <a:rPr lang="en-US" sz="1550" dirty="0">
                <a:solidFill>
                  <a:srgbClr val="CFD0D8"/>
                </a:solidFill>
                <a:latin typeface="Instrument Sans Medium" pitchFamily="34" charset="0"/>
                <a:ea typeface="Instrument Sans Medium" pitchFamily="34" charset="-122"/>
                <a:cs typeface="Instrument Sans Medium" pitchFamily="34" charset="-120"/>
              </a:rPr>
              <a:t> Next Steps</a:t>
            </a:r>
            <a:endParaRPr lang="en-US" sz="1550" dirty="0"/>
          </a:p>
        </p:txBody>
      </p:sp>
      <p:sp>
        <p:nvSpPr>
          <p:cNvPr id="23" name="Text 21"/>
          <p:cNvSpPr/>
          <p:nvPr/>
        </p:nvSpPr>
        <p:spPr>
          <a:xfrm>
            <a:off x="9645134" y="2994303"/>
            <a:ext cx="4025146" cy="635079"/>
          </a:xfrm>
          <a:prstGeom prst="rect">
            <a:avLst/>
          </a:prstGeom>
          <a:noFill/>
        </p:spPr>
        <p:txBody>
          <a:bodyPr wrap="square" lIns="0" tIns="0" rIns="0" bIns="0" rtlCol="0" anchor="t"/>
          <a:lstStyle/>
          <a:p>
            <a:pPr marL="342900" indent="-342900" algn="l">
              <a:lnSpc>
                <a:spcPts val="2000"/>
              </a:lnSpc>
              <a:buSzPct val="100000"/>
              <a:buChar char="•"/>
            </a:pPr>
            <a:r>
              <a:rPr lang="en-US" sz="1250" dirty="0">
                <a:solidFill>
                  <a:srgbClr val="CFD0D8"/>
                </a:solidFill>
                <a:latin typeface="Instrument Sans Medium" pitchFamily="34" charset="0"/>
                <a:ea typeface="Instrument Sans Medium" pitchFamily="34" charset="-122"/>
                <a:cs typeface="Instrument Sans Medium" pitchFamily="34" charset="-120"/>
              </a:rPr>
              <a:t>Explore tuples and sets for immutable alternatives</a:t>
            </a:r>
            <a:endParaRPr lang="en-US" sz="1250" dirty="0"/>
          </a:p>
        </p:txBody>
      </p:sp>
      <p:sp>
        <p:nvSpPr>
          <p:cNvPr id="24" name="Text 22"/>
          <p:cNvSpPr/>
          <p:nvPr/>
        </p:nvSpPr>
        <p:spPr>
          <a:xfrm>
            <a:off x="9645134" y="3684865"/>
            <a:ext cx="4025146" cy="665559"/>
          </a:xfrm>
          <a:prstGeom prst="rect">
            <a:avLst/>
          </a:prstGeom>
          <a:noFill/>
        </p:spPr>
        <p:txBody>
          <a:bodyPr wrap="square" lIns="0" tIns="0" rIns="0" bIns="0" rtlCol="0" anchor="t"/>
          <a:lstStyle/>
          <a:p>
            <a:pPr marL="0" indent="0" algn="l">
              <a:lnSpc>
                <a:spcPts val="2000"/>
              </a:lnSpc>
              <a:buSzPct val="100000"/>
              <a:buNone/>
            </a:pPr>
            <a:r>
              <a:rPr lang="en-US" sz="1250" dirty="0">
                <a:solidFill>
                  <a:srgbClr val="CFD0D8"/>
                </a:solidFill>
                <a:latin typeface="Instrument Sans Medium" pitchFamily="34" charset="0"/>
                <a:ea typeface="Instrument Sans Medium" pitchFamily="34" charset="-122"/>
                <a:cs typeface="Instrument Sans Medium" pitchFamily="34" charset="-120"/>
              </a:rPr>
              <a:t>Master lambda functions with </a:t>
            </a:r>
            <a:r>
              <a:rPr lang="en-US" sz="1250" dirty="0">
                <a:solidFill>
                  <a:srgbClr val="CFD0D8"/>
                </a:solidFill>
                <a:highlight>
                  <a:srgbClr val="37373A"/>
                </a:highlight>
                <a:latin typeface="Consolas" panose="020B0609020204030204" charset="0"/>
                <a:ea typeface="Consolas" panose="020B0609020204030204" pitchFamily="34" charset="-122"/>
                <a:cs typeface="Consolas" panose="020B0609020204030204" pitchFamily="34" charset="-120"/>
              </a:rPr>
              <a:t>map()</a:t>
            </a:r>
            <a:r>
              <a:rPr lang="en-US" sz="1250" dirty="0">
                <a:solidFill>
                  <a:srgbClr val="CFD0D8"/>
                </a:solidFill>
                <a:latin typeface="Instrument Sans Medium" pitchFamily="34" charset="0"/>
                <a:ea typeface="Instrument Sans Medium" pitchFamily="34" charset="-122"/>
                <a:cs typeface="Instrument Sans Medium" pitchFamily="34" charset="-120"/>
              </a:rPr>
              <a:t> and </a:t>
            </a:r>
            <a:r>
              <a:rPr lang="en-US" sz="1250" dirty="0">
                <a:solidFill>
                  <a:srgbClr val="CFD0D8"/>
                </a:solidFill>
                <a:highlight>
                  <a:srgbClr val="37373A"/>
                </a:highlight>
                <a:latin typeface="Consolas" panose="020B0609020204030204" charset="0"/>
                <a:ea typeface="Consolas" panose="020B0609020204030204" pitchFamily="34" charset="-122"/>
                <a:cs typeface="Consolas" panose="020B0609020204030204" pitchFamily="34" charset="-120"/>
              </a:rPr>
              <a:t>filter()</a:t>
            </a:r>
            <a:endParaRPr lang="en-US" sz="1250" dirty="0"/>
          </a:p>
        </p:txBody>
      </p:sp>
      <p:sp>
        <p:nvSpPr>
          <p:cNvPr id="25" name="Text 23"/>
          <p:cNvSpPr/>
          <p:nvPr/>
        </p:nvSpPr>
        <p:spPr>
          <a:xfrm>
            <a:off x="9645134" y="4405908"/>
            <a:ext cx="4025146" cy="635079"/>
          </a:xfrm>
          <a:prstGeom prst="rect">
            <a:avLst/>
          </a:prstGeom>
          <a:noFill/>
        </p:spPr>
        <p:txBody>
          <a:bodyPr wrap="square" lIns="0" tIns="0" rIns="0" bIns="0" rtlCol="0" anchor="t"/>
          <a:lstStyle/>
          <a:p>
            <a:pPr marL="342900" indent="-342900" algn="l">
              <a:lnSpc>
                <a:spcPts val="2000"/>
              </a:lnSpc>
              <a:buSzPct val="100000"/>
              <a:buChar char="•"/>
            </a:pPr>
            <a:r>
              <a:rPr lang="en-US" sz="1250" dirty="0">
                <a:solidFill>
                  <a:srgbClr val="CFD0D8"/>
                </a:solidFill>
                <a:latin typeface="Instrument Sans Medium" pitchFamily="34" charset="0"/>
                <a:ea typeface="Instrument Sans Medium" pitchFamily="34" charset="-122"/>
                <a:cs typeface="Instrument Sans Medium" pitchFamily="34" charset="-120"/>
              </a:rPr>
              <a:t>Study NumPy arrays for numerical computing</a:t>
            </a:r>
            <a:endParaRPr lang="en-US" sz="1250" dirty="0"/>
          </a:p>
        </p:txBody>
      </p:sp>
      <p:sp>
        <p:nvSpPr>
          <p:cNvPr id="26" name="Text 24"/>
          <p:cNvSpPr/>
          <p:nvPr/>
        </p:nvSpPr>
        <p:spPr>
          <a:xfrm>
            <a:off x="9645134" y="5096470"/>
            <a:ext cx="4025146" cy="317540"/>
          </a:xfrm>
          <a:prstGeom prst="rect">
            <a:avLst/>
          </a:prstGeom>
          <a:noFill/>
        </p:spPr>
        <p:txBody>
          <a:bodyPr wrap="none" lIns="0" tIns="0" rIns="0" bIns="0" rtlCol="0" anchor="t"/>
          <a:lstStyle/>
          <a:p>
            <a:pPr marL="342900" indent="-342900" algn="l">
              <a:lnSpc>
                <a:spcPts val="2000"/>
              </a:lnSpc>
              <a:buSzPct val="100000"/>
              <a:buChar char="•"/>
            </a:pPr>
            <a:r>
              <a:rPr lang="en-US" sz="1250" dirty="0">
                <a:solidFill>
                  <a:srgbClr val="CFD0D8"/>
                </a:solidFill>
                <a:latin typeface="Instrument Sans Medium" pitchFamily="34" charset="0"/>
                <a:ea typeface="Instrument Sans Medium" pitchFamily="34" charset="-122"/>
                <a:cs typeface="Instrument Sans Medium" pitchFamily="34" charset="-120"/>
              </a:rPr>
              <a:t>Practice complex algorithms with lists</a:t>
            </a:r>
            <a:endParaRPr lang="en-US" sz="1250" dirty="0"/>
          </a:p>
        </p:txBody>
      </p:sp>
      <p:sp>
        <p:nvSpPr>
          <p:cNvPr id="27" name="Text 25"/>
          <p:cNvSpPr/>
          <p:nvPr/>
        </p:nvSpPr>
        <p:spPr>
          <a:xfrm>
            <a:off x="9645134" y="5469493"/>
            <a:ext cx="4025146" cy="635079"/>
          </a:xfrm>
          <a:prstGeom prst="rect">
            <a:avLst/>
          </a:prstGeom>
          <a:noFill/>
        </p:spPr>
        <p:txBody>
          <a:bodyPr wrap="square" lIns="0" tIns="0" rIns="0" bIns="0" rtlCol="0" anchor="t"/>
          <a:lstStyle/>
          <a:p>
            <a:pPr marL="342900" indent="-342900" algn="l">
              <a:lnSpc>
                <a:spcPts val="2000"/>
              </a:lnSpc>
              <a:buSzPct val="100000"/>
              <a:buChar char="•"/>
            </a:pPr>
            <a:r>
              <a:rPr lang="en-US" sz="1250" dirty="0">
                <a:solidFill>
                  <a:srgbClr val="CFD0D8"/>
                </a:solidFill>
                <a:latin typeface="Instrument Sans Medium" pitchFamily="34" charset="0"/>
                <a:ea typeface="Instrument Sans Medium" pitchFamily="34" charset="-122"/>
                <a:cs typeface="Instrument Sans Medium" pitchFamily="34" charset="-120"/>
              </a:rPr>
              <a:t>Build real projects: games, data processing, web apps</a:t>
            </a:r>
            <a:endParaRPr lang="en-US" sz="1250" dirty="0"/>
          </a:p>
        </p:txBody>
      </p:sp>
      <p:sp>
        <p:nvSpPr>
          <p:cNvPr id="28" name="Text 26"/>
          <p:cNvSpPr/>
          <p:nvPr/>
        </p:nvSpPr>
        <p:spPr>
          <a:xfrm>
            <a:off x="1031915" y="6628090"/>
            <a:ext cx="12804696" cy="635079"/>
          </a:xfrm>
          <a:prstGeom prst="rect">
            <a:avLst/>
          </a:prstGeom>
          <a:noFill/>
        </p:spPr>
        <p:txBody>
          <a:bodyPr wrap="square" lIns="0" tIns="0" rIns="0" bIns="0" rtlCol="0" anchor="t"/>
          <a:lstStyle/>
          <a:p>
            <a:pPr marL="0" indent="0" algn="l">
              <a:lnSpc>
                <a:spcPts val="2500"/>
              </a:lnSpc>
              <a:buNone/>
            </a:pPr>
            <a:r>
              <a:rPr lang="en-US" sz="1550" dirty="0">
                <a:solidFill>
                  <a:srgbClr val="CFD0D8"/>
                </a:solidFill>
                <a:latin typeface="Instrument Sans Medium" pitchFamily="34" charset="0"/>
                <a:ea typeface="Instrument Sans Medium" pitchFamily="34" charset="-122"/>
                <a:cs typeface="Instrument Sans Medium" pitchFamily="34" charset="-120"/>
              </a:rPr>
              <a:t>"Lists are the Swiss Army knife of Python data structures. Master them, and you unlock the door to intermediate and advanced Python programming."</a:t>
            </a:r>
            <a:endParaRPr lang="en-US" sz="1550" dirty="0"/>
          </a:p>
        </p:txBody>
      </p:sp>
      <p:sp>
        <p:nvSpPr>
          <p:cNvPr id="29" name="Shape 27"/>
          <p:cNvSpPr/>
          <p:nvPr/>
        </p:nvSpPr>
        <p:spPr>
          <a:xfrm>
            <a:off x="793790" y="6449497"/>
            <a:ext cx="22860" cy="992267"/>
          </a:xfrm>
          <a:prstGeom prst="rect">
            <a:avLst/>
          </a:prstGeom>
          <a:solidFill>
            <a:srgbClr val="D5D5D8"/>
          </a:solidFill>
        </p:spPr>
      </p:sp>
    </p:spTree>
  </p:cSld>
  <p:clrMapOvr>
    <a:masterClrMapping/>
  </p:clrMapOvr>
</p:sld>
</file>

<file path=ppt/tags/tag1.xml><?xml version="1.0" encoding="utf-8"?>
<p:tagLst xmlns:p="http://schemas.openxmlformats.org/presentationml/2006/main">
  <p:tag name="KSO_WM_DIAGRAM_VIRTUALLY_FRAME" val="{&quot;height&quot;:282.8625196850394,&quot;left&quot;:62.50314960629921,&quot;top&quot;:258.7406299212598,&quot;width&quot;:1026.9844094488187}"/>
</p:tagLst>
</file>

<file path=ppt/tags/tag2.xml><?xml version="1.0" encoding="utf-8"?>
<p:tagLst xmlns:p="http://schemas.openxmlformats.org/presentationml/2006/main">
  <p:tag name="KSO_WM_DIAGRAM_VIRTUALLY_FRAME" val="{&quot;height&quot;:282.8625196850394,&quot;left&quot;:62.50314960629921,&quot;top&quot;:258.7406299212598,&quot;width&quot;:1026.9844094488187}"/>
</p:tagLst>
</file>

<file path=ppt/tags/tag3.xml><?xml version="1.0" encoding="utf-8"?>
<p:tagLst xmlns:p="http://schemas.openxmlformats.org/presentationml/2006/main">
  <p:tag name="KSO_WM_DIAGRAM_VIRTUALLY_FRAME" val="{&quot;height&quot;:282.8625196850394,&quot;left&quot;:62.50314960629921,&quot;top&quot;:258.7406299212598,&quot;width&quot;:1026.9844094488187}"/>
</p:tagLst>
</file>

<file path=ppt/tags/tag4.xml><?xml version="1.0" encoding="utf-8"?>
<p:tagLst xmlns:p="http://schemas.openxmlformats.org/presentationml/2006/main">
  <p:tag name="KSO_WM_DIAGRAM_VIRTUALLY_FRAME" val="{&quot;height&quot;:282.8625196850394,&quot;left&quot;:62.50314960629921,&quot;top&quot;:258.7406299212598,&quot;width&quot;:1026.9844094488187}"/>
</p:tagLst>
</file>

<file path=ppt/tags/tag5.xml><?xml version="1.0" encoding="utf-8"?>
<p:tagLst xmlns:p="http://schemas.openxmlformats.org/presentationml/2006/main">
  <p:tag name="KSO_WM_DIAGRAM_VIRTUALLY_FRAME" val="{&quot;height&quot;:282.8625196850394,&quot;left&quot;:62.50314960629921,&quot;top&quot;:258.7406299212598,&quot;width&quot;:1026.9844094488187}"/>
</p:tagLst>
</file>

<file path=ppt/tags/tag6.xml><?xml version="1.0" encoding="utf-8"?>
<p:tagLst xmlns:p="http://schemas.openxmlformats.org/presentationml/2006/main">
  <p:tag name="KSO_WM_DIAGRAM_VIRTUALLY_FRAME" val="{&quot;height&quot;:282.8625196850394,&quot;left&quot;:62.50314960629921,&quot;top&quot;:258.7406299212598,&quot;width&quot;:1026.9844094488187}"/>
</p:tagLst>
</file>

<file path=ppt/tags/tag7.xml><?xml version="1.0" encoding="utf-8"?>
<p:tagLst xmlns:p="http://schemas.openxmlformats.org/presentationml/2006/main">
  <p:tag name="KSO_WM_DIAGRAM_VIRTUALLY_FRAME" val="{&quot;height&quot;:282.8625196850394,&quot;left&quot;:62.50314960629921,&quot;top&quot;:258.7406299212598,&quot;width&quot;:1026.9844094488187}"/>
</p:tagLst>
</file>

<file path=ppt/tags/tag8.xml><?xml version="1.0" encoding="utf-8"?>
<p:tagLst xmlns:p="http://schemas.openxmlformats.org/presentationml/2006/main">
  <p:tag name="KSO_WM_DIAGRAM_VIRTUALLY_FRAME" val="{&quot;height&quot;:282.8625196850394,&quot;left&quot;:62.50314960629921,&quot;top&quot;:258.7406299212598,&quot;width&quot;:1026.9844094488187}"/>
</p:tagLst>
</file>

<file path=ppt/tags/tag9.xml><?xml version="1.0" encoding="utf-8"?>
<p:tagLst xmlns:p="http://schemas.openxmlformats.org/presentationml/2006/main">
  <p:tag name="KSO_WM_DIAGRAM_VIRTUALLY_FRAME" val="{&quot;height&quot;:282.8625196850394,&quot;left&quot;:62.50314960629921,&quot;top&quot;:258.7406299212598,&quot;width&quot;:1026.9844094488187}"/>
</p:tagLst>
</file>

<file path=ppt/tags/tag10.xml><?xml version="1.0" encoding="utf-8"?>
<p:tagLst xmlns:p="http://schemas.openxmlformats.org/presentationml/2006/main">
  <p:tag name="KSO_WM_DIAGRAM_VIRTUALLY_FRAME" val="{&quot;height&quot;:282.8625196850394,&quot;left&quot;:62.50314960629921,&quot;top&quot;:258.7406299212598,&quot;width&quot;:1026.9844094488187}"/>
</p:tagLst>
</file>

<file path=ppt/tags/tag11.xml><?xml version="1.0" encoding="utf-8"?>
<p:tagLst xmlns:p="http://schemas.openxmlformats.org/presentationml/2006/main">
  <p:tag name="KSO_WM_DIAGRAM_VIRTUALLY_FRAME" val="{&quot;height&quot;:282.8625196850394,&quot;left&quot;:62.50314960629921,&quot;top&quot;:258.7406299212598,&quot;width&quot;:1026.9844094488187}"/>
</p:tagLst>
</file>

<file path=ppt/tags/tag12.xml><?xml version="1.0" encoding="utf-8"?>
<p:tagLst xmlns:p="http://schemas.openxmlformats.org/presentationml/2006/main">
  <p:tag name="KSO_WM_DIAGRAM_VIRTUALLY_FRAME" val="{&quot;height&quot;:282.8625196850394,&quot;left&quot;:62.50314960629921,&quot;top&quot;:258.7406299212598,&quot;width&quot;:1026.9844094488187}"/>
</p:tagLst>
</file>

<file path=ppt/tags/tag13.xml><?xml version="1.0" encoding="utf-8"?>
<p:tagLst xmlns:p="http://schemas.openxmlformats.org/presentationml/2006/main">
  <p:tag name="KSO_WM_DIAGRAM_VIRTUALLY_FRAME" val="{&quot;height&quot;:282.8625196850394,&quot;left&quot;:62.50314960629921,&quot;top&quot;:258.7406299212598,&quot;width&quot;:1026.9844094488187}"/>
</p:tagLst>
</file>

<file path=ppt/tags/tag14.xml><?xml version="1.0" encoding="utf-8"?>
<p:tagLst xmlns:p="http://schemas.openxmlformats.org/presentationml/2006/main">
  <p:tag name="KSO_WM_DIAGRAM_VIRTUALLY_FRAME" val="{&quot;height&quot;:282.8625196850394,&quot;left&quot;:62.50314960629921,&quot;top&quot;:258.7406299212598,&quot;width&quot;:1026.9844094488187}"/>
</p:tagLst>
</file>

<file path=ppt/tags/tag15.xml><?xml version="1.0" encoding="utf-8"?>
<p:tagLst xmlns:p="http://schemas.openxmlformats.org/presentationml/2006/main">
  <p:tag name="KSO_WM_DIAGRAM_VIRTUALLY_FRAME" val="{&quot;height&quot;:282.8625196850394,&quot;left&quot;:62.50314960629921,&quot;top&quot;:258.7406299212598,&quot;width&quot;:1026.9844094488187}"/>
</p:tagLst>
</file>

<file path=ppt/tags/tag16.xml><?xml version="1.0" encoding="utf-8"?>
<p:tagLst xmlns:p="http://schemas.openxmlformats.org/presentationml/2006/main">
  <p:tag name="KSO_WM_DIAGRAM_VIRTUALLY_FRAME" val="{&quot;height&quot;:282.8625196850394,&quot;left&quot;:62.50314960629921,&quot;top&quot;:258.7406299212598,&quot;width&quot;:1026.9844094488187}"/>
</p:tagLst>
</file>

<file path=ppt/tags/tag17.xml><?xml version="1.0" encoding="utf-8"?>
<p:tagLst xmlns:p="http://schemas.openxmlformats.org/presentationml/2006/main">
  <p:tag name="KSO_WM_DIAGRAM_VIRTUALLY_FRAME" val="{&quot;height&quot;:282.8625196850394,&quot;left&quot;:62.50314960629921,&quot;top&quot;:258.7406299212598,&quot;width&quot;:1026.9844094488187}"/>
</p:tagLst>
</file>

<file path=ppt/tags/tag18.xml><?xml version="1.0" encoding="utf-8"?>
<p:tagLst xmlns:p="http://schemas.openxmlformats.org/presentationml/2006/main">
  <p:tag name="KSO_WM_DIAGRAM_VIRTUALLY_FRAME" val="{&quot;height&quot;:282.8625196850394,&quot;left&quot;:62.50314960629921,&quot;top&quot;:258.7406299212598,&quot;width&quot;:1026.9844094488187}"/>
</p:tagLst>
</file>

<file path=ppt/tags/tag19.xml><?xml version="1.0" encoding="utf-8"?>
<p:tagLst xmlns:p="http://schemas.openxmlformats.org/presentationml/2006/main">
  <p:tag name="KSO_WM_DIAGRAM_VIRTUALLY_FRAME" val="{&quot;height&quot;:294.96559055118104,&quot;left&quot;:60.70314960629921,&quot;top&quot;:252.6,&quot;width&quot;:1028.7937007874018}"/>
</p:tagLst>
</file>

<file path=ppt/tags/tag20.xml><?xml version="1.0" encoding="utf-8"?>
<p:tagLst xmlns:p="http://schemas.openxmlformats.org/presentationml/2006/main">
  <p:tag name="KSO_WM_DIAGRAM_VIRTUALLY_FRAME" val="{&quot;height&quot;:294.96559055118104,&quot;left&quot;:60.70314960629921,&quot;top&quot;:252.6,&quot;width&quot;:1028.7937007874018}"/>
</p:tagLst>
</file>

<file path=ppt/tags/tag21.xml><?xml version="1.0" encoding="utf-8"?>
<p:tagLst xmlns:p="http://schemas.openxmlformats.org/presentationml/2006/main">
  <p:tag name="KSO_WM_DIAGRAM_VIRTUALLY_FRAME" val="{&quot;height&quot;:294.96559055118104,&quot;left&quot;:60.70314960629921,&quot;top&quot;:252.6,&quot;width&quot;:1028.7937007874018}"/>
</p:tagLst>
</file>

<file path=ppt/tags/tag22.xml><?xml version="1.0" encoding="utf-8"?>
<p:tagLst xmlns:p="http://schemas.openxmlformats.org/presentationml/2006/main">
  <p:tag name="KSO_WM_DIAGRAM_VIRTUALLY_FRAME" val="{&quot;height&quot;:294.96559055118104,&quot;left&quot;:60.70314960629921,&quot;top&quot;:252.6,&quot;width&quot;:1028.7937007874018}"/>
</p:tagLst>
</file>

<file path=ppt/tags/tag23.xml><?xml version="1.0" encoding="utf-8"?>
<p:tagLst xmlns:p="http://schemas.openxmlformats.org/presentationml/2006/main">
  <p:tag name="KSO_WM_DIAGRAM_VIRTUALLY_FRAME" val="{&quot;height&quot;:294.96559055118104,&quot;left&quot;:60.70314960629921,&quot;top&quot;:252.6,&quot;width&quot;:1028.7937007874018}"/>
</p:tagLst>
</file>

<file path=ppt/tags/tag24.xml><?xml version="1.0" encoding="utf-8"?>
<p:tagLst xmlns:p="http://schemas.openxmlformats.org/presentationml/2006/main">
  <p:tag name="KSO_WM_DIAGRAM_VIRTUALLY_FRAME" val="{&quot;height&quot;:294.96559055118104,&quot;left&quot;:60.70314960629921,&quot;top&quot;:252.6,&quot;width&quot;:1028.7937007874018}"/>
</p:tagLst>
</file>

<file path=ppt/tags/tag25.xml><?xml version="1.0" encoding="utf-8"?>
<p:tagLst xmlns:p="http://schemas.openxmlformats.org/presentationml/2006/main">
  <p:tag name="KSO_WM_DIAGRAM_VIRTUALLY_FRAME" val="{&quot;height&quot;:294.96559055118104,&quot;left&quot;:60.70314960629921,&quot;top&quot;:252.6,&quot;width&quot;:1028.7937007874018}"/>
</p:tagLst>
</file>

<file path=ppt/tags/tag26.xml><?xml version="1.0" encoding="utf-8"?>
<p:tagLst xmlns:p="http://schemas.openxmlformats.org/presentationml/2006/main">
  <p:tag name="KSO_WM_DIAGRAM_VIRTUALLY_FRAME" val="{&quot;height&quot;:294.96559055118104,&quot;left&quot;:60.70314960629921,&quot;top&quot;:252.6,&quot;width&quot;:1028.7937007874018}"/>
</p:tagLst>
</file>

<file path=ppt/tags/tag27.xml><?xml version="1.0" encoding="utf-8"?>
<p:tagLst xmlns:p="http://schemas.openxmlformats.org/presentationml/2006/main">
  <p:tag name="KSO_WM_DIAGRAM_VIRTUALLY_FRAME" val="{&quot;height&quot;:294.96559055118104,&quot;left&quot;:60.70314960629921,&quot;top&quot;:252.6,&quot;width&quot;:1028.7937007874018}"/>
</p:tagLst>
</file>

<file path=ppt/tags/tag28.xml><?xml version="1.0" encoding="utf-8"?>
<p:tagLst xmlns:p="http://schemas.openxmlformats.org/presentationml/2006/main">
  <p:tag name="KSO_WM_DIAGRAM_VIRTUALLY_FRAME" val="{&quot;height&quot;:294.96559055118104,&quot;left&quot;:60.70314960629921,&quot;top&quot;:252.6,&quot;width&quot;:1028.7937007874018}"/>
</p:tagLst>
</file>

<file path=ppt/tags/tag29.xml><?xml version="1.0" encoding="utf-8"?>
<p:tagLst xmlns:p="http://schemas.openxmlformats.org/presentationml/2006/main">
  <p:tag name="KSO_WM_DIAGRAM_VIRTUALLY_FRAME" val="{&quot;height&quot;:294.96559055118104,&quot;left&quot;:60.70314960629921,&quot;top&quot;:252.6,&quot;width&quot;:1028.7937007874018}"/>
</p:tagLst>
</file>

<file path=ppt/tags/tag30.xml><?xml version="1.0" encoding="utf-8"?>
<p:tagLst xmlns:p="http://schemas.openxmlformats.org/presentationml/2006/main">
  <p:tag name="KSO_WM_DIAGRAM_VIRTUALLY_FRAME" val="{&quot;height&quot;:294.96559055118104,&quot;left&quot;:60.70314960629921,&quot;top&quot;:252.6,&quot;width&quot;:1028.7937007874018}"/>
</p:tagLst>
</file>

<file path=ppt/tags/tag31.xml><?xml version="1.0" encoding="utf-8"?>
<p:tagLst xmlns:p="http://schemas.openxmlformats.org/presentationml/2006/main">
  <p:tag name="KSO_WM_DIAGRAM_VIRTUALLY_FRAME" val="{&quot;height&quot;:294.96559055118104,&quot;left&quot;:60.70314960629921,&quot;top&quot;:252.6,&quot;width&quot;:1028.7937007874018}"/>
</p:tagLst>
</file>

<file path=ppt/tags/tag32.xml><?xml version="1.0" encoding="utf-8"?>
<p:tagLst xmlns:p="http://schemas.openxmlformats.org/presentationml/2006/main">
  <p:tag name="KSO_WM_DIAGRAM_VIRTUALLY_FRAME" val="{&quot;height&quot;:294.96559055118104,&quot;left&quot;:60.70314960629921,&quot;top&quot;:252.6,&quot;width&quot;:1028.7937007874018}"/>
</p:tagLst>
</file>

<file path=ppt/tags/tag33.xml><?xml version="1.0" encoding="utf-8"?>
<p:tagLst xmlns:p="http://schemas.openxmlformats.org/presentationml/2006/main">
  <p:tag name="KSO_WM_DIAGRAM_VIRTUALLY_FRAME" val="{&quot;height&quot;:294.96559055118104,&quot;left&quot;:60.70314960629921,&quot;top&quot;:252.6,&quot;width&quot;:1028.7937007874018}"/>
</p:tagLst>
</file>

<file path=ppt/tags/tag34.xml><?xml version="1.0" encoding="utf-8"?>
<p:tagLst xmlns:p="http://schemas.openxmlformats.org/presentationml/2006/main">
  <p:tag name="KSO_WM_DIAGRAM_VIRTUALLY_FRAME" val="{&quot;height&quot;:294.96559055118104,&quot;left&quot;:60.70314960629921,&quot;top&quot;:252.6,&quot;width&quot;:1028.7937007874018}"/>
</p:tagLst>
</file>

<file path=ppt/tags/tag35.xml><?xml version="1.0" encoding="utf-8"?>
<p:tagLst xmlns:p="http://schemas.openxmlformats.org/presentationml/2006/main">
  <p:tag name="KSO_WM_DIAGRAM_VIRTUALLY_FRAME" val="{&quot;height&quot;:294.96559055118104,&quot;left&quot;:60.70314960629921,&quot;top&quot;:252.6,&quot;width&quot;:1028.7937007874018}"/>
</p:tagLst>
</file>

<file path=ppt/tags/tag36.xml><?xml version="1.0" encoding="utf-8"?>
<p:tagLst xmlns:p="http://schemas.openxmlformats.org/presentationml/2006/main">
  <p:tag name="KSO_WM_DIAGRAM_VIRTUALLY_FRAME" val="{&quot;height&quot;:294.96559055118104,&quot;left&quot;:60.70314960629921,&quot;top&quot;:252.6,&quot;width&quot;:1028.7937007874018}"/>
</p:tagLst>
</file>

<file path=ppt/tags/tag37.xml><?xml version="1.0" encoding="utf-8"?>
<p:tagLst xmlns:p="http://schemas.openxmlformats.org/presentationml/2006/main">
  <p:tag name="KSO_WM_DIAGRAM_VIRTUALLY_FRAME" val="{&quot;height&quot;:294.96559055118104,&quot;left&quot;:60.70314960629921,&quot;top&quot;:252.6,&quot;width&quot;:1028.7937007874018}"/>
</p:tagLst>
</file>

<file path=ppt/tags/tag38.xml><?xml version="1.0" encoding="utf-8"?>
<p:tagLst xmlns:p="http://schemas.openxmlformats.org/presentationml/2006/main">
  <p:tag name="KSO_WM_DIAGRAM_VIRTUALLY_FRAME" val="{&quot;height&quot;:294.96559055118104,&quot;left&quot;:60.70314960629921,&quot;top&quot;:252.6,&quot;width&quot;:1028.7937007874018}"/>
</p:tagLst>
</file>

<file path=ppt/tags/tag39.xml><?xml version="1.0" encoding="utf-8"?>
<p:tagLst xmlns:p="http://schemas.openxmlformats.org/presentationml/2006/main">
  <p:tag name="KSO_WM_DIAGRAM_VIRTUALLY_FRAME" val="{&quot;height&quot;:294.96559055118104,&quot;left&quot;:60.70314960629921,&quot;top&quot;:252.6,&quot;width&quot;:1028.7937007874018}"/>
</p:tagLst>
</file>

<file path=ppt/tags/tag40.xml><?xml version="1.0" encoding="utf-8"?>
<p:tagLst xmlns:p="http://schemas.openxmlformats.org/presentationml/2006/main">
  <p:tag name="KSO_WM_DIAGRAM_VIRTUALLY_FRAME" val="{&quot;height&quot;:206.5593700787402,&quot;left&quot;:61.92188976377953,&quot;top&quot;:179.99062992125985,&quot;width&quot;:1028.756220472441}"/>
</p:tagLst>
</file>

<file path=ppt/tags/tag41.xml><?xml version="1.0" encoding="utf-8"?>
<p:tagLst xmlns:p="http://schemas.openxmlformats.org/presentationml/2006/main">
  <p:tag name="KSO_WM_DIAGRAM_VIRTUALLY_FRAME" val="{&quot;height&quot;:206.5593700787402,&quot;left&quot;:61.92188976377953,&quot;top&quot;:179.99062992125985,&quot;width&quot;:1028.756220472441}"/>
</p:tagLst>
</file>

<file path=ppt/tags/tag42.xml><?xml version="1.0" encoding="utf-8"?>
<p:tagLst xmlns:p="http://schemas.openxmlformats.org/presentationml/2006/main">
  <p:tag name="KSO_WM_DIAGRAM_VIRTUALLY_FRAME" val="{&quot;height&quot;:206.5593700787402,&quot;left&quot;:61.92188976377953,&quot;top&quot;:179.99062992125985,&quot;width&quot;:1028.756220472441}"/>
</p:tagLst>
</file>

<file path=ppt/tags/tag43.xml><?xml version="1.0" encoding="utf-8"?>
<p:tagLst xmlns:p="http://schemas.openxmlformats.org/presentationml/2006/main">
  <p:tag name="KSO_WM_DIAGRAM_VIRTUALLY_FRAME" val="{&quot;height&quot;:206.5593700787402,&quot;left&quot;:61.92188976377953,&quot;top&quot;:179.99062992125985,&quot;width&quot;:1028.756220472441}"/>
</p:tagLst>
</file>

<file path=ppt/tags/tag44.xml><?xml version="1.0" encoding="utf-8"?>
<p:tagLst xmlns:p="http://schemas.openxmlformats.org/presentationml/2006/main">
  <p:tag name="KSO_WM_DIAGRAM_VIRTUALLY_FRAME" val="{&quot;height&quot;:206.5593700787402,&quot;left&quot;:61.92188976377953,&quot;top&quot;:179.99062992125985,&quot;width&quot;:1028.756220472441}"/>
</p:tagLst>
</file>

<file path=ppt/tags/tag45.xml><?xml version="1.0" encoding="utf-8"?>
<p:tagLst xmlns:p="http://schemas.openxmlformats.org/presentationml/2006/main">
  <p:tag name="KSO_WM_DIAGRAM_VIRTUALLY_FRAME" val="{&quot;height&quot;:206.5593700787402,&quot;left&quot;:61.92188976377953,&quot;top&quot;:179.99062992125985,&quot;width&quot;:1028.756220472441}"/>
</p:tagLst>
</file>

<file path=ppt/tags/tag46.xml><?xml version="1.0" encoding="utf-8"?>
<p:tagLst xmlns:p="http://schemas.openxmlformats.org/presentationml/2006/main">
  <p:tag name="KSO_WM_DIAGRAM_VIRTUALLY_FRAME" val="{&quot;height&quot;:206.5593700787402,&quot;left&quot;:61.92188976377953,&quot;top&quot;:179.99062992125985,&quot;width&quot;:1028.756220472441}"/>
</p:tagLst>
</file>

<file path=ppt/tags/tag47.xml><?xml version="1.0" encoding="utf-8"?>
<p:tagLst xmlns:p="http://schemas.openxmlformats.org/presentationml/2006/main">
  <p:tag name="KSO_WM_DIAGRAM_VIRTUALLY_FRAME" val="{&quot;height&quot;:206.5593700787402,&quot;left&quot;:61.92188976377953,&quot;top&quot;:179.99062992125985,&quot;width&quot;:1028.756220472441}"/>
</p:tagLst>
</file>

<file path=ppt/tags/tag48.xml><?xml version="1.0" encoding="utf-8"?>
<p:tagLst xmlns:p="http://schemas.openxmlformats.org/presentationml/2006/main">
  <p:tag name="KSO_WM_DIAGRAM_VIRTUALLY_FRAME" val="{&quot;height&quot;:206.5593700787402,&quot;left&quot;:61.92188976377953,&quot;top&quot;:179.99062992125985,&quot;width&quot;:1028.756220472441}"/>
</p:tagLst>
</file>

<file path=ppt/tags/tag49.xml><?xml version="1.0" encoding="utf-8"?>
<p:tagLst xmlns:p="http://schemas.openxmlformats.org/presentationml/2006/main">
  <p:tag name="KSO_WM_DIAGRAM_VIRTUALLY_FRAME" val="{&quot;height&quot;:206.5593700787402,&quot;left&quot;:61.92188976377953,&quot;top&quot;:179.99062992125985,&quot;width&quot;:1028.756220472441}"/>
</p:tagLst>
</file>

<file path=ppt/tags/tag50.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51.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52.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53.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54.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55.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56.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57.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58.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59.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60.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61.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62.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63.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64.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65.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66.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67.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68.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69.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70.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71.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72.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73.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74.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75.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76.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77.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78.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79.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80.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81.xml><?xml version="1.0" encoding="utf-8"?>
<p:tagLst xmlns:p="http://schemas.openxmlformats.org/presentationml/2006/main">
  <p:tag name="KSO_WM_DIAGRAM_VIRTUALLY_FRAME" val="{&quot;height&quot;:468.0312598425197,&quot;left&quot;:62.50314960629921,&quot;top&quot;:112.4874803149606,&quot;width&quot;:1026.9937007874018}"/>
</p:tagLst>
</file>

<file path=ppt/tags/tag82.xml><?xml version="1.0" encoding="utf-8"?>
<p:tagLst xmlns:p="http://schemas.openxmlformats.org/presentationml/2006/main">
  <p:tag name="KSO_WM_DIAGRAM_VIRTUALLY_FRAME" val="{&quot;height&quot;:379.8656692913386,&quot;left&quot;:61.10622047244094,&quot;top&quot;:207.7312598425197,&quot;width&quot;:1030.968818897638}"/>
</p:tagLst>
</file>

<file path=ppt/tags/tag83.xml><?xml version="1.0" encoding="utf-8"?>
<p:tagLst xmlns:p="http://schemas.openxmlformats.org/presentationml/2006/main">
  <p:tag name="KSO_WM_DIAGRAM_VIRTUALLY_FRAME" val="{&quot;height&quot;:379.8656692913386,&quot;left&quot;:61.10622047244094,&quot;top&quot;:207.7312598425197,&quot;width&quot;:1030.968818897638}"/>
</p:tagLst>
</file>

<file path=ppt/tags/tag84.xml><?xml version="1.0" encoding="utf-8"?>
<p:tagLst xmlns:p="http://schemas.openxmlformats.org/presentationml/2006/main">
  <p:tag name="KSO_WM_DIAGRAM_VIRTUALLY_FRAME" val="{&quot;height&quot;:379.8656692913386,&quot;left&quot;:61.10622047244094,&quot;top&quot;:207.7312598425197,&quot;width&quot;:1030.968818897638}"/>
</p:tagLst>
</file>

<file path=ppt/tags/tag85.xml><?xml version="1.0" encoding="utf-8"?>
<p:tagLst xmlns:p="http://schemas.openxmlformats.org/presentationml/2006/main">
  <p:tag name="KSO_WM_DIAGRAM_VIRTUALLY_FRAME" val="{&quot;height&quot;:379.8656692913386,&quot;left&quot;:61.10622047244094,&quot;top&quot;:207.7312598425197,&quot;width&quot;:1030.968818897638}"/>
</p:tagLst>
</file>

<file path=ppt/tags/tag86.xml><?xml version="1.0" encoding="utf-8"?>
<p:tagLst xmlns:p="http://schemas.openxmlformats.org/presentationml/2006/main">
  <p:tag name="KSO_WM_DIAGRAM_VIRTUALLY_FRAME" val="{&quot;height&quot;:379.8656692913386,&quot;left&quot;:61.10622047244094,&quot;top&quot;:207.7312598425197,&quot;width&quot;:1030.968818897638}"/>
</p:tagLst>
</file>

<file path=ppt/tags/tag87.xml><?xml version="1.0" encoding="utf-8"?>
<p:tagLst xmlns:p="http://schemas.openxmlformats.org/presentationml/2006/main">
  <p:tag name="KSO_WM_DIAGRAM_VIRTUALLY_FRAME" val="{&quot;height&quot;:379.8656692913386,&quot;left&quot;:61.10622047244094,&quot;top&quot;:207.7312598425197,&quot;width&quot;:1030.968818897638}"/>
</p:tagLst>
</file>

<file path=ppt/tags/tag88.xml><?xml version="1.0" encoding="utf-8"?>
<p:tagLst xmlns:p="http://schemas.openxmlformats.org/presentationml/2006/main">
  <p:tag name="KSO_WM_DIAGRAM_VIRTUALLY_FRAME" val="{&quot;height&quot;:379.8656692913386,&quot;left&quot;:61.10622047244094,&quot;top&quot;:207.7312598425197,&quot;width&quot;:1030.968818897638}"/>
</p:tagLst>
</file>

<file path=ppt/tags/tag89.xml><?xml version="1.0" encoding="utf-8"?>
<p:tagLst xmlns:p="http://schemas.openxmlformats.org/presentationml/2006/main">
  <p:tag name="KSO_WM_DIAGRAM_VIRTUALLY_FRAME" val="{&quot;height&quot;:379.8656692913386,&quot;left&quot;:61.10622047244094,&quot;top&quot;:207.7312598425197,&quot;width&quot;:1030.968818897638}"/>
</p:tagLst>
</file>

<file path=ppt/tags/tag90.xml><?xml version="1.0" encoding="utf-8"?>
<p:tagLst xmlns:p="http://schemas.openxmlformats.org/presentationml/2006/main">
  <p:tag name="KSO_WM_DIAGRAM_VIRTUALLY_FRAME" val="{&quot;height&quot;:379.8656692913386,&quot;left&quot;:61.10622047244094,&quot;top&quot;:207.7312598425197,&quot;width&quot;:1030.968818897638}"/>
</p:tagLst>
</file>

<file path=ppt/tags/tag91.xml><?xml version="1.0" encoding="utf-8"?>
<p:tagLst xmlns:p="http://schemas.openxmlformats.org/presentationml/2006/main">
  <p:tag name="KSO_WM_DIAGRAM_VIRTUALLY_FRAME" val="{&quot;height&quot;:379.8656692913386,&quot;left&quot;:61.10622047244094,&quot;top&quot;:207.7312598425197,&quot;width&quot;:1030.968818897638}"/>
</p:tagLst>
</file>

<file path=ppt/tags/tag92.xml><?xml version="1.0" encoding="utf-8"?>
<p:tagLst xmlns:p="http://schemas.openxmlformats.org/presentationml/2006/main">
  <p:tag name="KSO_WM_DIAGRAM_VIRTUALLY_FRAME" val="{&quot;height&quot;:379.8656692913386,&quot;left&quot;:61.10622047244094,&quot;top&quot;:207.7312598425197,&quot;width&quot;:1030.968818897638}"/>
</p:tagLst>
</file>

<file path=ppt/tags/tag93.xml><?xml version="1.0" encoding="utf-8"?>
<p:tagLst xmlns:p="http://schemas.openxmlformats.org/presentationml/2006/main">
  <p:tag name="KSO_WM_DIAGRAM_VIRTUALLY_FRAME" val="{&quot;height&quot;:379.8656692913386,&quot;left&quot;:61.10622047244094,&quot;top&quot;:207.7312598425197,&quot;width&quot;:1030.968818897638}"/>
</p:tagLst>
</file>

<file path=ppt/tags/tag94.xml><?xml version="1.0" encoding="utf-8"?>
<p:tagLst xmlns:p="http://schemas.openxmlformats.org/presentationml/2006/main">
  <p:tag name="KSO_WM_DIAGRAM_VIRTUALLY_FRAME" val="{&quot;height&quot;:379.8656692913386,&quot;left&quot;:61.10622047244094,&quot;top&quot;:207.7312598425197,&quot;width&quot;:1030.968818897638}"/>
</p:tagLst>
</file>

<file path=ppt/tags/tag95.xml><?xml version="1.0" encoding="utf-8"?>
<p:tagLst xmlns:p="http://schemas.openxmlformats.org/presentationml/2006/main">
  <p:tag name="KSO_WM_DIAGRAM_VIRTUALLY_FRAME" val="{&quot;height&quot;:379.8656692913386,&quot;left&quot;:61.10622047244094,&quot;top&quot;:207.7312598425197,&quot;width&quot;:1030.968818897638}"/>
</p:tagLst>
</file>

<file path=ppt/tags/tag96.xml><?xml version="1.0" encoding="utf-8"?>
<p:tagLst xmlns:p="http://schemas.openxmlformats.org/presentationml/2006/main">
  <p:tag name="KSO_WM_DIAGRAM_VIRTUALLY_FRAME" val="{&quot;height&quot;:379.8656692913386,&quot;left&quot;:61.10622047244094,&quot;top&quot;:207.7312598425197,&quot;width&quot;:1030.968818897638}"/>
</p:tagLst>
</file>

<file path=ppt/tags/tag97.xml><?xml version="1.0" encoding="utf-8"?>
<p:tagLst xmlns:p="http://schemas.openxmlformats.org/presentationml/2006/main">
  <p:tag name="KSO_WM_DIAGRAM_VIRTUALLY_FRAME" val="{&quot;height&quot;:363.2531496062992,&quot;left&quot;:62.50314960629921,&quot;top&quot;:210.4312598425197,&quot;width&quot;:1027.6499212598424}"/>
</p:tagLst>
</file>

<file path=ppt/tags/tag98.xml><?xml version="1.0" encoding="utf-8"?>
<p:tagLst xmlns:p="http://schemas.openxmlformats.org/presentationml/2006/main">
  <p:tag name="KSO_WM_DIAGRAM_VIRTUALLY_FRAME" val="{&quot;height&quot;:363.2531496062992,&quot;left&quot;:62.50314960629921,&quot;top&quot;:210.4312598425197,&quot;width&quot;:1027.6499212598424}"/>
</p:tagLst>
</file>

<file path=ppt/tags/tag99.xml><?xml version="1.0" encoding="utf-8"?>
<p:tagLst xmlns:p="http://schemas.openxmlformats.org/presentationml/2006/main">
  <p:tag name="KSO_WM_DIAGRAM_VIRTUALLY_FRAME" val="{&quot;height&quot;:363.2531496062992,&quot;left&quot;:62.50314960629921,&quot;top&quot;:210.4312598425197,&quot;width&quot;:1027.6499212598424}"/>
</p:tagLst>
</file>

<file path=ppt/tags/tag100.xml><?xml version="1.0" encoding="utf-8"?>
<p:tagLst xmlns:p="http://schemas.openxmlformats.org/presentationml/2006/main">
  <p:tag name="KSO_WM_DIAGRAM_VIRTUALLY_FRAME" val="{&quot;height&quot;:363.2531496062992,&quot;left&quot;:62.50314960629921,&quot;top&quot;:210.4312598425197,&quot;width&quot;:1027.6499212598424}"/>
</p:tagLst>
</file>

<file path=ppt/tags/tag101.xml><?xml version="1.0" encoding="utf-8"?>
<p:tagLst xmlns:p="http://schemas.openxmlformats.org/presentationml/2006/main">
  <p:tag name="KSO_WM_DIAGRAM_VIRTUALLY_FRAME" val="{&quot;height&quot;:363.2531496062992,&quot;left&quot;:62.50314960629921,&quot;top&quot;:210.4312598425197,&quot;width&quot;:1027.6499212598424}"/>
</p:tagLst>
</file>

<file path=ppt/tags/tag102.xml><?xml version="1.0" encoding="utf-8"?>
<p:tagLst xmlns:p="http://schemas.openxmlformats.org/presentationml/2006/main">
  <p:tag name="KSO_WM_DIAGRAM_VIRTUALLY_FRAME" val="{&quot;height&quot;:363.2531496062992,&quot;left&quot;:62.50314960629921,&quot;top&quot;:210.4312598425197,&quot;width&quot;:1027.6499212598424}"/>
</p:tagLst>
</file>

<file path=ppt/tags/tag103.xml><?xml version="1.0" encoding="utf-8"?>
<p:tagLst xmlns:p="http://schemas.openxmlformats.org/presentationml/2006/main">
  <p:tag name="KSO_WM_DIAGRAM_VIRTUALLY_FRAME" val="{&quot;height&quot;:363.2531496062992,&quot;left&quot;:62.50314960629921,&quot;top&quot;:210.4312598425197,&quot;width&quot;:1027.6499212598424}"/>
</p:tagLst>
</file>

<file path=ppt/tags/tag104.xml><?xml version="1.0" encoding="utf-8"?>
<p:tagLst xmlns:p="http://schemas.openxmlformats.org/presentationml/2006/main">
  <p:tag name="KSO_WM_DIAGRAM_VIRTUALLY_FRAME" val="{&quot;height&quot;:363.2531496062992,&quot;left&quot;:62.50314960629921,&quot;top&quot;:210.4312598425197,&quot;width&quot;:1027.6499212598424}"/>
</p:tagLst>
</file>

<file path=ppt/tags/tag105.xml><?xml version="1.0" encoding="utf-8"?>
<p:tagLst xmlns:p="http://schemas.openxmlformats.org/presentationml/2006/main">
  <p:tag name="KSO_WM_DIAGRAM_VIRTUALLY_FRAME" val="{&quot;height&quot;:363.2531496062992,&quot;left&quot;:62.50314960629921,&quot;top&quot;:210.4312598425197,&quot;width&quot;:1027.6499212598424}"/>
</p:tagLst>
</file>

<file path=ppt/tags/tag106.xml><?xml version="1.0" encoding="utf-8"?>
<p:tagLst xmlns:p="http://schemas.openxmlformats.org/presentationml/2006/main">
  <p:tag name="KSO_WM_DIAGRAM_VIRTUALLY_FRAME" val="{&quot;height&quot;:363.2531496062992,&quot;left&quot;:62.50314960629921,&quot;top&quot;:210.4312598425197,&quot;width&quot;:1027.6499212598424}"/>
</p:tagLst>
</file>

<file path=ppt/tags/tag107.xml><?xml version="1.0" encoding="utf-8"?>
<p:tagLst xmlns:p="http://schemas.openxmlformats.org/presentationml/2006/main">
  <p:tag name="KSO_WM_DIAGRAM_VIRTUALLY_FRAME" val="{&quot;height&quot;:363.2531496062992,&quot;left&quot;:62.50314960629921,&quot;top&quot;:210.4312598425197,&quot;width&quot;:1027.6499212598424}"/>
</p:tagLst>
</file>

<file path=ppt/tags/tag108.xml><?xml version="1.0" encoding="utf-8"?>
<p:tagLst xmlns:p="http://schemas.openxmlformats.org/presentationml/2006/main">
  <p:tag name="KSO_WM_DIAGRAM_VIRTUALLY_FRAME" val="{&quot;height&quot;:363.2531496062992,&quot;left&quot;:62.50314960629921,&quot;top&quot;:210.4312598425197,&quot;width&quot;:1027.6499212598424}"/>
</p:tagLst>
</file>

<file path=ppt/tags/tag109.xml><?xml version="1.0" encoding="utf-8"?>
<p:tagLst xmlns:p="http://schemas.openxmlformats.org/presentationml/2006/main">
  <p:tag name="KSO_WM_DIAGRAM_VIRTUALLY_FRAME" val="{&quot;height&quot;:363.2531496062992,&quot;left&quot;:62.50314960629921,&quot;top&quot;:210.4312598425197,&quot;width&quot;:1027.6499212598424}"/>
</p:tagLst>
</file>

<file path=ppt/tags/tag110.xml><?xml version="1.0" encoding="utf-8"?>
<p:tagLst xmlns:p="http://schemas.openxmlformats.org/presentationml/2006/main">
  <p:tag name="KSO_WM_DIAGRAM_VIRTUALLY_FRAME" val="{&quot;height&quot;:363.2531496062992,&quot;left&quot;:62.50314960629921,&quot;top&quot;:210.4312598425197,&quot;width&quot;:1027.6499212598424}"/>
</p:tagLst>
</file>

<file path=ppt/tags/tag111.xml><?xml version="1.0" encoding="utf-8"?>
<p:tagLst xmlns:p="http://schemas.openxmlformats.org/presentationml/2006/main">
  <p:tag name="KSO_WM_DIAGRAM_VIRTUALLY_FRAME" val="{&quot;height&quot;:363.2531496062992,&quot;left&quot;:62.50314960629921,&quot;top&quot;:210.4312598425197,&quot;width&quot;:1027.6499212598424}"/>
</p:tagLst>
</file>

<file path=ppt/tags/tag112.xml><?xml version="1.0" encoding="utf-8"?>
<p:tagLst xmlns:p="http://schemas.openxmlformats.org/presentationml/2006/main">
  <p:tag name="KSO_WM_DIAGRAM_VIRTUALLY_FRAME" val="{&quot;height&quot;:363.2531496062992,&quot;left&quot;:62.50314960629921,&quot;top&quot;:210.4312598425197,&quot;width&quot;:1027.6499212598424}"/>
</p:tagLst>
</file>

<file path=ppt/tags/tag113.xml><?xml version="1.0" encoding="utf-8"?>
<p:tagLst xmlns:p="http://schemas.openxmlformats.org/presentationml/2006/main">
  <p:tag name="KSO_WM_DIAGRAM_VIRTUALLY_FRAME" val="{&quot;height&quot;:363.2531496062992,&quot;left&quot;:62.50314960629921,&quot;top&quot;:210.4312598425197,&quot;width&quot;:1027.6499212598424}"/>
</p:tagLst>
</file>

<file path=ppt/tags/tag114.xml><?xml version="1.0" encoding="utf-8"?>
<p:tagLst xmlns:p="http://schemas.openxmlformats.org/presentationml/2006/main">
  <p:tag name="KSO_WM_DIAGRAM_VIRTUALLY_FRAME" val="{&quot;height&quot;:363.2531496062992,&quot;left&quot;:62.50314960629921,&quot;top&quot;:210.4312598425197,&quot;width&quot;:1027.6499212598424}"/>
</p:tagLst>
</file>

<file path=ppt/tags/tag115.xml><?xml version="1.0" encoding="utf-8"?>
<p:tagLst xmlns:p="http://schemas.openxmlformats.org/presentationml/2006/main">
  <p:tag name="KSO_WM_DIAGRAM_VIRTUALLY_FRAME" val="{&quot;height&quot;:363.2531496062992,&quot;left&quot;:62.50314960629921,&quot;top&quot;:210.4312598425197,&quot;width&quot;:1027.6499212598424}"/>
</p:tagLst>
</file>

<file path=ppt/tags/tag116.xml><?xml version="1.0" encoding="utf-8"?>
<p:tagLst xmlns:p="http://schemas.openxmlformats.org/presentationml/2006/main">
  <p:tag name="KSO_WM_DIAGRAM_VIRTUALLY_FRAME" val="{&quot;height&quot;:363.2531496062992,&quot;left&quot;:62.50314960629921,&quot;top&quot;:210.4312598425197,&quot;width&quot;:1027.6499212598424}"/>
</p:tagLst>
</file>

<file path=ppt/tags/tag117.xml><?xml version="1.0" encoding="utf-8"?>
<p:tagLst xmlns:p="http://schemas.openxmlformats.org/presentationml/2006/main">
  <p:tag name="KSO_WM_DIAGRAM_VIRTUALLY_FRAME" val="{&quot;height&quot;:363.2531496062992,&quot;left&quot;:62.50314960629921,&quot;top&quot;:210.4312598425197,&quot;width&quot;:1027.649921259842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8728</Words>
  <Application>WPS Presentation</Application>
  <PresentationFormat>On-screen Show (16:9)</PresentationFormat>
  <Paragraphs>312</Paragraphs>
  <Slides>10</Slides>
  <Notes>10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10</vt:i4>
      </vt:variant>
    </vt:vector>
  </HeadingPairs>
  <TitlesOfParts>
    <vt:vector size="29" baseType="lpstr">
      <vt:lpstr>Arial</vt:lpstr>
      <vt:lpstr>SimSun</vt:lpstr>
      <vt:lpstr>Wingdings</vt:lpstr>
      <vt:lpstr>Instrument Sans Semi Bold</vt:lpstr>
      <vt:lpstr>Instrument Sans Semi Bold</vt:lpstr>
      <vt:lpstr>Instrument Sans Semi Bold</vt:lpstr>
      <vt:lpstr>Instrument Sans Medium</vt:lpstr>
      <vt:lpstr>Instrument Sans Medium</vt:lpstr>
      <vt:lpstr>Instrument Sans Medium</vt:lpstr>
      <vt:lpstr>Consolas Medium</vt:lpstr>
      <vt:lpstr>Consolas</vt:lpstr>
      <vt:lpstr>Consolas Medium</vt:lpstr>
      <vt:lpstr>Consolas Medium</vt:lpstr>
      <vt:lpstr>Consolas</vt:lpstr>
      <vt:lpstr>Consolas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Abdullah Tahir</cp:lastModifiedBy>
  <cp:revision>4</cp:revision>
  <dcterms:created xsi:type="dcterms:W3CDTF">2025-11-04T17:00:00Z</dcterms:created>
  <dcterms:modified xsi:type="dcterms:W3CDTF">2025-11-04T18:24:24Z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55040366E431417D8963861745294375_13</vt:lpwstr>
  </property>
  <property fmtid="{D5CDD505-2E9C-101B-9397-08002B2CF9AE}" pid="3" name="KSOProductBuildVer">
    <vt:lpwstr>1033-12.2.0.23131</vt:lpwstr>
  </property>
</Properties>
</file>